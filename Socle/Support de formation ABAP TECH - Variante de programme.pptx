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99" r:id="rId2"/>
    <p:sldId id="4054" r:id="rId3"/>
    <p:sldId id="3838" r:id="rId4"/>
    <p:sldId id="4161" r:id="rId5"/>
    <p:sldId id="4163" r:id="rId6"/>
    <p:sldId id="4162" r:id="rId7"/>
    <p:sldId id="4159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C594AA-D464-5EA7-13DA-D5CA91584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AB374A8-C4EB-4104-F13F-985EDEA15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8EB5A4-3E47-437E-B414-E16D2F96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B015F3-8C7C-64DF-0604-08146455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1AF9C8-B5B2-9FB8-108E-492A2CC5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885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CDB2E-A61F-D4E0-CE86-25C89AF43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67BD47-8124-9D1E-D838-064541FCC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0F8A38-291F-FA25-53F8-D7F8F6896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004A71-7FFF-0107-D3ED-C0AC7073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B6ED69-6CAE-83B3-A8A2-69B06B31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29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C145F5-5470-E5DF-72CC-4445E3CE7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73CC80-DB30-0B4A-5FCF-51421A1C7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D2DF55-A95A-0F8B-B8ED-1D279A707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D53966-4B8A-602B-A74E-DD1B9B47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7B4A90-3AA3-9606-E473-EF989FD9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363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6F1C37-71A1-A135-ABA5-E9B7FD448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E3F455-E728-B7CE-8469-EA20D7420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97F5C59-8D9E-9391-3BA7-062F6C6A7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8A0677-310F-16B8-664E-D863E993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3AE530-B7EC-2B7B-FB0B-35AB3C68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88BD1B-DF51-8439-8043-58F84AE9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422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028D75-1AB9-8BEE-D773-9BA3777A5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1A0F88-C077-1726-DE9B-DE13A13A0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FF0169-5BBD-855A-6382-0D4D108F9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02724A-3052-CBBF-6138-BB04474C8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0F02EF6-638F-DDEE-AB0B-24BB58985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9E54BCA-9A08-2D03-BE49-9E4088CA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788D664-424C-15EA-B818-A099CE71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21FC57-4F93-6BD3-0C7B-0FF8474E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21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DB5AFC-5481-7461-F2AB-742AC13C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DB0165E-5536-DA31-DBC4-B5516D3E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ECE97E-4598-34E6-E24E-B307E838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A9A8AD-673E-C987-FEE6-DF1D2A83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919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74639FA-93D3-0A5A-B711-1DA70B417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7A62F3-6A21-A061-1BA7-96BBC39F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7E5985-312F-DFEE-B82A-C812A4C6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38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54AC07-B5A7-BC6E-2480-B00CAE92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EED937-D653-9347-FB6D-DFE874C32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BF440B-C7EE-8DCB-40F1-A53F2D285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535AF2-40C9-0169-C812-12CBAC3FA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CDD0FAF-FA10-681B-F576-5762AF61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4ACE34-47B2-0FD0-9816-927AFF97B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463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08656-E288-1AFA-A200-47909BBD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B59D1AD-E976-B848-ACDC-AF3749D00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EDD4FA-A4A5-FDB2-B86D-3C7DC7A22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BBE9FD-5DCC-0735-75FA-ABE7B895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7AF0CD-569F-FF96-876A-493489931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5999C0-8110-E1AC-1360-31954F41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538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DA8F4-69B2-1642-8AB4-4DE7A48E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9FB54C-9E1B-B943-FB15-9BE72EC96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3A0568-E6D3-BA07-D52B-6F10BAF8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FEBD9D-4B52-E691-CE69-252B234F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E43D30-044F-B752-9477-1BC5AC0E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59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88F822B-52F4-4CDA-0202-C97B3ECAE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8A08D1-699C-08D1-879D-1B55B9038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22F7B8-1EA9-4CCD-8F83-13A3897A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EEB8AA-E1DB-9F43-A933-F9F058D9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EA63D7-26B1-F9C5-1021-210C64CF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5877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T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57E0DA5-1A84-457E-8089-6F317ED0D4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807"/>
            <a:ext cx="12188952" cy="5708904"/>
          </a:xfrm>
          <a:prstGeom prst="rect">
            <a:avLst/>
          </a:prstGeom>
        </p:spPr>
      </p:pic>
      <p:sp>
        <p:nvSpPr>
          <p:cNvPr id="12" name="Rectangle">
            <a:extLst>
              <a:ext uri="{FF2B5EF4-FFF2-40B4-BE49-F238E27FC236}">
                <a16:creationId xmlns:a16="http://schemas.microsoft.com/office/drawing/2014/main" id="{1D71088A-448F-426E-9A9F-5E69C1121E35}"/>
              </a:ext>
            </a:extLst>
          </p:cNvPr>
          <p:cNvSpPr/>
          <p:nvPr userDrawn="1"/>
        </p:nvSpPr>
        <p:spPr>
          <a:xfrm rot="106">
            <a:off x="1555" y="3802987"/>
            <a:ext cx="12188891" cy="1909933"/>
          </a:xfrm>
          <a:prstGeom prst="rect">
            <a:avLst/>
          </a:prstGeom>
          <a:solidFill>
            <a:srgbClr val="1568AB"/>
          </a:solidFill>
          <a:ln w="25400">
            <a:solidFill>
              <a:schemeClr val="accent1">
                <a:alpha val="0"/>
              </a:schemeClr>
            </a:solidFill>
            <a:bevel/>
          </a:ln>
        </p:spPr>
        <p:txBody>
          <a:bodyPr lIns="22860" rIns="22860" anchor="ctr"/>
          <a:lstStyle/>
          <a:p>
            <a:endParaRPr sz="900"/>
          </a:p>
        </p:txBody>
      </p:sp>
      <p:sp>
        <p:nvSpPr>
          <p:cNvPr id="14" name="Technical and financial Bid">
            <a:extLst>
              <a:ext uri="{FF2B5EF4-FFF2-40B4-BE49-F238E27FC236}">
                <a16:creationId xmlns:a16="http://schemas.microsoft.com/office/drawing/2014/main" id="{A912186B-0399-4C1C-8355-0F5E95DDC75C}"/>
              </a:ext>
            </a:extLst>
          </p:cNvPr>
          <p:cNvSpPr txBox="1">
            <a:spLocks noGrp="1"/>
          </p:cNvSpPr>
          <p:nvPr>
            <p:ph type="subTitle" sz="quarter" idx="1" hasCustomPrompt="1"/>
          </p:nvPr>
        </p:nvSpPr>
        <p:spPr>
          <a:xfrm>
            <a:off x="494769" y="4910806"/>
            <a:ext cx="8535512" cy="558433"/>
          </a:xfrm>
          <a:prstGeom prst="rect">
            <a:avLst/>
          </a:prstGeom>
        </p:spPr>
        <p:txBody>
          <a:bodyPr/>
          <a:lstStyle>
            <a:lvl1pPr algn="l">
              <a:spcBef>
                <a:spcPts val="450"/>
              </a:spcBef>
              <a:defRPr sz="2500">
                <a:solidFill>
                  <a:srgbClr val="FFFFFE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Sous-titre 1</a:t>
            </a:r>
            <a:endParaRPr dirty="0"/>
          </a:p>
        </p:txBody>
      </p:sp>
      <p:sp>
        <p:nvSpPr>
          <p:cNvPr id="15" name="Rectangle">
            <a:extLst>
              <a:ext uri="{FF2B5EF4-FFF2-40B4-BE49-F238E27FC236}">
                <a16:creationId xmlns:a16="http://schemas.microsoft.com/office/drawing/2014/main" id="{7ECDADA6-69BD-4872-9B8C-9B28C12C6D0D}"/>
              </a:ext>
            </a:extLst>
          </p:cNvPr>
          <p:cNvSpPr/>
          <p:nvPr userDrawn="1"/>
        </p:nvSpPr>
        <p:spPr>
          <a:xfrm>
            <a:off x="569435" y="4799848"/>
            <a:ext cx="776823" cy="64008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22860" rIns="22860" anchor="ctr"/>
          <a:lstStyle/>
          <a:p>
            <a:pPr algn="ctr">
              <a:defRPr>
                <a:solidFill>
                  <a:schemeClr val="accent2"/>
                </a:solidFill>
                <a:latin typeface="Exo 2 Light"/>
                <a:ea typeface="Exo 2 Light"/>
                <a:cs typeface="Exo 2 Light"/>
                <a:sym typeface="Exo 2 Light"/>
              </a:defRPr>
            </a:pPr>
            <a:endParaRPr sz="900"/>
          </a:p>
        </p:txBody>
      </p:sp>
      <p:pic>
        <p:nvPicPr>
          <p:cNvPr id="16" name="STMS2-BLEU CLAIR.png" descr="STMS2-BLEU CLAIR.png">
            <a:extLst>
              <a:ext uri="{FF2B5EF4-FFF2-40B4-BE49-F238E27FC236}">
                <a16:creationId xmlns:a16="http://schemas.microsoft.com/office/drawing/2014/main" id="{011090BE-9F59-4182-BB62-E5AC4A643A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601" y="296250"/>
            <a:ext cx="2917719" cy="44632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" name="Groupe"/>
          <p:cNvGrpSpPr/>
          <p:nvPr userDrawn="1"/>
        </p:nvGrpSpPr>
        <p:grpSpPr>
          <a:xfrm>
            <a:off x="1" y="6761748"/>
            <a:ext cx="12192000" cy="96253"/>
            <a:chOff x="0" y="0"/>
            <a:chExt cx="24538662" cy="181429"/>
          </a:xfrm>
        </p:grpSpPr>
        <p:sp>
          <p:nvSpPr>
            <p:cNvPr id="17" name="Rectangle"/>
            <p:cNvSpPr/>
            <p:nvPr/>
          </p:nvSpPr>
          <p:spPr>
            <a:xfrm>
              <a:off x="0" y="0"/>
              <a:ext cx="4907733" cy="18143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8" name="Rectangle"/>
            <p:cNvSpPr/>
            <p:nvPr/>
          </p:nvSpPr>
          <p:spPr>
            <a:xfrm>
              <a:off x="4907732" y="0"/>
              <a:ext cx="4907734" cy="181430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9" name="Rectangle"/>
            <p:cNvSpPr/>
            <p:nvPr/>
          </p:nvSpPr>
          <p:spPr>
            <a:xfrm>
              <a:off x="9815465" y="0"/>
              <a:ext cx="4907733" cy="18143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20" name="Rectangle"/>
            <p:cNvSpPr/>
            <p:nvPr/>
          </p:nvSpPr>
          <p:spPr>
            <a:xfrm>
              <a:off x="14723197" y="0"/>
              <a:ext cx="4907733" cy="181430"/>
            </a:xfrm>
            <a:prstGeom prst="rect">
              <a:avLst/>
            </a:prstGeom>
            <a:solidFill>
              <a:srgbClr val="FFB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21" name="Rectangle"/>
            <p:cNvSpPr/>
            <p:nvPr/>
          </p:nvSpPr>
          <p:spPr>
            <a:xfrm>
              <a:off x="19630930" y="0"/>
              <a:ext cx="4907733" cy="181430"/>
            </a:xfrm>
            <a:prstGeom prst="rect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</p:grp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F2B9A1C-80FB-4CDF-BFE4-FA95AD254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4294" y="3946309"/>
            <a:ext cx="8535988" cy="777875"/>
          </a:xfrm>
          <a:prstGeom prst="rect">
            <a:avLst/>
          </a:prstGeom>
        </p:spPr>
        <p:txBody>
          <a:bodyPr tIns="46800" anchor="ctr" anchorCtr="0"/>
          <a:lstStyle>
            <a:lvl1pPr algn="l">
              <a:lnSpc>
                <a:spcPct val="100000"/>
              </a:lnSpc>
              <a:spcBef>
                <a:spcPts val="0"/>
              </a:spcBef>
              <a:defRPr sz="4225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Titre 1</a:t>
            </a:r>
          </a:p>
        </p:txBody>
      </p:sp>
    </p:spTree>
    <p:extLst>
      <p:ext uri="{BB962C8B-B14F-4D97-AF65-F5344CB8AC3E}">
        <p14:creationId xmlns:p14="http://schemas.microsoft.com/office/powerpoint/2010/main" val="2476956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e du titre"/>
          <p:cNvSpPr txBox="1">
            <a:spLocks noGrp="1"/>
          </p:cNvSpPr>
          <p:nvPr>
            <p:ph type="title" hasCustomPrompt="1"/>
          </p:nvPr>
        </p:nvSpPr>
        <p:spPr>
          <a:xfrm>
            <a:off x="0" y="0"/>
            <a:ext cx="12192000" cy="928838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dirty="0" err="1"/>
              <a:t>Texte</a:t>
            </a:r>
            <a:r>
              <a:rPr dirty="0"/>
              <a:t> du </a:t>
            </a:r>
            <a:r>
              <a:rPr dirty="0" err="1"/>
              <a:t>titre</a:t>
            </a:r>
            <a:endParaRPr dirty="0"/>
          </a:p>
        </p:txBody>
      </p:sp>
      <p:grpSp>
        <p:nvGrpSpPr>
          <p:cNvPr id="11" name="Groupe">
            <a:extLst>
              <a:ext uri="{FF2B5EF4-FFF2-40B4-BE49-F238E27FC236}">
                <a16:creationId xmlns:a16="http://schemas.microsoft.com/office/drawing/2014/main" id="{D360B735-9C28-414B-83EF-B6F6B855D062}"/>
              </a:ext>
            </a:extLst>
          </p:cNvPr>
          <p:cNvGrpSpPr/>
          <p:nvPr userDrawn="1"/>
        </p:nvGrpSpPr>
        <p:grpSpPr>
          <a:xfrm>
            <a:off x="1" y="6761748"/>
            <a:ext cx="12192000" cy="96253"/>
            <a:chOff x="0" y="0"/>
            <a:chExt cx="24538662" cy="181429"/>
          </a:xfrm>
        </p:grpSpPr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7862649B-0C9A-4620-8E94-1D447F8AC7F1}"/>
                </a:ext>
              </a:extLst>
            </p:cNvPr>
            <p:cNvSpPr/>
            <p:nvPr/>
          </p:nvSpPr>
          <p:spPr>
            <a:xfrm>
              <a:off x="0" y="0"/>
              <a:ext cx="4907733" cy="18143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3" name="Rectangle">
              <a:extLst>
                <a:ext uri="{FF2B5EF4-FFF2-40B4-BE49-F238E27FC236}">
                  <a16:creationId xmlns:a16="http://schemas.microsoft.com/office/drawing/2014/main" id="{E0AB1A34-DECA-4767-95B7-BCA671F899C0}"/>
                </a:ext>
              </a:extLst>
            </p:cNvPr>
            <p:cNvSpPr/>
            <p:nvPr/>
          </p:nvSpPr>
          <p:spPr>
            <a:xfrm>
              <a:off x="4907732" y="0"/>
              <a:ext cx="4907734" cy="181430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4" name="Rectangle">
              <a:extLst>
                <a:ext uri="{FF2B5EF4-FFF2-40B4-BE49-F238E27FC236}">
                  <a16:creationId xmlns:a16="http://schemas.microsoft.com/office/drawing/2014/main" id="{DBFB4FB3-DC5A-4761-94B1-C447B526113C}"/>
                </a:ext>
              </a:extLst>
            </p:cNvPr>
            <p:cNvSpPr/>
            <p:nvPr/>
          </p:nvSpPr>
          <p:spPr>
            <a:xfrm>
              <a:off x="9815465" y="0"/>
              <a:ext cx="4907733" cy="18143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F9DBE7B5-8F35-4A3D-A42B-7ACE57287F13}"/>
                </a:ext>
              </a:extLst>
            </p:cNvPr>
            <p:cNvSpPr/>
            <p:nvPr/>
          </p:nvSpPr>
          <p:spPr>
            <a:xfrm>
              <a:off x="14723197" y="0"/>
              <a:ext cx="4907733" cy="181430"/>
            </a:xfrm>
            <a:prstGeom prst="rect">
              <a:avLst/>
            </a:prstGeom>
            <a:solidFill>
              <a:srgbClr val="FFB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6" name="Rectangle">
              <a:extLst>
                <a:ext uri="{FF2B5EF4-FFF2-40B4-BE49-F238E27FC236}">
                  <a16:creationId xmlns:a16="http://schemas.microsoft.com/office/drawing/2014/main" id="{3B64FDDD-8CBC-40D4-A037-AC56BDCE095C}"/>
                </a:ext>
              </a:extLst>
            </p:cNvPr>
            <p:cNvSpPr/>
            <p:nvPr/>
          </p:nvSpPr>
          <p:spPr>
            <a:xfrm>
              <a:off x="19630930" y="0"/>
              <a:ext cx="4907733" cy="181430"/>
            </a:xfrm>
            <a:prstGeom prst="rect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</p:grpSp>
      <p:pic>
        <p:nvPicPr>
          <p:cNvPr id="26" name="STMS2-BLEU CLAIR.png" descr="STMS2-BLEU CLAIR.png">
            <a:extLst>
              <a:ext uri="{FF2B5EF4-FFF2-40B4-BE49-F238E27FC236}">
                <a16:creationId xmlns:a16="http://schemas.microsoft.com/office/drawing/2014/main" id="{3C45B415-D4A4-4F66-9638-AB5AA32F26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447580" y="6123309"/>
            <a:ext cx="542988" cy="446328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Rectangle">
            <a:extLst>
              <a:ext uri="{FF2B5EF4-FFF2-40B4-BE49-F238E27FC236}">
                <a16:creationId xmlns:a16="http://schemas.microsoft.com/office/drawing/2014/main" id="{022756EF-C004-4457-8DC2-7AA9DC3549D1}"/>
              </a:ext>
            </a:extLst>
          </p:cNvPr>
          <p:cNvSpPr/>
          <p:nvPr userDrawn="1"/>
        </p:nvSpPr>
        <p:spPr>
          <a:xfrm>
            <a:off x="5707588" y="896834"/>
            <a:ext cx="776823" cy="64008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22860" rIns="22860" anchor="ctr"/>
          <a:lstStyle/>
          <a:p>
            <a:pPr algn="ctr">
              <a:defRPr>
                <a:solidFill>
                  <a:schemeClr val="accent2"/>
                </a:solidFill>
                <a:latin typeface="Exo 2 Light"/>
                <a:ea typeface="Exo 2 Light"/>
                <a:cs typeface="Exo 2 Light"/>
                <a:sym typeface="Exo 2 Light"/>
              </a:defRPr>
            </a:pPr>
            <a:endParaRPr sz="900"/>
          </a:p>
        </p:txBody>
      </p:sp>
      <p:sp>
        <p:nvSpPr>
          <p:cNvPr id="31" name="Texte niveau 1…">
            <a:extLst>
              <a:ext uri="{FF2B5EF4-FFF2-40B4-BE49-F238E27FC236}">
                <a16:creationId xmlns:a16="http://schemas.microsoft.com/office/drawing/2014/main" id="{43D1D4D7-C319-4BA5-95BA-344309BA5F47}"/>
              </a:ext>
            </a:extLst>
          </p:cNvPr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9044" y="1677515"/>
            <a:ext cx="11017806" cy="4056535"/>
          </a:xfrm>
          <a:prstGeom prst="rect">
            <a:avLst/>
          </a:prstGeom>
        </p:spPr>
        <p:txBody>
          <a:bodyPr lIns="288000" tIns="288000" rIns="288000" bIns="288000"/>
          <a:lstStyle>
            <a:lvl1pPr marL="265113" indent="-265113" algn="l">
              <a:lnSpc>
                <a:spcPct val="150000"/>
              </a:lnSpc>
              <a:buFont typeface="Wingdings" panose="05000000000000000000" pitchFamily="2" charset="2"/>
              <a:buChar char="§"/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31032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87425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43819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746250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1</a:t>
            </a:r>
          </a:p>
          <a:p>
            <a:pPr lvl="1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2</a:t>
            </a:r>
          </a:p>
          <a:p>
            <a:pPr lvl="2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3</a:t>
            </a:r>
          </a:p>
          <a:p>
            <a:pPr lvl="3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4</a:t>
            </a:r>
          </a:p>
          <a:p>
            <a:pPr lvl="4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 5</a:t>
            </a:r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350E76D7-D8C4-4678-A211-E25E636C719D}"/>
              </a:ext>
            </a:extLst>
          </p:cNvPr>
          <p:cNvSpPr txBox="1">
            <a:spLocks/>
          </p:cNvSpPr>
          <p:nvPr userDrawn="1"/>
        </p:nvSpPr>
        <p:spPr>
          <a:xfrm>
            <a:off x="11474267" y="246411"/>
            <a:ext cx="412405" cy="15240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Exo 2"/>
                <a:ea typeface="Exo 2"/>
                <a:cs typeface="Exo 2"/>
                <a:sym typeface="Exo 2"/>
              </a:defRPr>
            </a:lvl1pPr>
            <a:lvl2pPr marL="0" marR="0" indent="1087443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2174887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3262338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4349779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5437225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6524670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7612115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8699558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fr-FR" sz="1000" smtClean="0"/>
              <a:pPr/>
              <a:t>‹N°›</a:t>
            </a:fld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33339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C85F5B-E093-99C5-D11D-21A05B0DC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DE4EF4-E468-D6E6-674F-F6516C701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10D1C0-B201-B6FA-410F-2D7552017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18560D-F315-CDE5-ABB6-F728DF47B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C098D0-A2AE-58A4-6730-E83471AA5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445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4B9CE9ED-F13C-4904-BB58-07887CCAE619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6392008" y="677928"/>
            <a:ext cx="5944180" cy="558433"/>
          </a:xfrm>
        </p:spPr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066482-C983-4F33-ABDA-F3BCDF4BF8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4294" y="3946309"/>
            <a:ext cx="11261021" cy="777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Formation Technique ABAP </a:t>
            </a:r>
          </a:p>
        </p:txBody>
      </p:sp>
      <p:sp>
        <p:nvSpPr>
          <p:cNvPr id="5" name="Sous-titre 1">
            <a:extLst>
              <a:ext uri="{FF2B5EF4-FFF2-40B4-BE49-F238E27FC236}">
                <a16:creationId xmlns:a16="http://schemas.microsoft.com/office/drawing/2014/main" id="{E97B557A-F58C-4E2A-9398-76B3AAAEB8D5}"/>
              </a:ext>
            </a:extLst>
          </p:cNvPr>
          <p:cNvSpPr txBox="1">
            <a:spLocks/>
          </p:cNvSpPr>
          <p:nvPr/>
        </p:nvSpPr>
        <p:spPr>
          <a:xfrm>
            <a:off x="7816362" y="175846"/>
            <a:ext cx="4587234" cy="1339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2500" kern="1200">
                <a:solidFill>
                  <a:srgbClr val="FFFFF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 </a:t>
            </a:r>
            <a:endParaRPr lang="fr-FR" dirty="0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5BC60851-4CD8-11D4-D1CE-33B3E8CABF06}"/>
              </a:ext>
            </a:extLst>
          </p:cNvPr>
          <p:cNvSpPr txBox="1">
            <a:spLocks/>
          </p:cNvSpPr>
          <p:nvPr/>
        </p:nvSpPr>
        <p:spPr>
          <a:xfrm>
            <a:off x="494294" y="4901142"/>
            <a:ext cx="11261021" cy="777875"/>
          </a:xfrm>
          <a:prstGeom prst="rect">
            <a:avLst/>
          </a:prstGeom>
        </p:spPr>
        <p:txBody>
          <a:bodyPr vert="horz" lIns="91440" tIns="4680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225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200" dirty="0"/>
              <a:t>Les variantes de programme</a:t>
            </a:r>
          </a:p>
        </p:txBody>
      </p:sp>
    </p:spTree>
    <p:extLst>
      <p:ext uri="{BB962C8B-B14F-4D97-AF65-F5344CB8AC3E}">
        <p14:creationId xmlns:p14="http://schemas.microsoft.com/office/powerpoint/2010/main" val="1998575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Objectifs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5CF6C2-E6C4-4BDA-908C-4DA50D46D27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87097" y="928838"/>
            <a:ext cx="10880226" cy="5199401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/>
              <a:t>Création, gestion et transport de variantes de programmes</a:t>
            </a:r>
          </a:p>
          <a:p>
            <a:pPr marL="0" indent="0">
              <a:buNone/>
            </a:pPr>
            <a:endParaRPr lang="fr-FR" b="1" u="sng" dirty="0"/>
          </a:p>
        </p:txBody>
      </p:sp>
    </p:spTree>
    <p:extLst>
      <p:ext uri="{BB962C8B-B14F-4D97-AF65-F5344CB8AC3E}">
        <p14:creationId xmlns:p14="http://schemas.microsoft.com/office/powerpoint/2010/main" val="295554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variantes de programme - Généralités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5CF6C2-E6C4-4BDA-908C-4DA50D46D27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25863" y="999242"/>
            <a:ext cx="10708849" cy="5033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Une variante de programme, c’est un ensemble de valeurs enregistrées permettant de </a:t>
            </a:r>
            <a:r>
              <a:rPr lang="fr-FR" dirty="0" err="1"/>
              <a:t>pré-remplir</a:t>
            </a:r>
            <a:r>
              <a:rPr lang="fr-FR" dirty="0"/>
              <a:t> les critères de sélection d’un programme ABAP.</a:t>
            </a:r>
          </a:p>
          <a:p>
            <a:pPr marL="0" indent="0">
              <a:buNone/>
            </a:pPr>
            <a:r>
              <a:rPr lang="fr-FR" dirty="0"/>
              <a:t>Cela permet:</a:t>
            </a:r>
          </a:p>
          <a:p>
            <a:pPr marL="630238" indent="-274638">
              <a:buFont typeface="Arial" panose="020B0604020202020204" pitchFamily="34" charset="0"/>
              <a:buChar char="•"/>
            </a:pPr>
            <a:r>
              <a:rPr lang="fr-FR" dirty="0"/>
              <a:t>de gagner du temps de saisie et de limiter les erreurs</a:t>
            </a:r>
          </a:p>
          <a:p>
            <a:pPr marL="630238" indent="-274638">
              <a:buFont typeface="Arial" panose="020B0604020202020204" pitchFamily="34" charset="0"/>
              <a:buChar char="•"/>
            </a:pPr>
            <a:r>
              <a:rPr lang="fr-FR" dirty="0"/>
              <a:t>d’automatiser des process (lancement de jobs)</a:t>
            </a:r>
          </a:p>
        </p:txBody>
      </p:sp>
    </p:spTree>
    <p:extLst>
      <p:ext uri="{BB962C8B-B14F-4D97-AF65-F5344CB8AC3E}">
        <p14:creationId xmlns:p14="http://schemas.microsoft.com/office/powerpoint/2010/main" val="1778418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13AFA-E30B-27A2-8BEA-965FF71D5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B6D5A7-ED27-05E7-5021-E2C4C65D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variantes de programme - Manipulations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5522AA-3784-7EA2-459D-1132F9236C3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25863" y="999242"/>
            <a:ext cx="10708849" cy="5033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variantes de programmes peuvent être directement créées depuis l’écran de sélection d’un programme: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9DE4743-EC4F-0796-4FEF-39DD3A494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83" y="2533383"/>
            <a:ext cx="8293034" cy="179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05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1C0C-6397-0912-892B-450FD918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52B5F-F4BA-E520-4830-C3FE5C8E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variantes de programme - Manipulations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FBBF90-C9AA-D82F-77BA-C7B2B213254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25863" y="999242"/>
            <a:ext cx="10708849" cy="5033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Ou, également, depuis l’écran principal de la SE38 en saisissant le programme associé: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6EF3D07-7BC3-479E-0462-5E7787141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39" y="2391864"/>
            <a:ext cx="5012044" cy="279320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E0389DF-D8CB-AB59-E808-1304504B0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475" y="2603810"/>
            <a:ext cx="4864979" cy="236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7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A5CDB-B72F-36A3-5C81-9F41B5F36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C379A2-E636-F7A8-678B-4DAA83FB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variantes de programme - Manipulations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F6D9AC-AF60-1547-6A65-18456E3C167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25863" y="999242"/>
            <a:ext cx="10708849" cy="5033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Il est ensuite possible de consulter ou modifier une variante déjà créée.</a:t>
            </a:r>
          </a:p>
          <a:p>
            <a:pPr marL="0" indent="0">
              <a:buNone/>
            </a:pPr>
            <a:r>
              <a:rPr lang="fr-FR" dirty="0"/>
              <a:t>Un paramètre/select-option peut être saisi avec une valeur en dur, mais aussi paramétré. Par exemple:</a:t>
            </a:r>
          </a:p>
          <a:p>
            <a:pPr marL="803275" indent="-355600">
              <a:buFont typeface="Arial" panose="020B0604020202020204" pitchFamily="34" charset="0"/>
              <a:buChar char="•"/>
            </a:pPr>
            <a:r>
              <a:rPr lang="fr-FR" dirty="0"/>
              <a:t>Avec une valeur récupérée depuis la table TVARVC</a:t>
            </a:r>
          </a:p>
          <a:p>
            <a:pPr marL="803275" indent="-355600">
              <a:buFont typeface="Arial" panose="020B0604020202020204" pitchFamily="34" charset="0"/>
              <a:buChar char="•"/>
            </a:pPr>
            <a:r>
              <a:rPr lang="fr-FR" dirty="0"/>
              <a:t>Avec une date calculée dynamiquement (jour en cours -1, mois précédent, </a:t>
            </a:r>
            <a:r>
              <a:rPr lang="fr-FR" dirty="0" err="1"/>
              <a:t>etc</a:t>
            </a:r>
            <a:r>
              <a:rPr lang="fr-FR" dirty="0"/>
              <a:t> … )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629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DF115-8A51-BDF9-21DD-210A13F9A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1BE723-A473-8228-D250-EAA012B2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Exercices</a:t>
            </a:r>
            <a:endParaRPr lang="fr-FR" sz="4000" dirty="0">
              <a:solidFill>
                <a:schemeClr val="accent1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CA32F-26FA-F0D2-3F12-1BAC86FDFE1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16437" y="928838"/>
            <a:ext cx="10652289" cy="5199401"/>
          </a:xfrm>
        </p:spPr>
        <p:txBody>
          <a:bodyPr vert="horz" lIns="288000" tIns="288000" rIns="288000" bIns="288000" rtlCol="0" anchor="t">
            <a:normAutofit/>
          </a:bodyPr>
          <a:lstStyle/>
          <a:p>
            <a:pPr marL="0" indent="0" algn="just">
              <a:buNone/>
            </a:pPr>
            <a:r>
              <a:rPr lang="fr-FR" sz="2200" dirty="0"/>
              <a:t>1 – Reprendre le programme </a:t>
            </a:r>
            <a:r>
              <a:rPr lang="fr-FR" dirty="0"/>
              <a:t>ZBCRE_&lt;TRIGRAMME&gt;_LISTE_OT et créer une variante avec les données saisies en dur</a:t>
            </a:r>
            <a:endParaRPr lang="fr-FR" sz="2200" dirty="0"/>
          </a:p>
          <a:p>
            <a:pPr marL="0" indent="0" algn="just">
              <a:buNone/>
            </a:pPr>
            <a:r>
              <a:rPr lang="fr-FR" dirty="0"/>
              <a:t>2 – Modifier la variante précédente pour rendre la récupération dynamique du user en allant chercher sa valeur en TVARVC</a:t>
            </a:r>
          </a:p>
          <a:p>
            <a:pPr marL="0" indent="0" algn="just">
              <a:buNone/>
            </a:pPr>
            <a:r>
              <a:rPr lang="fr-FR" dirty="0"/>
              <a:t>3 – Modifier la variante précédente pour rendre dynamique le calcul de la date = date du jour - 1</a:t>
            </a:r>
          </a:p>
          <a:p>
            <a:pPr marL="0" indent="0" algn="just">
              <a:buNone/>
            </a:pPr>
            <a:r>
              <a:rPr lang="fr-FR" dirty="0"/>
              <a:t>4 – Sauvegarder la variante de programme dans l’OT associé au programme</a:t>
            </a:r>
          </a:p>
          <a:p>
            <a:pPr marL="0" indent="0" algn="just">
              <a:buNone/>
            </a:pPr>
            <a:r>
              <a:rPr lang="fr-FR" dirty="0"/>
              <a:t>5 – Automatiser l’appel du programme (et sa variante) avec un job lancé ultérieurement</a:t>
            </a:r>
          </a:p>
          <a:p>
            <a:pPr marL="0" indent="0" algn="just">
              <a:buNone/>
            </a:pPr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7039613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268</Words>
  <Application>Microsoft Office PowerPoint</Application>
  <PresentationFormat>Grand écran</PresentationFormat>
  <Paragraphs>26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Wingdings</vt:lpstr>
      <vt:lpstr>Thème Office</vt:lpstr>
      <vt:lpstr>Présentation PowerPoint</vt:lpstr>
      <vt:lpstr>Objectifs</vt:lpstr>
      <vt:lpstr>Les variantes de programme - Généralités</vt:lpstr>
      <vt:lpstr>Les variantes de programme - Manipulations</vt:lpstr>
      <vt:lpstr>Les variantes de programme - Manipulations</vt:lpstr>
      <vt:lpstr>Les variantes de programme - Manipulations</vt:lpstr>
      <vt:lpstr>Exercices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ATTIA</dc:creator>
  <cp:lastModifiedBy>Robin ATTIA</cp:lastModifiedBy>
  <cp:revision>6</cp:revision>
  <dcterms:created xsi:type="dcterms:W3CDTF">2024-09-04T20:54:41Z</dcterms:created>
  <dcterms:modified xsi:type="dcterms:W3CDTF">2025-11-24T14:57:54Z</dcterms:modified>
</cp:coreProperties>
</file>