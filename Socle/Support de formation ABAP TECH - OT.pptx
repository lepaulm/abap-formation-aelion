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699" r:id="rId2"/>
    <p:sldId id="4054" r:id="rId3"/>
    <p:sldId id="3838" r:id="rId4"/>
    <p:sldId id="3839" r:id="rId5"/>
    <p:sldId id="4158" r:id="rId6"/>
    <p:sldId id="3944" r:id="rId7"/>
    <p:sldId id="4004" r:id="rId8"/>
    <p:sldId id="4005" r:id="rId9"/>
    <p:sldId id="4007" r:id="rId10"/>
    <p:sldId id="3943" r:id="rId11"/>
    <p:sldId id="4124" r:id="rId12"/>
    <p:sldId id="4125" r:id="rId13"/>
    <p:sldId id="4159" r:id="rId1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C594AA-D464-5EA7-13DA-D5CA91584D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AB374A8-C4EB-4104-F13F-985EDEA15C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48EB5A4-3E47-437E-B414-E16D2F964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F4A61-BF6E-46AE-B2AF-38AF17C84D0E}" type="datetimeFigureOut">
              <a:rPr lang="fr-FR" smtClean="0"/>
              <a:t>24/11/2025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4B015F3-8C7C-64DF-0604-08146455B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A1AF9C8-B5B2-9FB8-108E-492A2CC53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CEB07-1D37-4280-9B32-ED99D0576C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3885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F2CDB2E-A61F-D4E0-CE86-25C89AF43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367BD47-8124-9D1E-D838-064541FCC7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60F8A38-291F-FA25-53F8-D7F8F6896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F4A61-BF6E-46AE-B2AF-38AF17C84D0E}" type="datetimeFigureOut">
              <a:rPr lang="fr-FR" smtClean="0"/>
              <a:t>24/11/2025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A004A71-7FFF-0107-D3ED-C0AC7073B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1B6ED69-6CAE-83B3-A8A2-69B06B31C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CEB07-1D37-4280-9B32-ED99D0576C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1294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C145F5-5470-E5DF-72CC-4445E3CE7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773CC80-DB30-0B4A-5FCF-51421A1C74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0D2DF55-A95A-0F8B-B8ED-1D279A707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F4A61-BF6E-46AE-B2AF-38AF17C84D0E}" type="datetimeFigureOut">
              <a:rPr lang="fr-FR" smtClean="0"/>
              <a:t>24/11/2025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0D53966-4B8A-602B-A74E-DD1B9B47F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C7B4A90-3AA3-9606-E473-EF989FD96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CEB07-1D37-4280-9B32-ED99D0576C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3636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6F1C37-71A1-A135-ABA5-E9B7FD448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6E3F455-E728-B7CE-8469-EA20D7420E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97F5C59-8D9E-9391-3BA7-062F6C6A76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38A0677-310F-16B8-664E-D863E9931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F4A61-BF6E-46AE-B2AF-38AF17C84D0E}" type="datetimeFigureOut">
              <a:rPr lang="fr-FR" smtClean="0"/>
              <a:t>24/11/2025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33AE530-B7EC-2B7B-FB0B-35AB3C685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A88BD1B-DF51-8439-8043-58F84AE90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CEB07-1D37-4280-9B32-ED99D0576C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4228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028D75-1AB9-8BEE-D773-9BA3777A5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C1A0F88-C077-1726-DE9B-DE13A13A0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4FF0169-5BBD-855A-6382-0D4D108F9A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402724A-3052-CBBF-6138-BB04474C8A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0F02EF6-638F-DDEE-AB0B-24BB589855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39E54BCA-9A08-2D03-BE49-9E4088CA1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F4A61-BF6E-46AE-B2AF-38AF17C84D0E}" type="datetimeFigureOut">
              <a:rPr lang="fr-FR" smtClean="0"/>
              <a:t>24/11/2025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6788D664-424C-15EA-B818-A099CE71B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D21FC57-4F93-6BD3-0C7B-0FF8474EC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CEB07-1D37-4280-9B32-ED99D0576C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2219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EDB5AFC-5481-7461-F2AB-742AC13C3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DB0165E-5536-DA31-DBC4-B5516D3E0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F4A61-BF6E-46AE-B2AF-38AF17C84D0E}" type="datetimeFigureOut">
              <a:rPr lang="fr-FR" smtClean="0"/>
              <a:t>24/11/2025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8ECE97E-4598-34E6-E24E-B307E8384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DA9A8AD-673E-C987-FEE6-DF1D2A83F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CEB07-1D37-4280-9B32-ED99D0576C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6919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74639FA-93D3-0A5A-B711-1DA70B417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F4A61-BF6E-46AE-B2AF-38AF17C84D0E}" type="datetimeFigureOut">
              <a:rPr lang="fr-FR" smtClean="0"/>
              <a:t>24/11/2025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17A62F3-6A21-A061-1BA7-96BBC39FB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C7E5985-312F-DFEE-B82A-C812A4C68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CEB07-1D37-4280-9B32-ED99D0576C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8381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54AC07-B5A7-BC6E-2480-B00CAE924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2EED937-D653-9347-FB6D-DFE874C325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1BF440B-C7EE-8DCB-40F1-A53F2D285F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C535AF2-40C9-0169-C812-12CBAC3FA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F4A61-BF6E-46AE-B2AF-38AF17C84D0E}" type="datetimeFigureOut">
              <a:rPr lang="fr-FR" smtClean="0"/>
              <a:t>24/11/2025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CDD0FAF-FA10-681B-F576-5762AF619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34ACE34-47B2-0FD0-9816-927AFF97B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CEB07-1D37-4280-9B32-ED99D0576C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04636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808656-E288-1AFA-A200-47909BBD3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DB59D1AD-E976-B848-ACDC-AF3749D007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0EDD4FA-A4A5-FDB2-B86D-3C7DC7A229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7BBE9FD-5DCC-0735-75FA-ABE7B8951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F4A61-BF6E-46AE-B2AF-38AF17C84D0E}" type="datetimeFigureOut">
              <a:rPr lang="fr-FR" smtClean="0"/>
              <a:t>24/11/2025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C7AF0CD-569F-FF96-876A-493489931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35999C0-8110-E1AC-1360-31954F412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CEB07-1D37-4280-9B32-ED99D0576C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5385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CDA8F4-69B2-1642-8AB4-4DE7A48E5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69FB54C-9E1B-B943-FB15-9BE72EC967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43A0568-E6D3-BA07-D52B-6F10BAF83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F4A61-BF6E-46AE-B2AF-38AF17C84D0E}" type="datetimeFigureOut">
              <a:rPr lang="fr-FR" smtClean="0"/>
              <a:t>24/11/2025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DFEBD9D-4B52-E691-CE69-252B234F8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4E43D30-044F-B752-9477-1BC5AC0E9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CEB07-1D37-4280-9B32-ED99D0576C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3599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88F822B-52F4-4CDA-0202-C97B3ECAE0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48A08D1-699C-08D1-879D-1B55B9038A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422F7B8-1EA9-4CCD-8F83-13A3897AC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F4A61-BF6E-46AE-B2AF-38AF17C84D0E}" type="datetimeFigureOut">
              <a:rPr lang="fr-FR" smtClean="0"/>
              <a:t>24/11/2025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DEEB8AA-E1DB-9F43-A933-F9F058D9C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9EA63D7-26B1-F9C5-1021-210C64CF9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CEB07-1D37-4280-9B32-ED99D0576C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58777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T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57E0DA5-1A84-457E-8089-6F317ED0D4C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" y="807"/>
            <a:ext cx="12188952" cy="5708904"/>
          </a:xfrm>
          <a:prstGeom prst="rect">
            <a:avLst/>
          </a:prstGeom>
        </p:spPr>
      </p:pic>
      <p:sp>
        <p:nvSpPr>
          <p:cNvPr id="12" name="Rectangle">
            <a:extLst>
              <a:ext uri="{FF2B5EF4-FFF2-40B4-BE49-F238E27FC236}">
                <a16:creationId xmlns:a16="http://schemas.microsoft.com/office/drawing/2014/main" id="{1D71088A-448F-426E-9A9F-5E69C1121E35}"/>
              </a:ext>
            </a:extLst>
          </p:cNvPr>
          <p:cNvSpPr/>
          <p:nvPr userDrawn="1"/>
        </p:nvSpPr>
        <p:spPr>
          <a:xfrm rot="106">
            <a:off x="1555" y="3802987"/>
            <a:ext cx="12188891" cy="1909933"/>
          </a:xfrm>
          <a:prstGeom prst="rect">
            <a:avLst/>
          </a:prstGeom>
          <a:solidFill>
            <a:srgbClr val="1568AB"/>
          </a:solidFill>
          <a:ln w="25400">
            <a:solidFill>
              <a:schemeClr val="accent1">
                <a:alpha val="0"/>
              </a:schemeClr>
            </a:solidFill>
            <a:bevel/>
          </a:ln>
        </p:spPr>
        <p:txBody>
          <a:bodyPr lIns="22860" rIns="22860" anchor="ctr"/>
          <a:lstStyle/>
          <a:p>
            <a:endParaRPr sz="900"/>
          </a:p>
        </p:txBody>
      </p:sp>
      <p:sp>
        <p:nvSpPr>
          <p:cNvPr id="14" name="Technical and financial Bid">
            <a:extLst>
              <a:ext uri="{FF2B5EF4-FFF2-40B4-BE49-F238E27FC236}">
                <a16:creationId xmlns:a16="http://schemas.microsoft.com/office/drawing/2014/main" id="{A912186B-0399-4C1C-8355-0F5E95DDC75C}"/>
              </a:ext>
            </a:extLst>
          </p:cNvPr>
          <p:cNvSpPr txBox="1">
            <a:spLocks noGrp="1"/>
          </p:cNvSpPr>
          <p:nvPr>
            <p:ph type="subTitle" sz="quarter" idx="1" hasCustomPrompt="1"/>
          </p:nvPr>
        </p:nvSpPr>
        <p:spPr>
          <a:xfrm>
            <a:off x="494769" y="4910806"/>
            <a:ext cx="8535512" cy="558433"/>
          </a:xfrm>
          <a:prstGeom prst="rect">
            <a:avLst/>
          </a:prstGeom>
        </p:spPr>
        <p:txBody>
          <a:bodyPr/>
          <a:lstStyle>
            <a:lvl1pPr algn="l">
              <a:spcBef>
                <a:spcPts val="450"/>
              </a:spcBef>
              <a:defRPr sz="2500">
                <a:solidFill>
                  <a:srgbClr val="FFFFFE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fr-FR" dirty="0"/>
              <a:t>Sous-titre 1</a:t>
            </a:r>
            <a:endParaRPr dirty="0"/>
          </a:p>
        </p:txBody>
      </p:sp>
      <p:sp>
        <p:nvSpPr>
          <p:cNvPr id="15" name="Rectangle">
            <a:extLst>
              <a:ext uri="{FF2B5EF4-FFF2-40B4-BE49-F238E27FC236}">
                <a16:creationId xmlns:a16="http://schemas.microsoft.com/office/drawing/2014/main" id="{7ECDADA6-69BD-4872-9B8C-9B28C12C6D0D}"/>
              </a:ext>
            </a:extLst>
          </p:cNvPr>
          <p:cNvSpPr/>
          <p:nvPr userDrawn="1"/>
        </p:nvSpPr>
        <p:spPr>
          <a:xfrm>
            <a:off x="569435" y="4799848"/>
            <a:ext cx="776823" cy="64008"/>
          </a:xfrm>
          <a:prstGeom prst="rect">
            <a:avLst/>
          </a:prstGeom>
          <a:solidFill>
            <a:srgbClr val="FFB000"/>
          </a:solidFill>
          <a:ln w="12700">
            <a:miter lim="400000"/>
          </a:ln>
        </p:spPr>
        <p:txBody>
          <a:bodyPr lIns="22860" rIns="22860" anchor="ctr"/>
          <a:lstStyle/>
          <a:p>
            <a:pPr algn="ctr">
              <a:defRPr>
                <a:solidFill>
                  <a:schemeClr val="accent2"/>
                </a:solidFill>
                <a:latin typeface="Exo 2 Light"/>
                <a:ea typeface="Exo 2 Light"/>
                <a:cs typeface="Exo 2 Light"/>
                <a:sym typeface="Exo 2 Light"/>
              </a:defRPr>
            </a:pPr>
            <a:endParaRPr sz="900"/>
          </a:p>
        </p:txBody>
      </p:sp>
      <p:pic>
        <p:nvPicPr>
          <p:cNvPr id="16" name="STMS2-BLEU CLAIR.png" descr="STMS2-BLEU CLAIR.png">
            <a:extLst>
              <a:ext uri="{FF2B5EF4-FFF2-40B4-BE49-F238E27FC236}">
                <a16:creationId xmlns:a16="http://schemas.microsoft.com/office/drawing/2014/main" id="{011090BE-9F59-4182-BB62-E5AC4A643AF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3601" y="296250"/>
            <a:ext cx="2917719" cy="446328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2" name="Groupe"/>
          <p:cNvGrpSpPr/>
          <p:nvPr userDrawn="1"/>
        </p:nvGrpSpPr>
        <p:grpSpPr>
          <a:xfrm>
            <a:off x="1" y="6761748"/>
            <a:ext cx="12192000" cy="96253"/>
            <a:chOff x="0" y="0"/>
            <a:chExt cx="24538662" cy="181429"/>
          </a:xfrm>
        </p:grpSpPr>
        <p:sp>
          <p:nvSpPr>
            <p:cNvPr id="17" name="Rectangle"/>
            <p:cNvSpPr/>
            <p:nvPr/>
          </p:nvSpPr>
          <p:spPr>
            <a:xfrm>
              <a:off x="0" y="0"/>
              <a:ext cx="4907733" cy="181430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Exo 2 Light"/>
                  <a:ea typeface="Exo 2 Light"/>
                  <a:cs typeface="Exo 2 Light"/>
                  <a:sym typeface="Exo 2 Light"/>
                </a:defRPr>
              </a:pPr>
              <a:endParaRPr sz="900"/>
            </a:p>
          </p:txBody>
        </p:sp>
        <p:sp>
          <p:nvSpPr>
            <p:cNvPr id="18" name="Rectangle"/>
            <p:cNvSpPr/>
            <p:nvPr/>
          </p:nvSpPr>
          <p:spPr>
            <a:xfrm>
              <a:off x="4907732" y="0"/>
              <a:ext cx="4907734" cy="181430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Exo 2 Light"/>
                  <a:ea typeface="Exo 2 Light"/>
                  <a:cs typeface="Exo 2 Light"/>
                  <a:sym typeface="Exo 2 Light"/>
                </a:defRPr>
              </a:pPr>
              <a:endParaRPr sz="900"/>
            </a:p>
          </p:txBody>
        </p:sp>
        <p:sp>
          <p:nvSpPr>
            <p:cNvPr id="19" name="Rectangle"/>
            <p:cNvSpPr/>
            <p:nvPr/>
          </p:nvSpPr>
          <p:spPr>
            <a:xfrm>
              <a:off x="9815465" y="0"/>
              <a:ext cx="4907733" cy="181430"/>
            </a:xfrm>
            <a:prstGeom prst="rect">
              <a:avLst/>
            </a:pr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Exo 2 Light"/>
                  <a:ea typeface="Exo 2 Light"/>
                  <a:cs typeface="Exo 2 Light"/>
                  <a:sym typeface="Exo 2 Light"/>
                </a:defRPr>
              </a:pPr>
              <a:endParaRPr sz="900"/>
            </a:p>
          </p:txBody>
        </p:sp>
        <p:sp>
          <p:nvSpPr>
            <p:cNvPr id="20" name="Rectangle"/>
            <p:cNvSpPr/>
            <p:nvPr/>
          </p:nvSpPr>
          <p:spPr>
            <a:xfrm>
              <a:off x="14723197" y="0"/>
              <a:ext cx="4907733" cy="181430"/>
            </a:xfrm>
            <a:prstGeom prst="rect">
              <a:avLst/>
            </a:prstGeom>
            <a:solidFill>
              <a:srgbClr val="FFB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Exo 2 Light"/>
                  <a:ea typeface="Exo 2 Light"/>
                  <a:cs typeface="Exo 2 Light"/>
                  <a:sym typeface="Exo 2 Light"/>
                </a:defRPr>
              </a:pPr>
              <a:endParaRPr sz="900"/>
            </a:p>
          </p:txBody>
        </p:sp>
        <p:sp>
          <p:nvSpPr>
            <p:cNvPr id="21" name="Rectangle"/>
            <p:cNvSpPr/>
            <p:nvPr/>
          </p:nvSpPr>
          <p:spPr>
            <a:xfrm>
              <a:off x="19630930" y="0"/>
              <a:ext cx="4907733" cy="181430"/>
            </a:xfrm>
            <a:prstGeom prst="rect">
              <a:avLst/>
            </a:pr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Exo 2 Light"/>
                  <a:ea typeface="Exo 2 Light"/>
                  <a:cs typeface="Exo 2 Light"/>
                  <a:sym typeface="Exo 2 Light"/>
                </a:defRPr>
              </a:pPr>
              <a:endParaRPr sz="900"/>
            </a:p>
          </p:txBody>
        </p:sp>
      </p:grp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F2B9A1C-80FB-4CDF-BFE4-FA95AD254BB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4294" y="3946309"/>
            <a:ext cx="8535988" cy="777875"/>
          </a:xfrm>
          <a:prstGeom prst="rect">
            <a:avLst/>
          </a:prstGeom>
        </p:spPr>
        <p:txBody>
          <a:bodyPr tIns="46800" anchor="ctr" anchorCtr="0"/>
          <a:lstStyle>
            <a:lvl1pPr algn="l">
              <a:lnSpc>
                <a:spcPct val="100000"/>
              </a:lnSpc>
              <a:spcBef>
                <a:spcPts val="0"/>
              </a:spcBef>
              <a:defRPr sz="4225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4225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4225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4225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4225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fr-FR" dirty="0"/>
              <a:t>Titre 1</a:t>
            </a:r>
          </a:p>
        </p:txBody>
      </p:sp>
    </p:spTree>
    <p:extLst>
      <p:ext uri="{BB962C8B-B14F-4D97-AF65-F5344CB8AC3E}">
        <p14:creationId xmlns:p14="http://schemas.microsoft.com/office/powerpoint/2010/main" val="24769560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e du titre"/>
          <p:cNvSpPr txBox="1">
            <a:spLocks noGrp="1"/>
          </p:cNvSpPr>
          <p:nvPr>
            <p:ph type="title" hasCustomPrompt="1"/>
          </p:nvPr>
        </p:nvSpPr>
        <p:spPr>
          <a:xfrm>
            <a:off x="0" y="0"/>
            <a:ext cx="12192000" cy="928838"/>
          </a:xfrm>
          <a:prstGeom prst="rect">
            <a:avLst/>
          </a:prstGeom>
        </p:spPr>
        <p:txBody>
          <a:bodyPr anchor="ctr" anchorCtr="0"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dirty="0" err="1"/>
              <a:t>Texte</a:t>
            </a:r>
            <a:r>
              <a:rPr dirty="0"/>
              <a:t> du </a:t>
            </a:r>
            <a:r>
              <a:rPr dirty="0" err="1"/>
              <a:t>titre</a:t>
            </a:r>
            <a:endParaRPr dirty="0"/>
          </a:p>
        </p:txBody>
      </p:sp>
      <p:grpSp>
        <p:nvGrpSpPr>
          <p:cNvPr id="11" name="Groupe">
            <a:extLst>
              <a:ext uri="{FF2B5EF4-FFF2-40B4-BE49-F238E27FC236}">
                <a16:creationId xmlns:a16="http://schemas.microsoft.com/office/drawing/2014/main" id="{D360B735-9C28-414B-83EF-B6F6B855D062}"/>
              </a:ext>
            </a:extLst>
          </p:cNvPr>
          <p:cNvGrpSpPr/>
          <p:nvPr userDrawn="1"/>
        </p:nvGrpSpPr>
        <p:grpSpPr>
          <a:xfrm>
            <a:off x="1" y="6761748"/>
            <a:ext cx="12192000" cy="96253"/>
            <a:chOff x="0" y="0"/>
            <a:chExt cx="24538662" cy="181429"/>
          </a:xfrm>
        </p:grpSpPr>
        <p:sp>
          <p:nvSpPr>
            <p:cNvPr id="12" name="Rectangle">
              <a:extLst>
                <a:ext uri="{FF2B5EF4-FFF2-40B4-BE49-F238E27FC236}">
                  <a16:creationId xmlns:a16="http://schemas.microsoft.com/office/drawing/2014/main" id="{7862649B-0C9A-4620-8E94-1D447F8AC7F1}"/>
                </a:ext>
              </a:extLst>
            </p:cNvPr>
            <p:cNvSpPr/>
            <p:nvPr/>
          </p:nvSpPr>
          <p:spPr>
            <a:xfrm>
              <a:off x="0" y="0"/>
              <a:ext cx="4907733" cy="181430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Exo 2 Light"/>
                  <a:ea typeface="Exo 2 Light"/>
                  <a:cs typeface="Exo 2 Light"/>
                  <a:sym typeface="Exo 2 Light"/>
                </a:defRPr>
              </a:pPr>
              <a:endParaRPr sz="900"/>
            </a:p>
          </p:txBody>
        </p:sp>
        <p:sp>
          <p:nvSpPr>
            <p:cNvPr id="13" name="Rectangle">
              <a:extLst>
                <a:ext uri="{FF2B5EF4-FFF2-40B4-BE49-F238E27FC236}">
                  <a16:creationId xmlns:a16="http://schemas.microsoft.com/office/drawing/2014/main" id="{E0AB1A34-DECA-4767-95B7-BCA671F899C0}"/>
                </a:ext>
              </a:extLst>
            </p:cNvPr>
            <p:cNvSpPr/>
            <p:nvPr/>
          </p:nvSpPr>
          <p:spPr>
            <a:xfrm>
              <a:off x="4907732" y="0"/>
              <a:ext cx="4907734" cy="181430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Exo 2 Light"/>
                  <a:ea typeface="Exo 2 Light"/>
                  <a:cs typeface="Exo 2 Light"/>
                  <a:sym typeface="Exo 2 Light"/>
                </a:defRPr>
              </a:pPr>
              <a:endParaRPr sz="900"/>
            </a:p>
          </p:txBody>
        </p:sp>
        <p:sp>
          <p:nvSpPr>
            <p:cNvPr id="14" name="Rectangle">
              <a:extLst>
                <a:ext uri="{FF2B5EF4-FFF2-40B4-BE49-F238E27FC236}">
                  <a16:creationId xmlns:a16="http://schemas.microsoft.com/office/drawing/2014/main" id="{DBFB4FB3-DC5A-4761-94B1-C447B526113C}"/>
                </a:ext>
              </a:extLst>
            </p:cNvPr>
            <p:cNvSpPr/>
            <p:nvPr/>
          </p:nvSpPr>
          <p:spPr>
            <a:xfrm>
              <a:off x="9815465" y="0"/>
              <a:ext cx="4907733" cy="181430"/>
            </a:xfrm>
            <a:prstGeom prst="rect">
              <a:avLst/>
            </a:pr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Exo 2 Light"/>
                  <a:ea typeface="Exo 2 Light"/>
                  <a:cs typeface="Exo 2 Light"/>
                  <a:sym typeface="Exo 2 Light"/>
                </a:defRPr>
              </a:pPr>
              <a:endParaRPr sz="900"/>
            </a:p>
          </p:txBody>
        </p:sp>
        <p:sp>
          <p:nvSpPr>
            <p:cNvPr id="15" name="Rectangle">
              <a:extLst>
                <a:ext uri="{FF2B5EF4-FFF2-40B4-BE49-F238E27FC236}">
                  <a16:creationId xmlns:a16="http://schemas.microsoft.com/office/drawing/2014/main" id="{F9DBE7B5-8F35-4A3D-A42B-7ACE57287F13}"/>
                </a:ext>
              </a:extLst>
            </p:cNvPr>
            <p:cNvSpPr/>
            <p:nvPr/>
          </p:nvSpPr>
          <p:spPr>
            <a:xfrm>
              <a:off x="14723197" y="0"/>
              <a:ext cx="4907733" cy="181430"/>
            </a:xfrm>
            <a:prstGeom prst="rect">
              <a:avLst/>
            </a:prstGeom>
            <a:solidFill>
              <a:srgbClr val="FFB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Exo 2 Light"/>
                  <a:ea typeface="Exo 2 Light"/>
                  <a:cs typeface="Exo 2 Light"/>
                  <a:sym typeface="Exo 2 Light"/>
                </a:defRPr>
              </a:pPr>
              <a:endParaRPr sz="900"/>
            </a:p>
          </p:txBody>
        </p:sp>
        <p:sp>
          <p:nvSpPr>
            <p:cNvPr id="16" name="Rectangle">
              <a:extLst>
                <a:ext uri="{FF2B5EF4-FFF2-40B4-BE49-F238E27FC236}">
                  <a16:creationId xmlns:a16="http://schemas.microsoft.com/office/drawing/2014/main" id="{3B64FDDD-8CBC-40D4-A037-AC56BDCE095C}"/>
                </a:ext>
              </a:extLst>
            </p:cNvPr>
            <p:cNvSpPr/>
            <p:nvPr/>
          </p:nvSpPr>
          <p:spPr>
            <a:xfrm>
              <a:off x="19630930" y="0"/>
              <a:ext cx="4907733" cy="181430"/>
            </a:xfrm>
            <a:prstGeom prst="rect">
              <a:avLst/>
            </a:pr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Exo 2 Light"/>
                  <a:ea typeface="Exo 2 Light"/>
                  <a:cs typeface="Exo 2 Light"/>
                  <a:sym typeface="Exo 2 Light"/>
                </a:defRPr>
              </a:pPr>
              <a:endParaRPr sz="900"/>
            </a:p>
          </p:txBody>
        </p:sp>
      </p:grpSp>
      <p:pic>
        <p:nvPicPr>
          <p:cNvPr id="26" name="STMS2-BLEU CLAIR.png" descr="STMS2-BLEU CLAIR.png">
            <a:extLst>
              <a:ext uri="{FF2B5EF4-FFF2-40B4-BE49-F238E27FC236}">
                <a16:creationId xmlns:a16="http://schemas.microsoft.com/office/drawing/2014/main" id="{3C45B415-D4A4-4F66-9638-AB5AA32F26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447580" y="6123309"/>
            <a:ext cx="542988" cy="446328"/>
          </a:xfrm>
          <a:prstGeom prst="rect">
            <a:avLst/>
          </a:prstGeom>
          <a:ln w="12700">
            <a:miter lim="400000"/>
          </a:ln>
        </p:spPr>
      </p:pic>
      <p:sp>
        <p:nvSpPr>
          <p:cNvPr id="27" name="Rectangle">
            <a:extLst>
              <a:ext uri="{FF2B5EF4-FFF2-40B4-BE49-F238E27FC236}">
                <a16:creationId xmlns:a16="http://schemas.microsoft.com/office/drawing/2014/main" id="{022756EF-C004-4457-8DC2-7AA9DC3549D1}"/>
              </a:ext>
            </a:extLst>
          </p:cNvPr>
          <p:cNvSpPr/>
          <p:nvPr userDrawn="1"/>
        </p:nvSpPr>
        <p:spPr>
          <a:xfrm>
            <a:off x="5707588" y="896834"/>
            <a:ext cx="776823" cy="64008"/>
          </a:xfrm>
          <a:prstGeom prst="rect">
            <a:avLst/>
          </a:prstGeom>
          <a:solidFill>
            <a:srgbClr val="FFB000"/>
          </a:solidFill>
          <a:ln w="12700">
            <a:miter lim="400000"/>
          </a:ln>
        </p:spPr>
        <p:txBody>
          <a:bodyPr lIns="22860" rIns="22860" anchor="ctr"/>
          <a:lstStyle/>
          <a:p>
            <a:pPr algn="ctr">
              <a:defRPr>
                <a:solidFill>
                  <a:schemeClr val="accent2"/>
                </a:solidFill>
                <a:latin typeface="Exo 2 Light"/>
                <a:ea typeface="Exo 2 Light"/>
                <a:cs typeface="Exo 2 Light"/>
                <a:sym typeface="Exo 2 Light"/>
              </a:defRPr>
            </a:pPr>
            <a:endParaRPr sz="900"/>
          </a:p>
        </p:txBody>
      </p:sp>
      <p:sp>
        <p:nvSpPr>
          <p:cNvPr id="31" name="Texte niveau 1…">
            <a:extLst>
              <a:ext uri="{FF2B5EF4-FFF2-40B4-BE49-F238E27FC236}">
                <a16:creationId xmlns:a16="http://schemas.microsoft.com/office/drawing/2014/main" id="{43D1D4D7-C319-4BA5-95BA-344309BA5F47}"/>
              </a:ext>
            </a:extLst>
          </p:cNvPr>
          <p:cNvSpPr txBox="1">
            <a:spLocks noGrp="1"/>
          </p:cNvSpPr>
          <p:nvPr>
            <p:ph type="body" sz="half" idx="1" hasCustomPrompt="1"/>
          </p:nvPr>
        </p:nvSpPr>
        <p:spPr>
          <a:xfrm>
            <a:off x="609044" y="1677515"/>
            <a:ext cx="11017806" cy="4056535"/>
          </a:xfrm>
          <a:prstGeom prst="rect">
            <a:avLst/>
          </a:prstGeom>
        </p:spPr>
        <p:txBody>
          <a:bodyPr lIns="288000" tIns="288000" rIns="288000" bIns="288000"/>
          <a:lstStyle>
            <a:lvl1pPr marL="265113" indent="-265113" algn="l">
              <a:lnSpc>
                <a:spcPct val="150000"/>
              </a:lnSpc>
              <a:buFont typeface="Wingdings" panose="05000000000000000000" pitchFamily="2" charset="2"/>
              <a:buChar char="§"/>
              <a:defRPr sz="22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631032" indent="-285750" algn="l">
              <a:lnSpc>
                <a:spcPct val="150000"/>
              </a:lnSpc>
              <a:buFont typeface="Wingdings" panose="05000000000000000000" pitchFamily="2" charset="2"/>
              <a:buChar char="§"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987425" indent="-285750" algn="l">
              <a:lnSpc>
                <a:spcPct val="150000"/>
              </a:lnSpc>
              <a:buFont typeface="Wingdings" panose="05000000000000000000" pitchFamily="2" charset="2"/>
              <a:buChar char="§"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343819" indent="-285750" algn="l">
              <a:lnSpc>
                <a:spcPct val="150000"/>
              </a:lnSpc>
              <a:buFont typeface="Wingdings" panose="05000000000000000000" pitchFamily="2" charset="2"/>
              <a:buChar char="§"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1746250" indent="-285750" algn="l">
              <a:lnSpc>
                <a:spcPct val="150000"/>
              </a:lnSpc>
              <a:buFont typeface="Wingdings" panose="05000000000000000000" pitchFamily="2" charset="2"/>
              <a:buChar char="§"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r>
              <a:rPr dirty="0" err="1"/>
              <a:t>Texte</a:t>
            </a:r>
            <a:r>
              <a:rPr dirty="0"/>
              <a:t> </a:t>
            </a:r>
            <a:r>
              <a:rPr dirty="0" err="1"/>
              <a:t>niveau</a:t>
            </a:r>
            <a:r>
              <a:rPr dirty="0"/>
              <a:t> 1</a:t>
            </a:r>
          </a:p>
          <a:p>
            <a:pPr lvl="1"/>
            <a:r>
              <a:rPr dirty="0" err="1"/>
              <a:t>Texte</a:t>
            </a:r>
            <a:r>
              <a:rPr dirty="0"/>
              <a:t> </a:t>
            </a:r>
            <a:r>
              <a:rPr dirty="0" err="1"/>
              <a:t>niveau</a:t>
            </a:r>
            <a:r>
              <a:rPr dirty="0"/>
              <a:t> 2</a:t>
            </a:r>
          </a:p>
          <a:p>
            <a:pPr lvl="2"/>
            <a:r>
              <a:rPr dirty="0" err="1"/>
              <a:t>Texte</a:t>
            </a:r>
            <a:r>
              <a:rPr dirty="0"/>
              <a:t> </a:t>
            </a:r>
            <a:r>
              <a:rPr dirty="0" err="1"/>
              <a:t>niveau</a:t>
            </a:r>
            <a:r>
              <a:rPr dirty="0"/>
              <a:t> 3</a:t>
            </a:r>
          </a:p>
          <a:p>
            <a:pPr lvl="3"/>
            <a:r>
              <a:rPr dirty="0" err="1"/>
              <a:t>Texte</a:t>
            </a:r>
            <a:r>
              <a:rPr dirty="0"/>
              <a:t> </a:t>
            </a:r>
            <a:r>
              <a:rPr dirty="0" err="1"/>
              <a:t>niveau</a:t>
            </a:r>
            <a:r>
              <a:rPr dirty="0"/>
              <a:t> 4</a:t>
            </a:r>
          </a:p>
          <a:p>
            <a:pPr lvl="4"/>
            <a:r>
              <a:rPr dirty="0" err="1"/>
              <a:t>Texte</a:t>
            </a:r>
            <a:r>
              <a:rPr dirty="0"/>
              <a:t> </a:t>
            </a:r>
            <a:r>
              <a:rPr dirty="0" err="1"/>
              <a:t>niveau</a:t>
            </a:r>
            <a:r>
              <a:rPr dirty="0"/>
              <a:t> 5</a:t>
            </a:r>
          </a:p>
        </p:txBody>
      </p:sp>
      <p:sp>
        <p:nvSpPr>
          <p:cNvPr id="2" name="Numéro de diapositive">
            <a:extLst>
              <a:ext uri="{FF2B5EF4-FFF2-40B4-BE49-F238E27FC236}">
                <a16:creationId xmlns:a16="http://schemas.microsoft.com/office/drawing/2014/main" id="{350E76D7-D8C4-4678-A211-E25E636C719D}"/>
              </a:ext>
            </a:extLst>
          </p:cNvPr>
          <p:cNvSpPr txBox="1">
            <a:spLocks/>
          </p:cNvSpPr>
          <p:nvPr userDrawn="1"/>
        </p:nvSpPr>
        <p:spPr>
          <a:xfrm>
            <a:off x="11474267" y="246411"/>
            <a:ext cx="412405" cy="152401"/>
          </a:xfrm>
          <a:prstGeom prst="rect">
            <a:avLst/>
          </a:prstGeom>
          <a:solidFill>
            <a:schemeClr val="accent3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108744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Exo 2"/>
                <a:ea typeface="Exo 2"/>
                <a:cs typeface="Exo 2"/>
                <a:sym typeface="Exo 2"/>
              </a:defRPr>
            </a:lvl1pPr>
            <a:lvl2pPr marL="0" marR="0" indent="1087443" algn="l" defTabSz="108744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3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2pPr>
            <a:lvl3pPr marL="0" marR="0" indent="2174887" algn="l" defTabSz="108744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3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3pPr>
            <a:lvl4pPr marL="0" marR="0" indent="3262338" algn="l" defTabSz="108744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3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4pPr>
            <a:lvl5pPr marL="0" marR="0" indent="4349779" algn="l" defTabSz="108744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3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5pPr>
            <a:lvl6pPr marL="0" marR="0" indent="5437225" algn="l" defTabSz="108744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3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6pPr>
            <a:lvl7pPr marL="0" marR="0" indent="6524670" algn="l" defTabSz="108744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3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7pPr>
            <a:lvl8pPr marL="0" marR="0" indent="7612115" algn="l" defTabSz="108744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3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8pPr>
            <a:lvl9pPr marL="0" marR="0" indent="8699558" algn="l" defTabSz="108744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3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86CB4B4D-7CA3-9044-876B-883B54F8677D}" type="slidenum">
              <a:rPr lang="fr-FR" sz="1000" smtClean="0"/>
              <a:pPr/>
              <a:t>‹N°›</a:t>
            </a:fld>
            <a:endParaRPr lang="fr-FR" sz="1000" dirty="0"/>
          </a:p>
        </p:txBody>
      </p:sp>
    </p:spTree>
    <p:extLst>
      <p:ext uri="{BB962C8B-B14F-4D97-AF65-F5344CB8AC3E}">
        <p14:creationId xmlns:p14="http://schemas.microsoft.com/office/powerpoint/2010/main" val="3333392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8C85F5B-E093-99C5-D11D-21A05B0DC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5DE4EF4-E468-D6E6-674F-F6516C7017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110D1C0-B201-B6FA-410F-2D75520173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9F4A61-BF6E-46AE-B2AF-38AF17C84D0E}" type="datetimeFigureOut">
              <a:rPr lang="fr-FR" smtClean="0"/>
              <a:t>24/11/2025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418560D-F315-CDE5-ABB6-F728DF47B2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2C098D0-A2AE-58A4-6730-E83471AA59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BCEB07-1D37-4280-9B32-ED99D0576C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4453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s-titre 1">
            <a:extLst>
              <a:ext uri="{FF2B5EF4-FFF2-40B4-BE49-F238E27FC236}">
                <a16:creationId xmlns:a16="http://schemas.microsoft.com/office/drawing/2014/main" id="{4B9CE9ED-F13C-4904-BB58-07887CCAE619}"/>
              </a:ext>
            </a:extLst>
          </p:cNvPr>
          <p:cNvSpPr>
            <a:spLocks noGrp="1"/>
          </p:cNvSpPr>
          <p:nvPr>
            <p:ph type="subTitle" sz="quarter" idx="1"/>
          </p:nvPr>
        </p:nvSpPr>
        <p:spPr>
          <a:xfrm>
            <a:off x="6392008" y="677928"/>
            <a:ext cx="5944180" cy="558433"/>
          </a:xfrm>
        </p:spPr>
        <p:txBody>
          <a:bodyPr/>
          <a:lstStyle/>
          <a:p>
            <a:r>
              <a:rPr lang="fr-FR" dirty="0"/>
              <a:t> 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0066482-C983-4F33-ABDA-F3BCDF4BF8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4294" y="3946309"/>
            <a:ext cx="11261021" cy="7778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Formation Technique ABAP </a:t>
            </a:r>
          </a:p>
        </p:txBody>
      </p:sp>
      <p:sp>
        <p:nvSpPr>
          <p:cNvPr id="5" name="Sous-titre 1">
            <a:extLst>
              <a:ext uri="{FF2B5EF4-FFF2-40B4-BE49-F238E27FC236}">
                <a16:creationId xmlns:a16="http://schemas.microsoft.com/office/drawing/2014/main" id="{E97B557A-F58C-4E2A-9398-76B3AAAEB8D5}"/>
              </a:ext>
            </a:extLst>
          </p:cNvPr>
          <p:cNvSpPr txBox="1">
            <a:spLocks/>
          </p:cNvSpPr>
          <p:nvPr/>
        </p:nvSpPr>
        <p:spPr>
          <a:xfrm>
            <a:off x="7816362" y="175846"/>
            <a:ext cx="4587234" cy="13397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Char char="•"/>
              <a:defRPr sz="2500" kern="1200">
                <a:solidFill>
                  <a:srgbClr val="FFFFFE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 </a:t>
            </a:r>
            <a:endParaRPr lang="fr-FR" dirty="0"/>
          </a:p>
        </p:txBody>
      </p:sp>
      <p:sp>
        <p:nvSpPr>
          <p:cNvPr id="4" name="Espace réservé du texte 2">
            <a:extLst>
              <a:ext uri="{FF2B5EF4-FFF2-40B4-BE49-F238E27FC236}">
                <a16:creationId xmlns:a16="http://schemas.microsoft.com/office/drawing/2014/main" id="{5BC60851-4CD8-11D4-D1CE-33B3E8CABF06}"/>
              </a:ext>
            </a:extLst>
          </p:cNvPr>
          <p:cNvSpPr txBox="1">
            <a:spLocks/>
          </p:cNvSpPr>
          <p:nvPr/>
        </p:nvSpPr>
        <p:spPr>
          <a:xfrm>
            <a:off x="494294" y="4901142"/>
            <a:ext cx="11261021" cy="777875"/>
          </a:xfrm>
          <a:prstGeom prst="rect">
            <a:avLst/>
          </a:prstGeom>
        </p:spPr>
        <p:txBody>
          <a:bodyPr vert="horz" lIns="91440" tIns="46800" rIns="91440" bIns="45720" rtlCol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4225" b="1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225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225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225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225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sz="3200" dirty="0"/>
              <a:t>Les ordres de transport</a:t>
            </a:r>
          </a:p>
        </p:txBody>
      </p:sp>
    </p:spTree>
    <p:extLst>
      <p:ext uri="{BB962C8B-B14F-4D97-AF65-F5344CB8AC3E}">
        <p14:creationId xmlns:p14="http://schemas.microsoft.com/office/powerpoint/2010/main" val="1998575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D70251-534A-42E3-AAAE-FD7AB232D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dirty="0">
                <a:solidFill>
                  <a:schemeClr val="accent1"/>
                </a:solidFill>
              </a:rPr>
              <a:t>Objectifs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D5CF6C2-E6C4-4BDA-908C-4DA50D46D275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587097" y="928838"/>
            <a:ext cx="10880226" cy="5199401"/>
          </a:xfrm>
        </p:spPr>
        <p:txBody>
          <a:bodyPr/>
          <a:lstStyle/>
          <a:p>
            <a:pPr marL="0" indent="0">
              <a:buNone/>
            </a:pPr>
            <a:r>
              <a:rPr lang="fr-FR" sz="2000" dirty="0"/>
              <a:t>• Comprendre le rôle et le fonctionnement des ordres de transport (OT)</a:t>
            </a:r>
          </a:p>
          <a:p>
            <a:pPr marL="0" indent="0">
              <a:buNone/>
            </a:pPr>
            <a:r>
              <a:rPr lang="fr-FR" sz="2000" dirty="0"/>
              <a:t>• Manipuler un OT</a:t>
            </a:r>
          </a:p>
          <a:p>
            <a:pPr marL="0" indent="0">
              <a:buNone/>
            </a:pPr>
            <a:endParaRPr lang="fr-FR" b="1" u="sng" dirty="0"/>
          </a:p>
        </p:txBody>
      </p:sp>
    </p:spTree>
    <p:extLst>
      <p:ext uri="{BB962C8B-B14F-4D97-AF65-F5344CB8AC3E}">
        <p14:creationId xmlns:p14="http://schemas.microsoft.com/office/powerpoint/2010/main" val="2955542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D70251-534A-42E3-AAAE-FD7AB232D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dirty="0">
                <a:solidFill>
                  <a:schemeClr val="accent1"/>
                </a:solidFill>
              </a:rPr>
              <a:t>Les ordres de transport - Généralités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D5CF6C2-E6C4-4BDA-908C-4DA50D46D275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725863" y="999242"/>
            <a:ext cx="10708849" cy="5033914"/>
          </a:xfrm>
        </p:spPr>
        <p:txBody>
          <a:bodyPr>
            <a:normAutofit fontScale="85000" lnSpcReduction="10000"/>
          </a:bodyPr>
          <a:lstStyle/>
          <a:p>
            <a:pPr marL="0" indent="0" algn="just">
              <a:buNone/>
            </a:pPr>
            <a:r>
              <a:rPr lang="fr-FR" dirty="0"/>
              <a:t>Un OT (</a:t>
            </a:r>
            <a:r>
              <a:rPr lang="fr-FR" b="1" dirty="0"/>
              <a:t>O</a:t>
            </a:r>
            <a:r>
              <a:rPr lang="fr-FR" dirty="0"/>
              <a:t>rdre de </a:t>
            </a:r>
            <a:r>
              <a:rPr lang="fr-FR" b="1" dirty="0"/>
              <a:t>T</a:t>
            </a:r>
            <a:r>
              <a:rPr lang="fr-FR" dirty="0"/>
              <a:t>ransport) est un objet servant à déployer des modifications d’un système à un autre. </a:t>
            </a:r>
          </a:p>
          <a:p>
            <a:pPr marL="0" indent="0" algn="just">
              <a:buNone/>
            </a:pPr>
            <a:r>
              <a:rPr lang="fr-FR" dirty="0"/>
              <a:t>Les différentes étapes de la vie d’un OT:</a:t>
            </a:r>
          </a:p>
          <a:p>
            <a:pPr marL="0" indent="0" algn="just">
              <a:buNone/>
            </a:pPr>
            <a:r>
              <a:rPr lang="fr-FR" dirty="0"/>
              <a:t>1- Création de l’OT (T-code SE01, SE09, SE10, …)</a:t>
            </a:r>
          </a:p>
          <a:p>
            <a:pPr marL="0" indent="0" algn="just">
              <a:buNone/>
            </a:pPr>
            <a:r>
              <a:rPr lang="fr-FR" dirty="0"/>
              <a:t>2- Insertion des objets modifiés, soit automatiquement à la sauvegarde d’un objet modifié, soit manuellement (T-code SE01, SE09, SE10, …)</a:t>
            </a:r>
          </a:p>
          <a:p>
            <a:pPr marL="0" indent="0" algn="just">
              <a:buNone/>
            </a:pPr>
            <a:r>
              <a:rPr lang="fr-FR" dirty="0"/>
              <a:t>3- Libération de l’OT (T-code SE01, SE09, SE10, …)</a:t>
            </a:r>
          </a:p>
          <a:p>
            <a:pPr marL="0" indent="0" algn="just">
              <a:buNone/>
            </a:pPr>
            <a:r>
              <a:rPr lang="fr-FR" dirty="0"/>
              <a:t>4- Transport de l’OT (T-code STMS)</a:t>
            </a:r>
          </a:p>
          <a:p>
            <a:pPr marL="0" indent="0" algn="just">
              <a:buNone/>
            </a:pPr>
            <a:r>
              <a:rPr lang="fr-FR" b="1" u="sng" dirty="0"/>
              <a:t>Attention</a:t>
            </a:r>
            <a:r>
              <a:rPr lang="fr-FR" b="1" dirty="0"/>
              <a:t> : dépendant de l’environnement client dans lequel vous allez évoluer. Cette opération de transport ne sera peut être pas de votre ressort et sera gérée par le client.</a:t>
            </a:r>
          </a:p>
        </p:txBody>
      </p:sp>
    </p:spTree>
    <p:extLst>
      <p:ext uri="{BB962C8B-B14F-4D97-AF65-F5344CB8AC3E}">
        <p14:creationId xmlns:p14="http://schemas.microsoft.com/office/powerpoint/2010/main" val="1778418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D70251-534A-42E3-AAAE-FD7AB232D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dirty="0">
                <a:solidFill>
                  <a:schemeClr val="accent1"/>
                </a:solidFill>
              </a:rPr>
              <a:t>Les ordres de transport - Généralités</a:t>
            </a:r>
            <a:endParaRPr lang="fr-FR" sz="4000" dirty="0">
              <a:solidFill>
                <a:schemeClr val="accent1"/>
              </a:solidFill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D5CF6C2-E6C4-4BDA-908C-4DA50D46D275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716437" y="928838"/>
            <a:ext cx="10652289" cy="5199401"/>
          </a:xfrm>
        </p:spPr>
        <p:txBody>
          <a:bodyPr vert="horz" lIns="288000" tIns="288000" rIns="288000" bIns="288000" rtlCol="0" anchor="t">
            <a:normAutofit fontScale="77500" lnSpcReduction="20000"/>
          </a:bodyPr>
          <a:lstStyle/>
          <a:p>
            <a:pPr marL="264795" indent="-264795" algn="just">
              <a:buFontTx/>
              <a:buChar char="-"/>
            </a:pPr>
            <a:r>
              <a:rPr lang="fr-FR" dirty="0"/>
              <a:t>La plupart du temps, un OT est composé de tâches</a:t>
            </a:r>
          </a:p>
          <a:p>
            <a:pPr marL="264795" indent="-264795" algn="just">
              <a:buFontTx/>
              <a:buChar char="-"/>
            </a:pPr>
            <a:r>
              <a:rPr lang="fr-FR" dirty="0"/>
              <a:t>Chaque OT se voit attribué un numéro automatiquement lors de sa création</a:t>
            </a:r>
          </a:p>
          <a:p>
            <a:pPr marL="264795" indent="-264795" algn="just">
              <a:buFontTx/>
              <a:buChar char="-"/>
            </a:pPr>
            <a:r>
              <a:rPr lang="fr-FR" dirty="0"/>
              <a:t>Il existe deux types d’OT:</a:t>
            </a:r>
          </a:p>
          <a:p>
            <a:pPr marL="1076325" indent="-273050" algn="just"/>
            <a:r>
              <a:rPr lang="fr-FR" dirty="0"/>
              <a:t>Workbench (SYST): contient des objets du repository</a:t>
            </a:r>
          </a:p>
          <a:p>
            <a:pPr marL="1076325" indent="-273050" algn="just"/>
            <a:r>
              <a:rPr lang="fr-FR" dirty="0" err="1"/>
              <a:t>Customizing</a:t>
            </a:r>
            <a:r>
              <a:rPr lang="fr-FR" dirty="0"/>
              <a:t> (CUST): adaptation du paramétrage</a:t>
            </a:r>
          </a:p>
          <a:p>
            <a:pPr marL="263525" indent="0" algn="just">
              <a:buNone/>
            </a:pPr>
            <a:r>
              <a:rPr lang="fr-FR" dirty="0"/>
              <a:t>A noter l’existence des OT de type « transports de copies » permettant de transporter des fonctionnalités sans suivre la route des transports.</a:t>
            </a:r>
          </a:p>
          <a:p>
            <a:pPr marL="264795" indent="-264795" algn="just">
              <a:buFontTx/>
              <a:buChar char="-"/>
            </a:pPr>
            <a:r>
              <a:rPr lang="fr-FR" dirty="0"/>
              <a:t>Un OT de workbench peut se décomposer en plusieurs tâches de type:</a:t>
            </a:r>
          </a:p>
          <a:p>
            <a:pPr marL="1076325" lvl="1" indent="-273050" algn="just">
              <a:spcBef>
                <a:spcPts val="1000"/>
              </a:spcBef>
            </a:pPr>
            <a:r>
              <a:rPr lang="fr-FR" sz="2200" dirty="0"/>
              <a:t>Développement/correction : modification d’un objet dans son système d’origine</a:t>
            </a:r>
          </a:p>
          <a:p>
            <a:pPr marL="1076325" lvl="1" indent="-273050" algn="just">
              <a:spcBef>
                <a:spcPts val="1000"/>
              </a:spcBef>
            </a:pPr>
            <a:r>
              <a:rPr lang="fr-FR" sz="2200" dirty="0"/>
              <a:t>Réparation : modification d’un objet qui n’appartient pas au système (objet importé ou standard)</a:t>
            </a:r>
          </a:p>
        </p:txBody>
      </p:sp>
    </p:spTree>
    <p:extLst>
      <p:ext uri="{BB962C8B-B14F-4D97-AF65-F5344CB8AC3E}">
        <p14:creationId xmlns:p14="http://schemas.microsoft.com/office/powerpoint/2010/main" val="3767491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69FEC-D449-2E5D-EA62-2CE191269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22DEAA-5035-C9A0-97F1-916C27E13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dirty="0">
                <a:solidFill>
                  <a:schemeClr val="accent1"/>
                </a:solidFill>
              </a:rPr>
              <a:t>Les ordres de transport - Généralités</a:t>
            </a:r>
            <a:endParaRPr lang="fr-FR" sz="4000" dirty="0">
              <a:solidFill>
                <a:schemeClr val="accent1"/>
              </a:solidFill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32F0824-3DFB-A2CE-B959-A5964DE274D3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716437" y="928838"/>
            <a:ext cx="10652289" cy="5199401"/>
          </a:xfrm>
        </p:spPr>
        <p:txBody>
          <a:bodyPr vert="horz" lIns="288000" tIns="288000" rIns="288000" bIns="288000" rtlCol="0" anchor="t">
            <a:normAutofit/>
          </a:bodyPr>
          <a:lstStyle/>
          <a:p>
            <a:pPr marL="0" indent="0" algn="just">
              <a:buNone/>
            </a:pPr>
            <a:r>
              <a:rPr lang="fr-FR" sz="2200" dirty="0"/>
              <a:t>Les </a:t>
            </a:r>
            <a:r>
              <a:rPr lang="fr-FR" dirty="0"/>
              <a:t>données associées aux </a:t>
            </a:r>
            <a:r>
              <a:rPr lang="fr-FR" dirty="0" err="1"/>
              <a:t>OTs</a:t>
            </a:r>
            <a:r>
              <a:rPr lang="fr-FR" dirty="0"/>
              <a:t> sont stockées en base et on peut noter en particulier:</a:t>
            </a:r>
          </a:p>
          <a:p>
            <a:pPr marL="803275" indent="-355600" algn="just">
              <a:buFont typeface="Arial" panose="020B0604020202020204" pitchFamily="34" charset="0"/>
              <a:buChar char="•"/>
            </a:pPr>
            <a:r>
              <a:rPr lang="fr-FR" sz="2200" dirty="0"/>
              <a:t>E070* : données d’en-tête</a:t>
            </a:r>
          </a:p>
          <a:p>
            <a:pPr marL="803275" indent="-355600" algn="just">
              <a:buFont typeface="Arial" panose="020B0604020202020204" pitchFamily="34" charset="0"/>
              <a:buChar char="•"/>
            </a:pPr>
            <a:r>
              <a:rPr lang="fr-FR" dirty="0"/>
              <a:t>E071* : entrées d'objet</a:t>
            </a:r>
            <a:endParaRPr lang="fr-FR" sz="2200" dirty="0"/>
          </a:p>
        </p:txBody>
      </p:sp>
    </p:spTree>
    <p:extLst>
      <p:ext uri="{BB962C8B-B14F-4D97-AF65-F5344CB8AC3E}">
        <p14:creationId xmlns:p14="http://schemas.microsoft.com/office/powerpoint/2010/main" val="21565749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D70251-534A-42E3-AAAE-FD7AB232D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33254"/>
          </a:xfrm>
        </p:spPr>
        <p:txBody>
          <a:bodyPr>
            <a:noAutofit/>
          </a:bodyPr>
          <a:lstStyle/>
          <a:p>
            <a:pPr marL="171450" indent="-171450" algn="ctr" defTabSz="4572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defRPr/>
            </a:pPr>
            <a:r>
              <a:rPr lang="fr-FR" sz="3200" b="1" dirty="0">
                <a:solidFill>
                  <a:schemeClr val="accent1"/>
                </a:solidFill>
              </a:rPr>
              <a:t>Les ordres de transport - Manipulations</a:t>
            </a:r>
            <a:endParaRPr lang="fr-FR" altLang="fr-FR" sz="3000" b="1" dirty="0">
              <a:solidFill>
                <a:schemeClr val="accent1"/>
              </a:solidFill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CD5A3EC4-99EE-469A-A17B-25DDA34F02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51343" y="1090203"/>
            <a:ext cx="3886200" cy="5545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720" tIns="22860" rIns="45720" bIns="2286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ctr" defTabSz="457200">
              <a:buNone/>
              <a:defRPr/>
            </a:pPr>
            <a:endParaRPr lang="fr-FR" altLang="fr-FR" sz="1600" b="1" dirty="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F56AB7CE-66A1-4F6B-8061-3042EC85B3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2165166"/>
            <a:ext cx="6959600" cy="4236622"/>
          </a:xfrm>
          <a:prstGeom prst="rect">
            <a:avLst/>
          </a:prstGeom>
        </p:spPr>
      </p:pic>
      <p:sp>
        <p:nvSpPr>
          <p:cNvPr id="5" name="Espace réservé du texte 2">
            <a:extLst>
              <a:ext uri="{FF2B5EF4-FFF2-40B4-BE49-F238E27FC236}">
                <a16:creationId xmlns:a16="http://schemas.microsoft.com/office/drawing/2014/main" id="{A3D8008A-2DB5-9445-B833-F76B10A411E3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736757" y="1090203"/>
            <a:ext cx="7106763" cy="933254"/>
          </a:xfrm>
        </p:spPr>
        <p:txBody>
          <a:bodyPr vert="horz" lIns="288000" tIns="288000" rIns="288000" bIns="288000" rtlCol="0" anchor="t">
            <a:noAutofit/>
          </a:bodyPr>
          <a:lstStyle/>
          <a:p>
            <a:pPr marL="0" indent="0" algn="just">
              <a:buNone/>
            </a:pPr>
            <a:r>
              <a:rPr lang="fr-FR" sz="2400" dirty="0"/>
              <a:t>Visualisation d’un OT (via T-Code SE10)</a:t>
            </a:r>
          </a:p>
        </p:txBody>
      </p:sp>
    </p:spTree>
    <p:extLst>
      <p:ext uri="{BB962C8B-B14F-4D97-AF65-F5344CB8AC3E}">
        <p14:creationId xmlns:p14="http://schemas.microsoft.com/office/powerpoint/2010/main" val="1471423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D70251-534A-42E3-AAAE-FD7AB232D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171450" indent="-171450" algn="ctr" defTabSz="4572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defRPr/>
            </a:pPr>
            <a:r>
              <a:rPr lang="fr-FR" sz="4000" b="1" dirty="0">
                <a:solidFill>
                  <a:schemeClr val="accent1"/>
                </a:solidFill>
              </a:rPr>
              <a:t>Les ordres de transport - Manipulations</a:t>
            </a:r>
            <a:endParaRPr lang="fr-FR" altLang="fr-FR" sz="4000" b="1" dirty="0">
              <a:solidFill>
                <a:schemeClr val="accent1"/>
              </a:solidFill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FBBF5476-6DBD-4CFF-B138-47AE3F0512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7749" y="2616881"/>
            <a:ext cx="7805394" cy="3827281"/>
          </a:xfrm>
          <a:prstGeom prst="rect">
            <a:avLst/>
          </a:prstGeom>
        </p:spPr>
      </p:pic>
      <p:sp>
        <p:nvSpPr>
          <p:cNvPr id="6" name="Espace réservé du texte 2">
            <a:extLst>
              <a:ext uri="{FF2B5EF4-FFF2-40B4-BE49-F238E27FC236}">
                <a16:creationId xmlns:a16="http://schemas.microsoft.com/office/drawing/2014/main" id="{AE502E41-B138-488C-99A2-1FD4CC27978E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669303" y="1024644"/>
            <a:ext cx="10755984" cy="5022224"/>
          </a:xfrm>
        </p:spPr>
        <p:txBody>
          <a:bodyPr/>
          <a:lstStyle/>
          <a:p>
            <a:pPr marL="0" indent="0">
              <a:buNone/>
            </a:pPr>
            <a:r>
              <a:rPr lang="fr-FR" sz="2000" dirty="0"/>
              <a:t>Contenu d’un OT : </a:t>
            </a:r>
            <a:r>
              <a:rPr lang="fr-FR" sz="1900" dirty="0"/>
              <a:t>Si vous double-cliquez sur la tâche, vous aurez accès à la liste des objets contenus dans votre tâche /OT.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830983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D70251-534A-42E3-AAAE-FD7AB232D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171450" indent="-171450" algn="ctr" defTabSz="4572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defRPr/>
            </a:pPr>
            <a:r>
              <a:rPr lang="fr-FR" sz="4000" b="1" dirty="0">
                <a:solidFill>
                  <a:schemeClr val="accent1"/>
                </a:solidFill>
              </a:rPr>
              <a:t>Les ordres de transport - Manipulations</a:t>
            </a:r>
            <a:endParaRPr lang="fr-FR" altLang="fr-FR" sz="4000" b="1" dirty="0">
              <a:solidFill>
                <a:schemeClr val="accent1"/>
              </a:solidFill>
            </a:endParaRPr>
          </a:p>
        </p:txBody>
      </p:sp>
      <p:sp>
        <p:nvSpPr>
          <p:cNvPr id="6" name="Espace réservé du texte 2">
            <a:extLst>
              <a:ext uri="{FF2B5EF4-FFF2-40B4-BE49-F238E27FC236}">
                <a16:creationId xmlns:a16="http://schemas.microsoft.com/office/drawing/2014/main" id="{AE502E41-B138-488C-99A2-1FD4CC27978E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45477" y="1024644"/>
            <a:ext cx="11017806" cy="5022224"/>
          </a:xfrm>
        </p:spPr>
        <p:txBody>
          <a:bodyPr/>
          <a:lstStyle/>
          <a:p>
            <a:pPr marL="0" indent="0">
              <a:buNone/>
            </a:pPr>
            <a:r>
              <a:rPr lang="fr-FR" sz="1800" dirty="0"/>
              <a:t>               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B9BD6FC-020C-4FD4-AFA5-33C7BD9697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7311" y="1449688"/>
            <a:ext cx="9417377" cy="4779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0741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D70251-534A-42E3-AAAE-FD7AB232D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171450" indent="-171450" algn="ctr" defTabSz="4572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defRPr/>
            </a:pPr>
            <a:r>
              <a:rPr lang="fr-FR" sz="4000" b="1" dirty="0">
                <a:solidFill>
                  <a:schemeClr val="accent1"/>
                </a:solidFill>
              </a:rPr>
              <a:t>Les ordres de transport - Manipulations</a:t>
            </a:r>
            <a:endParaRPr lang="fr-FR" altLang="fr-FR" sz="4000" b="1" dirty="0">
              <a:solidFill>
                <a:schemeClr val="accent1"/>
              </a:solidFill>
            </a:endParaRPr>
          </a:p>
        </p:txBody>
      </p:sp>
      <p:graphicFrame>
        <p:nvGraphicFramePr>
          <p:cNvPr id="3" name="Tableau 4">
            <a:extLst>
              <a:ext uri="{FF2B5EF4-FFF2-40B4-BE49-F238E27FC236}">
                <a16:creationId xmlns:a16="http://schemas.microsoft.com/office/drawing/2014/main" id="{BCF4D281-0092-46DA-9F0C-6E0BF36555A6}"/>
              </a:ext>
            </a:extLst>
          </p:cNvPr>
          <p:cNvGraphicFramePr>
            <a:graphicFrameLocks noGrp="1"/>
          </p:cNvGraphicFramePr>
          <p:nvPr/>
        </p:nvGraphicFramePr>
        <p:xfrm>
          <a:off x="2031999" y="1104684"/>
          <a:ext cx="8128002" cy="49608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9334">
                  <a:extLst>
                    <a:ext uri="{9D8B030D-6E8A-4147-A177-3AD203B41FA5}">
                      <a16:colId xmlns:a16="http://schemas.microsoft.com/office/drawing/2014/main" val="2493966534"/>
                    </a:ext>
                  </a:extLst>
                </a:gridCol>
                <a:gridCol w="2709334">
                  <a:extLst>
                    <a:ext uri="{9D8B030D-6E8A-4147-A177-3AD203B41FA5}">
                      <a16:colId xmlns:a16="http://schemas.microsoft.com/office/drawing/2014/main" val="3321645158"/>
                    </a:ext>
                  </a:extLst>
                </a:gridCol>
                <a:gridCol w="2709334">
                  <a:extLst>
                    <a:ext uri="{9D8B030D-6E8A-4147-A177-3AD203B41FA5}">
                      <a16:colId xmlns:a16="http://schemas.microsoft.com/office/drawing/2014/main" val="3138798529"/>
                    </a:ext>
                  </a:extLst>
                </a:gridCol>
              </a:tblGrid>
              <a:tr h="529625"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ID Prog.</a:t>
                      </a:r>
                    </a:p>
                  </a:txBody>
                  <a:tcPr marL="45720" marR="45720" marT="22860" marB="22860"/>
                </a:tc>
                <a:tc>
                  <a:txBody>
                    <a:bodyPr/>
                    <a:lstStyle/>
                    <a:p>
                      <a:pPr marL="0" marR="0" indent="0" algn="ctr" defTabSz="1087443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fr-FR" sz="2000" b="1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Exo 2"/>
                        </a:rPr>
                        <a:t>Type d’objet </a:t>
                      </a:r>
                    </a:p>
                  </a:txBody>
                  <a:tcPr marL="45720" marR="45720" marT="22860" marB="22860"/>
                </a:tc>
                <a:tc>
                  <a:txBody>
                    <a:bodyPr/>
                    <a:lstStyle/>
                    <a:p>
                      <a:pPr marL="0" marR="0" indent="0" algn="ctr" defTabSz="1087443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fr-FR" sz="2000" b="1" i="0" u="none" strike="noStrike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Exo 2"/>
                        </a:rPr>
                        <a:t>Description</a:t>
                      </a:r>
                    </a:p>
                  </a:txBody>
                  <a:tcPr marL="45720" marR="45720" marT="22860" marB="22860"/>
                </a:tc>
                <a:extLst>
                  <a:ext uri="{0D108BD9-81ED-4DB2-BD59-A6C34878D82A}">
                    <a16:rowId xmlns:a16="http://schemas.microsoft.com/office/drawing/2014/main" val="2149457331"/>
                  </a:ext>
                </a:extLst>
              </a:tr>
              <a:tr h="529625">
                <a:tc>
                  <a:txBody>
                    <a:bodyPr/>
                    <a:lstStyle/>
                    <a:p>
                      <a:pPr algn="ctr"/>
                      <a:r>
                        <a:rPr lang="fr-FR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R3TR</a:t>
                      </a:r>
                    </a:p>
                  </a:txBody>
                  <a:tcPr marL="45720" marR="45720" marT="22860" marB="22860"/>
                </a:tc>
                <a:tc>
                  <a:txBody>
                    <a:bodyPr/>
                    <a:lstStyle/>
                    <a:p>
                      <a:r>
                        <a:rPr lang="fr-FR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PROG</a:t>
                      </a:r>
                    </a:p>
                  </a:txBody>
                  <a:tcPr marL="45720" marR="45720" marT="22860" marB="22860"/>
                </a:tc>
                <a:tc>
                  <a:txBody>
                    <a:bodyPr/>
                    <a:lstStyle/>
                    <a:p>
                      <a:r>
                        <a:rPr lang="fr-FR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Programme ABAP</a:t>
                      </a:r>
                    </a:p>
                  </a:txBody>
                  <a:tcPr marL="45720" marR="45720" marT="22860" marB="22860"/>
                </a:tc>
                <a:extLst>
                  <a:ext uri="{0D108BD9-81ED-4DB2-BD59-A6C34878D82A}">
                    <a16:rowId xmlns:a16="http://schemas.microsoft.com/office/drawing/2014/main" val="2775859837"/>
                  </a:ext>
                </a:extLst>
              </a:tr>
              <a:tr h="529625">
                <a:tc>
                  <a:txBody>
                    <a:bodyPr/>
                    <a:lstStyle/>
                    <a:p>
                      <a:pPr marL="0" marR="0" lvl="0" indent="0" algn="ctr" defTabSz="10874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R3TR</a:t>
                      </a:r>
                    </a:p>
                  </a:txBody>
                  <a:tcPr marL="45720" marR="45720" marT="22860" marB="22860"/>
                </a:tc>
                <a:tc>
                  <a:txBody>
                    <a:bodyPr/>
                    <a:lstStyle/>
                    <a:p>
                      <a:r>
                        <a:rPr lang="fr-FR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DOMA</a:t>
                      </a:r>
                    </a:p>
                  </a:txBody>
                  <a:tcPr marL="45720" marR="45720" marT="22860" marB="22860"/>
                </a:tc>
                <a:tc>
                  <a:txBody>
                    <a:bodyPr/>
                    <a:lstStyle/>
                    <a:p>
                      <a:r>
                        <a:rPr lang="fr-FR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Domaine</a:t>
                      </a:r>
                    </a:p>
                  </a:txBody>
                  <a:tcPr marL="45720" marR="45720" marT="22860" marB="22860"/>
                </a:tc>
                <a:extLst>
                  <a:ext uri="{0D108BD9-81ED-4DB2-BD59-A6C34878D82A}">
                    <a16:rowId xmlns:a16="http://schemas.microsoft.com/office/drawing/2014/main" val="3680749804"/>
                  </a:ext>
                </a:extLst>
              </a:tr>
              <a:tr h="529625">
                <a:tc>
                  <a:txBody>
                    <a:bodyPr/>
                    <a:lstStyle/>
                    <a:p>
                      <a:pPr marL="0" marR="0" lvl="0" indent="0" algn="ctr" defTabSz="10874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R3TR</a:t>
                      </a:r>
                    </a:p>
                  </a:txBody>
                  <a:tcPr marL="45720" marR="45720" marT="22860" marB="22860"/>
                </a:tc>
                <a:tc>
                  <a:txBody>
                    <a:bodyPr/>
                    <a:lstStyle/>
                    <a:p>
                      <a:r>
                        <a:rPr lang="fr-FR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DTEL</a:t>
                      </a:r>
                    </a:p>
                  </a:txBody>
                  <a:tcPr marL="45720" marR="45720" marT="22860" marB="22860"/>
                </a:tc>
                <a:tc>
                  <a:txBody>
                    <a:bodyPr/>
                    <a:lstStyle/>
                    <a:p>
                      <a:r>
                        <a:rPr lang="fr-FR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Eléments de données</a:t>
                      </a:r>
                    </a:p>
                  </a:txBody>
                  <a:tcPr marL="45720" marR="45720" marT="22860" marB="22860"/>
                </a:tc>
                <a:extLst>
                  <a:ext uri="{0D108BD9-81ED-4DB2-BD59-A6C34878D82A}">
                    <a16:rowId xmlns:a16="http://schemas.microsoft.com/office/drawing/2014/main" val="4045826905"/>
                  </a:ext>
                </a:extLst>
              </a:tr>
              <a:tr h="529625">
                <a:tc>
                  <a:txBody>
                    <a:bodyPr/>
                    <a:lstStyle/>
                    <a:p>
                      <a:pPr algn="ctr"/>
                      <a:r>
                        <a:rPr lang="fr-FR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LIMU</a:t>
                      </a:r>
                    </a:p>
                  </a:txBody>
                  <a:tcPr marL="45720" marR="45720" marT="22860" marB="22860"/>
                </a:tc>
                <a:tc>
                  <a:txBody>
                    <a:bodyPr/>
                    <a:lstStyle/>
                    <a:p>
                      <a:r>
                        <a:rPr lang="fr-FR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TABD</a:t>
                      </a:r>
                    </a:p>
                  </a:txBody>
                  <a:tcPr marL="45720" marR="45720" marT="22860" marB="22860"/>
                </a:tc>
                <a:tc>
                  <a:txBody>
                    <a:bodyPr/>
                    <a:lstStyle/>
                    <a:p>
                      <a:r>
                        <a:rPr lang="fr-FR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Structures et tables</a:t>
                      </a:r>
                    </a:p>
                  </a:txBody>
                  <a:tcPr marL="45720" marR="45720" marT="22860" marB="22860"/>
                </a:tc>
                <a:extLst>
                  <a:ext uri="{0D108BD9-81ED-4DB2-BD59-A6C34878D82A}">
                    <a16:rowId xmlns:a16="http://schemas.microsoft.com/office/drawing/2014/main" val="914370167"/>
                  </a:ext>
                </a:extLst>
              </a:tr>
              <a:tr h="529625">
                <a:tc>
                  <a:txBody>
                    <a:bodyPr/>
                    <a:lstStyle/>
                    <a:p>
                      <a:pPr marL="0" marR="0" lvl="0" indent="0" algn="ctr" defTabSz="10874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R3TR</a:t>
                      </a:r>
                    </a:p>
                  </a:txBody>
                  <a:tcPr marL="45720" marR="45720" marT="22860" marB="22860"/>
                </a:tc>
                <a:tc>
                  <a:txBody>
                    <a:bodyPr/>
                    <a:lstStyle/>
                    <a:p>
                      <a:r>
                        <a:rPr lang="fr-FR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FUNC</a:t>
                      </a:r>
                    </a:p>
                  </a:txBody>
                  <a:tcPr marL="45720" marR="45720" marT="22860" marB="22860"/>
                </a:tc>
                <a:tc>
                  <a:txBody>
                    <a:bodyPr/>
                    <a:lstStyle/>
                    <a:p>
                      <a:r>
                        <a:rPr lang="fr-FR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Fonction</a:t>
                      </a:r>
                    </a:p>
                  </a:txBody>
                  <a:tcPr marL="45720" marR="45720" marT="22860" marB="22860"/>
                </a:tc>
                <a:extLst>
                  <a:ext uri="{0D108BD9-81ED-4DB2-BD59-A6C34878D82A}">
                    <a16:rowId xmlns:a16="http://schemas.microsoft.com/office/drawing/2014/main" val="2868620627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marR="0" lvl="0" indent="0" algn="ctr" defTabSz="10874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R3TR</a:t>
                      </a:r>
                    </a:p>
                    <a:p>
                      <a:endParaRPr lang="fr-FR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marT="22860" marB="22860"/>
                </a:tc>
                <a:tc>
                  <a:txBody>
                    <a:bodyPr/>
                    <a:lstStyle/>
                    <a:p>
                      <a:r>
                        <a:rPr lang="fr-FR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CLASS</a:t>
                      </a:r>
                    </a:p>
                  </a:txBody>
                  <a:tcPr marL="45720" marR="45720" marT="22860" marB="22860"/>
                </a:tc>
                <a:tc>
                  <a:txBody>
                    <a:bodyPr/>
                    <a:lstStyle/>
                    <a:p>
                      <a:r>
                        <a:rPr lang="fr-FR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Classe</a:t>
                      </a:r>
                    </a:p>
                  </a:txBody>
                  <a:tcPr marL="45720" marR="45720" marT="22860" marB="22860"/>
                </a:tc>
                <a:extLst>
                  <a:ext uri="{0D108BD9-81ED-4DB2-BD59-A6C34878D82A}">
                    <a16:rowId xmlns:a16="http://schemas.microsoft.com/office/drawing/2014/main" val="2902773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marR="0" lvl="0" indent="0" algn="ctr" defTabSz="10874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LIMU</a:t>
                      </a:r>
                    </a:p>
                    <a:p>
                      <a:endParaRPr lang="fr-FR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marT="22860" marB="22860"/>
                </a:tc>
                <a:tc>
                  <a:txBody>
                    <a:bodyPr/>
                    <a:lstStyle/>
                    <a:p>
                      <a:r>
                        <a:rPr lang="fr-FR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METH</a:t>
                      </a:r>
                    </a:p>
                  </a:txBody>
                  <a:tcPr marL="45720" marR="45720" marT="22860" marB="22860"/>
                </a:tc>
                <a:tc>
                  <a:txBody>
                    <a:bodyPr/>
                    <a:lstStyle/>
                    <a:p>
                      <a:r>
                        <a:rPr lang="fr-FR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Méthode</a:t>
                      </a:r>
                    </a:p>
                  </a:txBody>
                  <a:tcPr marL="45720" marR="45720" marT="22860" marB="22860"/>
                </a:tc>
                <a:extLst>
                  <a:ext uri="{0D108BD9-81ED-4DB2-BD59-A6C34878D82A}">
                    <a16:rowId xmlns:a16="http://schemas.microsoft.com/office/drawing/2014/main" val="367521796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marR="0" lvl="0" indent="0" algn="ctr" defTabSz="10874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LIMU</a:t>
                      </a:r>
                    </a:p>
                    <a:p>
                      <a:endParaRPr lang="fr-FR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5720" marR="45720" marT="22860" marB="22860"/>
                </a:tc>
                <a:tc>
                  <a:txBody>
                    <a:bodyPr/>
                    <a:lstStyle/>
                    <a:p>
                      <a:r>
                        <a:rPr lang="fr-FR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DYNPRO</a:t>
                      </a:r>
                    </a:p>
                  </a:txBody>
                  <a:tcPr marL="45720" marR="45720" marT="22860" marB="22860"/>
                </a:tc>
                <a:tc>
                  <a:txBody>
                    <a:bodyPr/>
                    <a:lstStyle/>
                    <a:p>
                      <a:r>
                        <a:rPr lang="fr-FR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Dynpro</a:t>
                      </a:r>
                    </a:p>
                  </a:txBody>
                  <a:tcPr marL="45720" marR="45720" marT="22860" marB="22860"/>
                </a:tc>
                <a:extLst>
                  <a:ext uri="{0D108BD9-81ED-4DB2-BD59-A6C34878D82A}">
                    <a16:rowId xmlns:a16="http://schemas.microsoft.com/office/drawing/2014/main" val="40459670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40358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D70251-534A-42E3-AAAE-FD7AB232D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171450" indent="-171450" algn="ctr" defTabSz="4572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defRPr/>
            </a:pPr>
            <a:r>
              <a:rPr lang="fr-FR" sz="3600" b="1" dirty="0">
                <a:solidFill>
                  <a:schemeClr val="accent1"/>
                </a:solidFill>
              </a:rPr>
              <a:t>Les ordres de transport - Manipulations</a:t>
            </a:r>
            <a:endParaRPr lang="fr-FR" altLang="fr-FR" sz="3400" b="1" dirty="0">
              <a:solidFill>
                <a:schemeClr val="accent1"/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2FA0EA2-90B7-4BC5-AAE2-9898D969B4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080" y="2085150"/>
            <a:ext cx="9157288" cy="4429081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684C162B-E9E2-BD45-6F21-3AB981ED7739}"/>
              </a:ext>
            </a:extLst>
          </p:cNvPr>
          <p:cNvSpPr txBox="1"/>
          <p:nvPr/>
        </p:nvSpPr>
        <p:spPr>
          <a:xfrm>
            <a:off x="1033192" y="148157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fr-FR" sz="1800" dirty="0"/>
              <a:t>Libération d’un</a:t>
            </a:r>
            <a:r>
              <a:rPr lang="fr-FR" dirty="0"/>
              <a:t> OT (et sa(ses) tâche(s)</a:t>
            </a:r>
            <a:r>
              <a:rPr lang="fr-FR" sz="18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687871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D70251-534A-42E3-AAAE-FD7AB232D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171450" indent="-171450" algn="ctr" defTabSz="4572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defRPr/>
            </a:pPr>
            <a:r>
              <a:rPr lang="fr-FR" b="1" dirty="0">
                <a:solidFill>
                  <a:schemeClr val="accent1"/>
                </a:solidFill>
              </a:rPr>
              <a:t>Les ordres de transport - Manipulations</a:t>
            </a:r>
            <a:endParaRPr lang="fr-FR" altLang="fr-FR" sz="4000" b="1" dirty="0">
              <a:solidFill>
                <a:schemeClr val="accent1"/>
              </a:solidFill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E30E5CD-03B3-4FAB-BC2E-1F43C7CE07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671" y="2204720"/>
            <a:ext cx="4241217" cy="4353822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45F8DF20-4F84-4579-8A7B-1A66B35F5D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7273" y="3148054"/>
            <a:ext cx="5782110" cy="2743200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AB3F8CF2-A294-6DE5-05D6-17C084CC3671}"/>
              </a:ext>
            </a:extLst>
          </p:cNvPr>
          <p:cNvSpPr txBox="1"/>
          <p:nvPr/>
        </p:nvSpPr>
        <p:spPr>
          <a:xfrm>
            <a:off x="1033192" y="148157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fr-FR" sz="1800" dirty="0"/>
              <a:t>Transport d’un</a:t>
            </a:r>
            <a:r>
              <a:rPr lang="fr-FR" dirty="0"/>
              <a:t> OT (via T-Code STMS</a:t>
            </a:r>
            <a:r>
              <a:rPr lang="fr-FR" sz="18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405993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D70251-534A-42E3-AAAE-FD7AB232D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171450" indent="-171450" algn="ctr" defTabSz="4572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defRPr/>
            </a:pPr>
            <a:r>
              <a:rPr lang="fr-FR" b="1" dirty="0">
                <a:solidFill>
                  <a:schemeClr val="accent1"/>
                </a:solidFill>
              </a:rPr>
              <a:t>Les ordres de transport - Manipulations</a:t>
            </a:r>
            <a:endParaRPr lang="fr-FR" altLang="fr-FR" sz="3600" b="1" dirty="0">
              <a:solidFill>
                <a:schemeClr val="accent1"/>
              </a:solidFill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FD2EEA9-FADE-4988-996A-FC06B2DB52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1295" y="1351721"/>
            <a:ext cx="9531627" cy="4601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7305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DF115-8A51-BDF9-21DD-210A13F9A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1BE723-A473-8228-D250-EAA012B2C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dirty="0">
                <a:solidFill>
                  <a:schemeClr val="accent1"/>
                </a:solidFill>
              </a:rPr>
              <a:t>Exercices</a:t>
            </a:r>
            <a:endParaRPr lang="fr-FR" sz="4000" dirty="0">
              <a:solidFill>
                <a:schemeClr val="accent1"/>
              </a:solidFill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EFCA32F-26FA-F0D2-3F12-1BAC86FDFE17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716437" y="928838"/>
            <a:ext cx="10652289" cy="5199401"/>
          </a:xfrm>
        </p:spPr>
        <p:txBody>
          <a:bodyPr vert="horz" lIns="288000" tIns="288000" rIns="288000" bIns="288000" rtlCol="0" anchor="t">
            <a:normAutofit fontScale="92500"/>
          </a:bodyPr>
          <a:lstStyle/>
          <a:p>
            <a:pPr marL="0" indent="0" algn="just">
              <a:buNone/>
            </a:pPr>
            <a:r>
              <a:rPr lang="fr-FR" sz="2200" dirty="0"/>
              <a:t>1 – Créer un ordre de transport de type Workbench avec comme intitulé:</a:t>
            </a:r>
          </a:p>
          <a:p>
            <a:pPr marL="0" indent="355600" algn="just">
              <a:buNone/>
            </a:pPr>
            <a:r>
              <a:rPr lang="fr-FR" sz="2200" dirty="0"/>
              <a:t>‘W’-&lt;DATE&gt;-&lt;USER&gt;-’EXERCICE_OT’</a:t>
            </a:r>
          </a:p>
          <a:p>
            <a:pPr marL="0" indent="0" algn="just">
              <a:buNone/>
            </a:pPr>
            <a:r>
              <a:rPr lang="fr-FR" dirty="0"/>
              <a:t>2 – </a:t>
            </a:r>
            <a:r>
              <a:rPr lang="fr-FR" sz="2200" dirty="0"/>
              <a:t>Créer un programme permettant d’afficher une liste d’OT en fonction:</a:t>
            </a:r>
          </a:p>
          <a:p>
            <a:pPr marL="985838" indent="-355600" algn="just">
              <a:buFont typeface="Arial" panose="020B0604020202020204" pitchFamily="34" charset="0"/>
              <a:buChar char="•"/>
            </a:pPr>
            <a:r>
              <a:rPr lang="fr-FR" sz="2200" dirty="0"/>
              <a:t>d’un user</a:t>
            </a:r>
          </a:p>
          <a:p>
            <a:pPr marL="985838" indent="-355600" algn="just">
              <a:buFont typeface="Arial" panose="020B0604020202020204" pitchFamily="34" charset="0"/>
              <a:buChar char="•"/>
            </a:pPr>
            <a:r>
              <a:rPr lang="fr-FR" sz="2200" dirty="0"/>
              <a:t>d’un date</a:t>
            </a:r>
          </a:p>
          <a:p>
            <a:pPr marL="630238" indent="-274638" algn="just">
              <a:buNone/>
            </a:pPr>
            <a:r>
              <a:rPr lang="fr-FR" dirty="0"/>
              <a:t>Nom du programme : ZBCRE_&lt;TRIGRAMME&gt;_LISTE_OT</a:t>
            </a:r>
          </a:p>
          <a:p>
            <a:pPr marL="0" indent="0" algn="just">
              <a:buNone/>
            </a:pPr>
            <a:r>
              <a:rPr lang="fr-FR" dirty="0"/>
              <a:t>3 – Stocker les objets liés à ce programme dans l’OT créé en 1</a:t>
            </a:r>
          </a:p>
          <a:p>
            <a:pPr marL="0" indent="0" algn="just">
              <a:buNone/>
            </a:pPr>
            <a:r>
              <a:rPr lang="fr-FR" dirty="0"/>
              <a:t>4 – Libérer l’OT</a:t>
            </a:r>
          </a:p>
          <a:p>
            <a:pPr marL="0" indent="0" algn="just">
              <a:buNone/>
            </a:pPr>
            <a:endParaRPr lang="fr-FR" sz="2200" dirty="0"/>
          </a:p>
        </p:txBody>
      </p:sp>
    </p:spTree>
    <p:extLst>
      <p:ext uri="{BB962C8B-B14F-4D97-AF65-F5344CB8AC3E}">
        <p14:creationId xmlns:p14="http://schemas.microsoft.com/office/powerpoint/2010/main" val="70396133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507</Words>
  <Application>Microsoft Office PowerPoint</Application>
  <PresentationFormat>Grand écran</PresentationFormat>
  <Paragraphs>77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Times New Roman</vt:lpstr>
      <vt:lpstr>Wingdings</vt:lpstr>
      <vt:lpstr>Thème Office</vt:lpstr>
      <vt:lpstr>Présentation PowerPoint</vt:lpstr>
      <vt:lpstr>Objectifs</vt:lpstr>
      <vt:lpstr>Les ordres de transport - Généralités</vt:lpstr>
      <vt:lpstr>Les ordres de transport - Généralités</vt:lpstr>
      <vt:lpstr>Les ordres de transport - Généralités</vt:lpstr>
      <vt:lpstr>Les ordres de transport - Manipulations</vt:lpstr>
      <vt:lpstr>Les ordres de transport - Manipulations</vt:lpstr>
      <vt:lpstr>Les ordres de transport - Manipulations</vt:lpstr>
      <vt:lpstr>Les ordres de transport - Manipulations</vt:lpstr>
      <vt:lpstr>Les ordres de transport - Manipulations</vt:lpstr>
      <vt:lpstr>Les ordres de transport - Manipulations</vt:lpstr>
      <vt:lpstr>Les ordres de transport - Manipulations</vt:lpstr>
      <vt:lpstr>Exercices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Robin ATTIA</dc:creator>
  <cp:lastModifiedBy>Robin ATTIA</cp:lastModifiedBy>
  <cp:revision>6</cp:revision>
  <dcterms:created xsi:type="dcterms:W3CDTF">2024-09-04T20:54:41Z</dcterms:created>
  <dcterms:modified xsi:type="dcterms:W3CDTF">2025-11-24T14:52:55Z</dcterms:modified>
</cp:coreProperties>
</file>