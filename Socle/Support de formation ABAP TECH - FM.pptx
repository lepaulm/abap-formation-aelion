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699" r:id="rId2"/>
    <p:sldId id="4054" r:id="rId3"/>
    <p:sldId id="4072" r:id="rId4"/>
    <p:sldId id="4056" r:id="rId5"/>
    <p:sldId id="4057" r:id="rId6"/>
    <p:sldId id="4055" r:id="rId7"/>
    <p:sldId id="4058" r:id="rId8"/>
    <p:sldId id="4059" r:id="rId9"/>
    <p:sldId id="4060" r:id="rId10"/>
    <p:sldId id="4061" r:id="rId11"/>
    <p:sldId id="4062" r:id="rId12"/>
    <p:sldId id="4063" r:id="rId13"/>
    <p:sldId id="4064" r:id="rId14"/>
    <p:sldId id="4065" r:id="rId15"/>
    <p:sldId id="4066" r:id="rId16"/>
    <p:sldId id="4067" r:id="rId17"/>
    <p:sldId id="4085" r:id="rId18"/>
    <p:sldId id="4088"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C594AA-D464-5EA7-13DA-D5CA91584DB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FAB374A8-C4EB-4104-F13F-985EDEA15C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48EB5A4-3E47-437E-B414-E16D2F9645A1}"/>
              </a:ext>
            </a:extLst>
          </p:cNvPr>
          <p:cNvSpPr>
            <a:spLocks noGrp="1"/>
          </p:cNvSpPr>
          <p:nvPr>
            <p:ph type="dt" sz="half" idx="10"/>
          </p:nvPr>
        </p:nvSpPr>
        <p:spPr/>
        <p:txBody>
          <a:bodyPr/>
          <a:lstStyle/>
          <a:p>
            <a:fld id="{209F4A61-BF6E-46AE-B2AF-38AF17C84D0E}" type="datetimeFigureOut">
              <a:rPr lang="fr-FR" smtClean="0"/>
              <a:t>24/11/2025</a:t>
            </a:fld>
            <a:endParaRPr lang="fr-FR"/>
          </a:p>
        </p:txBody>
      </p:sp>
      <p:sp>
        <p:nvSpPr>
          <p:cNvPr id="5" name="Espace réservé du pied de page 4">
            <a:extLst>
              <a:ext uri="{FF2B5EF4-FFF2-40B4-BE49-F238E27FC236}">
                <a16:creationId xmlns:a16="http://schemas.microsoft.com/office/drawing/2014/main" id="{44B015F3-8C7C-64DF-0604-08146455BD2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A1AF9C8-B5B2-9FB8-108E-492A2CC53171}"/>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4203885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2CDB2E-A61F-D4E0-CE86-25C89AF43FD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367BD47-8124-9D1E-D838-064541FCC7E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60F8A38-291F-FA25-53F8-D7F8F68962F3}"/>
              </a:ext>
            </a:extLst>
          </p:cNvPr>
          <p:cNvSpPr>
            <a:spLocks noGrp="1"/>
          </p:cNvSpPr>
          <p:nvPr>
            <p:ph type="dt" sz="half" idx="10"/>
          </p:nvPr>
        </p:nvSpPr>
        <p:spPr/>
        <p:txBody>
          <a:bodyPr/>
          <a:lstStyle/>
          <a:p>
            <a:fld id="{209F4A61-BF6E-46AE-B2AF-38AF17C84D0E}" type="datetimeFigureOut">
              <a:rPr lang="fr-FR" smtClean="0"/>
              <a:t>24/11/2025</a:t>
            </a:fld>
            <a:endParaRPr lang="fr-FR"/>
          </a:p>
        </p:txBody>
      </p:sp>
      <p:sp>
        <p:nvSpPr>
          <p:cNvPr id="5" name="Espace réservé du pied de page 4">
            <a:extLst>
              <a:ext uri="{FF2B5EF4-FFF2-40B4-BE49-F238E27FC236}">
                <a16:creationId xmlns:a16="http://schemas.microsoft.com/office/drawing/2014/main" id="{2A004A71-7FFF-0107-D3ED-C0AC7073B77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1B6ED69-6CAE-83B3-A8A2-69B06B31CCE3}"/>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1321294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C145F5-5470-E5DF-72CC-4445E3CE76C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773CC80-DB30-0B4A-5FCF-51421A1C74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0D2DF55-A95A-0F8B-B8ED-1D279A707800}"/>
              </a:ext>
            </a:extLst>
          </p:cNvPr>
          <p:cNvSpPr>
            <a:spLocks noGrp="1"/>
          </p:cNvSpPr>
          <p:nvPr>
            <p:ph type="dt" sz="half" idx="10"/>
          </p:nvPr>
        </p:nvSpPr>
        <p:spPr/>
        <p:txBody>
          <a:bodyPr/>
          <a:lstStyle/>
          <a:p>
            <a:fld id="{209F4A61-BF6E-46AE-B2AF-38AF17C84D0E}" type="datetimeFigureOut">
              <a:rPr lang="fr-FR" smtClean="0"/>
              <a:t>24/11/2025</a:t>
            </a:fld>
            <a:endParaRPr lang="fr-FR"/>
          </a:p>
        </p:txBody>
      </p:sp>
      <p:sp>
        <p:nvSpPr>
          <p:cNvPr id="5" name="Espace réservé du pied de page 4">
            <a:extLst>
              <a:ext uri="{FF2B5EF4-FFF2-40B4-BE49-F238E27FC236}">
                <a16:creationId xmlns:a16="http://schemas.microsoft.com/office/drawing/2014/main" id="{00D53966-4B8A-602B-A74E-DD1B9B47F6D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C7B4A90-3AA3-9606-E473-EF989FD96826}"/>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1903636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6F1C37-71A1-A135-ABA5-E9B7FD448ED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6E3F455-E728-B7CE-8469-EA20D7420E68}"/>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97F5C59-8D9E-9391-3BA7-062F6C6A766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038A0677-310F-16B8-664E-D863E9931F8B}"/>
              </a:ext>
            </a:extLst>
          </p:cNvPr>
          <p:cNvSpPr>
            <a:spLocks noGrp="1"/>
          </p:cNvSpPr>
          <p:nvPr>
            <p:ph type="dt" sz="half" idx="10"/>
          </p:nvPr>
        </p:nvSpPr>
        <p:spPr/>
        <p:txBody>
          <a:bodyPr/>
          <a:lstStyle/>
          <a:p>
            <a:fld id="{209F4A61-BF6E-46AE-B2AF-38AF17C84D0E}" type="datetimeFigureOut">
              <a:rPr lang="fr-FR" smtClean="0"/>
              <a:t>24/11/2025</a:t>
            </a:fld>
            <a:endParaRPr lang="fr-FR"/>
          </a:p>
        </p:txBody>
      </p:sp>
      <p:sp>
        <p:nvSpPr>
          <p:cNvPr id="6" name="Espace réservé du pied de page 5">
            <a:extLst>
              <a:ext uri="{FF2B5EF4-FFF2-40B4-BE49-F238E27FC236}">
                <a16:creationId xmlns:a16="http://schemas.microsoft.com/office/drawing/2014/main" id="{633AE530-B7EC-2B7B-FB0B-35AB3C68540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A88BD1B-DF51-8439-8043-58F84AE90E13}"/>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4034228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028D75-1AB9-8BEE-D773-9BA3777A57CB}"/>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BC1A0F88-C077-1726-DE9B-DE13A13A07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34FF0169-5BBD-855A-6382-0D4D108F9A98}"/>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1402724A-3052-CBBF-6138-BB04474C8A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30F02EF6-638F-DDEE-AB0B-24BB5898554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39E54BCA-9A08-2D03-BE49-9E4088CA1907}"/>
              </a:ext>
            </a:extLst>
          </p:cNvPr>
          <p:cNvSpPr>
            <a:spLocks noGrp="1"/>
          </p:cNvSpPr>
          <p:nvPr>
            <p:ph type="dt" sz="half" idx="10"/>
          </p:nvPr>
        </p:nvSpPr>
        <p:spPr/>
        <p:txBody>
          <a:bodyPr/>
          <a:lstStyle/>
          <a:p>
            <a:fld id="{209F4A61-BF6E-46AE-B2AF-38AF17C84D0E}" type="datetimeFigureOut">
              <a:rPr lang="fr-FR" smtClean="0"/>
              <a:t>24/11/2025</a:t>
            </a:fld>
            <a:endParaRPr lang="fr-FR"/>
          </a:p>
        </p:txBody>
      </p:sp>
      <p:sp>
        <p:nvSpPr>
          <p:cNvPr id="8" name="Espace réservé du pied de page 7">
            <a:extLst>
              <a:ext uri="{FF2B5EF4-FFF2-40B4-BE49-F238E27FC236}">
                <a16:creationId xmlns:a16="http://schemas.microsoft.com/office/drawing/2014/main" id="{6788D664-424C-15EA-B818-A099CE71B056}"/>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D21FC57-4F93-6BD3-0C7B-0FF8474EC6DC}"/>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400221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DB5AFC-5481-7461-F2AB-742AC13C3E93}"/>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DB0165E-5536-DA31-DBC4-B5516D3E0450}"/>
              </a:ext>
            </a:extLst>
          </p:cNvPr>
          <p:cNvSpPr>
            <a:spLocks noGrp="1"/>
          </p:cNvSpPr>
          <p:nvPr>
            <p:ph type="dt" sz="half" idx="10"/>
          </p:nvPr>
        </p:nvSpPr>
        <p:spPr/>
        <p:txBody>
          <a:bodyPr/>
          <a:lstStyle/>
          <a:p>
            <a:fld id="{209F4A61-BF6E-46AE-B2AF-38AF17C84D0E}" type="datetimeFigureOut">
              <a:rPr lang="fr-FR" smtClean="0"/>
              <a:t>24/11/2025</a:t>
            </a:fld>
            <a:endParaRPr lang="fr-FR"/>
          </a:p>
        </p:txBody>
      </p:sp>
      <p:sp>
        <p:nvSpPr>
          <p:cNvPr id="4" name="Espace réservé du pied de page 3">
            <a:extLst>
              <a:ext uri="{FF2B5EF4-FFF2-40B4-BE49-F238E27FC236}">
                <a16:creationId xmlns:a16="http://schemas.microsoft.com/office/drawing/2014/main" id="{48ECE97E-4598-34E6-E24E-B307E8384B3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DA9A8AD-673E-C987-FEE6-DF1D2A83FBD2}"/>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906919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74639FA-93D3-0A5A-B711-1DA70B417DA1}"/>
              </a:ext>
            </a:extLst>
          </p:cNvPr>
          <p:cNvSpPr>
            <a:spLocks noGrp="1"/>
          </p:cNvSpPr>
          <p:nvPr>
            <p:ph type="dt" sz="half" idx="10"/>
          </p:nvPr>
        </p:nvSpPr>
        <p:spPr/>
        <p:txBody>
          <a:bodyPr/>
          <a:lstStyle/>
          <a:p>
            <a:fld id="{209F4A61-BF6E-46AE-B2AF-38AF17C84D0E}" type="datetimeFigureOut">
              <a:rPr lang="fr-FR" smtClean="0"/>
              <a:t>24/11/2025</a:t>
            </a:fld>
            <a:endParaRPr lang="fr-FR"/>
          </a:p>
        </p:txBody>
      </p:sp>
      <p:sp>
        <p:nvSpPr>
          <p:cNvPr id="3" name="Espace réservé du pied de page 2">
            <a:extLst>
              <a:ext uri="{FF2B5EF4-FFF2-40B4-BE49-F238E27FC236}">
                <a16:creationId xmlns:a16="http://schemas.microsoft.com/office/drawing/2014/main" id="{017A62F3-6A21-A061-1BA7-96BBC39FB599}"/>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BC7E5985-312F-DFEE-B82A-C812A4C68686}"/>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4168381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54AC07-B5A7-BC6E-2480-B00CAE924DF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2EED937-D653-9347-FB6D-DFE874C325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61BF440B-C7EE-8DCB-40F1-A53F2D285F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C535AF2-40C9-0169-C812-12CBAC3FA76F}"/>
              </a:ext>
            </a:extLst>
          </p:cNvPr>
          <p:cNvSpPr>
            <a:spLocks noGrp="1"/>
          </p:cNvSpPr>
          <p:nvPr>
            <p:ph type="dt" sz="half" idx="10"/>
          </p:nvPr>
        </p:nvSpPr>
        <p:spPr/>
        <p:txBody>
          <a:bodyPr/>
          <a:lstStyle/>
          <a:p>
            <a:fld id="{209F4A61-BF6E-46AE-B2AF-38AF17C84D0E}" type="datetimeFigureOut">
              <a:rPr lang="fr-FR" smtClean="0"/>
              <a:t>24/11/2025</a:t>
            </a:fld>
            <a:endParaRPr lang="fr-FR"/>
          </a:p>
        </p:txBody>
      </p:sp>
      <p:sp>
        <p:nvSpPr>
          <p:cNvPr id="6" name="Espace réservé du pied de page 5">
            <a:extLst>
              <a:ext uri="{FF2B5EF4-FFF2-40B4-BE49-F238E27FC236}">
                <a16:creationId xmlns:a16="http://schemas.microsoft.com/office/drawing/2014/main" id="{4CDD0FAF-FA10-681B-F576-5762AF619DE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34ACE34-47B2-0FD0-9816-927AFF97BD48}"/>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1004636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808656-E288-1AFA-A200-47909BBD332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DB59D1AD-E976-B848-ACDC-AF3749D007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20EDD4FA-A4A5-FDB2-B86D-3C7DC7A229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7BBE9FD-5DCC-0735-75FA-ABE7B89516F1}"/>
              </a:ext>
            </a:extLst>
          </p:cNvPr>
          <p:cNvSpPr>
            <a:spLocks noGrp="1"/>
          </p:cNvSpPr>
          <p:nvPr>
            <p:ph type="dt" sz="half" idx="10"/>
          </p:nvPr>
        </p:nvSpPr>
        <p:spPr/>
        <p:txBody>
          <a:bodyPr/>
          <a:lstStyle/>
          <a:p>
            <a:fld id="{209F4A61-BF6E-46AE-B2AF-38AF17C84D0E}" type="datetimeFigureOut">
              <a:rPr lang="fr-FR" smtClean="0"/>
              <a:t>24/11/2025</a:t>
            </a:fld>
            <a:endParaRPr lang="fr-FR"/>
          </a:p>
        </p:txBody>
      </p:sp>
      <p:sp>
        <p:nvSpPr>
          <p:cNvPr id="6" name="Espace réservé du pied de page 5">
            <a:extLst>
              <a:ext uri="{FF2B5EF4-FFF2-40B4-BE49-F238E27FC236}">
                <a16:creationId xmlns:a16="http://schemas.microsoft.com/office/drawing/2014/main" id="{5C7AF0CD-569F-FF96-876A-493489931C0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35999C0-8110-E1AC-1360-31954F412267}"/>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2025385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CDA8F4-69B2-1642-8AB4-4DE7A48E5FB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69FB54C-9E1B-B943-FB15-9BE72EC967A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43A0568-E6D3-BA07-D52B-6F10BAF83005}"/>
              </a:ext>
            </a:extLst>
          </p:cNvPr>
          <p:cNvSpPr>
            <a:spLocks noGrp="1"/>
          </p:cNvSpPr>
          <p:nvPr>
            <p:ph type="dt" sz="half" idx="10"/>
          </p:nvPr>
        </p:nvSpPr>
        <p:spPr/>
        <p:txBody>
          <a:bodyPr/>
          <a:lstStyle/>
          <a:p>
            <a:fld id="{209F4A61-BF6E-46AE-B2AF-38AF17C84D0E}" type="datetimeFigureOut">
              <a:rPr lang="fr-FR" smtClean="0"/>
              <a:t>24/11/2025</a:t>
            </a:fld>
            <a:endParaRPr lang="fr-FR"/>
          </a:p>
        </p:txBody>
      </p:sp>
      <p:sp>
        <p:nvSpPr>
          <p:cNvPr id="5" name="Espace réservé du pied de page 4">
            <a:extLst>
              <a:ext uri="{FF2B5EF4-FFF2-40B4-BE49-F238E27FC236}">
                <a16:creationId xmlns:a16="http://schemas.microsoft.com/office/drawing/2014/main" id="{2DFEBD9D-4B52-E691-CE69-252B234F85E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4E43D30-044F-B752-9477-1BC5AC0E9172}"/>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563599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88F822B-52F4-4CDA-0202-C97B3ECAE06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48A08D1-699C-08D1-879D-1B55B9038A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422F7B8-1EA9-4CCD-8F83-13A3897ACA59}"/>
              </a:ext>
            </a:extLst>
          </p:cNvPr>
          <p:cNvSpPr>
            <a:spLocks noGrp="1"/>
          </p:cNvSpPr>
          <p:nvPr>
            <p:ph type="dt" sz="half" idx="10"/>
          </p:nvPr>
        </p:nvSpPr>
        <p:spPr/>
        <p:txBody>
          <a:bodyPr/>
          <a:lstStyle/>
          <a:p>
            <a:fld id="{209F4A61-BF6E-46AE-B2AF-38AF17C84D0E}" type="datetimeFigureOut">
              <a:rPr lang="fr-FR" smtClean="0"/>
              <a:t>24/11/2025</a:t>
            </a:fld>
            <a:endParaRPr lang="fr-FR"/>
          </a:p>
        </p:txBody>
      </p:sp>
      <p:sp>
        <p:nvSpPr>
          <p:cNvPr id="5" name="Espace réservé du pied de page 4">
            <a:extLst>
              <a:ext uri="{FF2B5EF4-FFF2-40B4-BE49-F238E27FC236}">
                <a16:creationId xmlns:a16="http://schemas.microsoft.com/office/drawing/2014/main" id="{5DEEB8AA-E1DB-9F43-A933-F9F058D9C2A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9EA63D7-26B1-F9C5-1021-210C64CF9AA6}"/>
              </a:ext>
            </a:extLst>
          </p:cNvPr>
          <p:cNvSpPr>
            <a:spLocks noGrp="1"/>
          </p:cNvSpPr>
          <p:nvPr>
            <p:ph type="sldNum" sz="quarter" idx="12"/>
          </p:nvPr>
        </p:nvSpPr>
        <p:spPr/>
        <p:txBody>
          <a:bodyPr/>
          <a:lstStyle/>
          <a:p>
            <a:fld id="{CFBCEB07-1D37-4280-9B32-ED99D0576C27}" type="slidenum">
              <a:rPr lang="fr-FR" smtClean="0"/>
              <a:t>‹N°›</a:t>
            </a:fld>
            <a:endParaRPr lang="fr-FR"/>
          </a:p>
        </p:txBody>
      </p:sp>
    </p:spTree>
    <p:extLst>
      <p:ext uri="{BB962C8B-B14F-4D97-AF65-F5344CB8AC3E}">
        <p14:creationId xmlns:p14="http://schemas.microsoft.com/office/powerpoint/2010/main" val="1175877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TMS">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A57E0DA5-1A84-457E-8089-6F317ED0D4C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4" y="807"/>
            <a:ext cx="12188952" cy="5708904"/>
          </a:xfrm>
          <a:prstGeom prst="rect">
            <a:avLst/>
          </a:prstGeom>
        </p:spPr>
      </p:pic>
      <p:sp>
        <p:nvSpPr>
          <p:cNvPr id="12" name="Rectangle">
            <a:extLst>
              <a:ext uri="{FF2B5EF4-FFF2-40B4-BE49-F238E27FC236}">
                <a16:creationId xmlns:a16="http://schemas.microsoft.com/office/drawing/2014/main" id="{1D71088A-448F-426E-9A9F-5E69C1121E35}"/>
              </a:ext>
            </a:extLst>
          </p:cNvPr>
          <p:cNvSpPr/>
          <p:nvPr userDrawn="1"/>
        </p:nvSpPr>
        <p:spPr>
          <a:xfrm rot="106">
            <a:off x="1555" y="3802987"/>
            <a:ext cx="12188891" cy="1909933"/>
          </a:xfrm>
          <a:prstGeom prst="rect">
            <a:avLst/>
          </a:prstGeom>
          <a:solidFill>
            <a:srgbClr val="1568AB"/>
          </a:solidFill>
          <a:ln w="25400">
            <a:solidFill>
              <a:schemeClr val="accent1">
                <a:alpha val="0"/>
              </a:schemeClr>
            </a:solidFill>
            <a:bevel/>
          </a:ln>
        </p:spPr>
        <p:txBody>
          <a:bodyPr lIns="22860" rIns="22860" anchor="ctr"/>
          <a:lstStyle/>
          <a:p>
            <a:endParaRPr sz="900"/>
          </a:p>
        </p:txBody>
      </p:sp>
      <p:sp>
        <p:nvSpPr>
          <p:cNvPr id="14" name="Technical and financial Bid">
            <a:extLst>
              <a:ext uri="{FF2B5EF4-FFF2-40B4-BE49-F238E27FC236}">
                <a16:creationId xmlns:a16="http://schemas.microsoft.com/office/drawing/2014/main" id="{A912186B-0399-4C1C-8355-0F5E95DDC75C}"/>
              </a:ext>
            </a:extLst>
          </p:cNvPr>
          <p:cNvSpPr txBox="1">
            <a:spLocks noGrp="1"/>
          </p:cNvSpPr>
          <p:nvPr>
            <p:ph type="subTitle" sz="quarter" idx="1" hasCustomPrompt="1"/>
          </p:nvPr>
        </p:nvSpPr>
        <p:spPr>
          <a:xfrm>
            <a:off x="494769" y="4910806"/>
            <a:ext cx="8535512" cy="558433"/>
          </a:xfrm>
          <a:prstGeom prst="rect">
            <a:avLst/>
          </a:prstGeom>
        </p:spPr>
        <p:txBody>
          <a:bodyPr/>
          <a:lstStyle>
            <a:lvl1pPr algn="l">
              <a:spcBef>
                <a:spcPts val="450"/>
              </a:spcBef>
              <a:defRPr sz="2500">
                <a:solidFill>
                  <a:srgbClr val="FFFFFE"/>
                </a:solidFill>
                <a:latin typeface="Calibri" panose="020F0502020204030204" pitchFamily="34" charset="0"/>
                <a:cs typeface="Calibri" panose="020F0502020204030204" pitchFamily="34" charset="0"/>
              </a:defRPr>
            </a:lvl1pPr>
          </a:lstStyle>
          <a:p>
            <a:r>
              <a:rPr lang="fr-FR" dirty="0"/>
              <a:t>Sous-titre 1</a:t>
            </a:r>
            <a:endParaRPr dirty="0"/>
          </a:p>
        </p:txBody>
      </p:sp>
      <p:sp>
        <p:nvSpPr>
          <p:cNvPr id="15" name="Rectangle">
            <a:extLst>
              <a:ext uri="{FF2B5EF4-FFF2-40B4-BE49-F238E27FC236}">
                <a16:creationId xmlns:a16="http://schemas.microsoft.com/office/drawing/2014/main" id="{7ECDADA6-69BD-4872-9B8C-9B28C12C6D0D}"/>
              </a:ext>
            </a:extLst>
          </p:cNvPr>
          <p:cNvSpPr/>
          <p:nvPr userDrawn="1"/>
        </p:nvSpPr>
        <p:spPr>
          <a:xfrm>
            <a:off x="569435" y="4799848"/>
            <a:ext cx="776823" cy="64008"/>
          </a:xfrm>
          <a:prstGeom prst="rect">
            <a:avLst/>
          </a:prstGeom>
          <a:solidFill>
            <a:srgbClr val="FFB000"/>
          </a:solidFill>
          <a:ln w="12700">
            <a:miter lim="400000"/>
          </a:ln>
        </p:spPr>
        <p:txBody>
          <a:bodyPr lIns="22860" rIns="22860" anchor="ctr"/>
          <a:lstStyle/>
          <a:p>
            <a:pPr algn="ctr">
              <a:defRPr>
                <a:solidFill>
                  <a:schemeClr val="accent2"/>
                </a:solidFill>
                <a:latin typeface="Exo 2 Light"/>
                <a:ea typeface="Exo 2 Light"/>
                <a:cs typeface="Exo 2 Light"/>
                <a:sym typeface="Exo 2 Light"/>
              </a:defRPr>
            </a:pPr>
            <a:endParaRPr sz="900"/>
          </a:p>
        </p:txBody>
      </p:sp>
      <p:pic>
        <p:nvPicPr>
          <p:cNvPr id="16" name="STMS2-BLEU CLAIR.png" descr="STMS2-BLEU CLAIR.png">
            <a:extLst>
              <a:ext uri="{FF2B5EF4-FFF2-40B4-BE49-F238E27FC236}">
                <a16:creationId xmlns:a16="http://schemas.microsoft.com/office/drawing/2014/main" id="{011090BE-9F59-4182-BB62-E5AC4A643AF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263601" y="296250"/>
            <a:ext cx="2917719" cy="446328"/>
          </a:xfrm>
          <a:prstGeom prst="rect">
            <a:avLst/>
          </a:prstGeom>
          <a:ln w="12700">
            <a:miter lim="400000"/>
          </a:ln>
        </p:spPr>
      </p:pic>
      <p:grpSp>
        <p:nvGrpSpPr>
          <p:cNvPr id="22" name="Groupe"/>
          <p:cNvGrpSpPr/>
          <p:nvPr userDrawn="1"/>
        </p:nvGrpSpPr>
        <p:grpSpPr>
          <a:xfrm>
            <a:off x="1" y="6761748"/>
            <a:ext cx="12192000" cy="96253"/>
            <a:chOff x="0" y="0"/>
            <a:chExt cx="24538662" cy="181429"/>
          </a:xfrm>
        </p:grpSpPr>
        <p:sp>
          <p:nvSpPr>
            <p:cNvPr id="17" name="Rectangle"/>
            <p:cNvSpPr/>
            <p:nvPr/>
          </p:nvSpPr>
          <p:spPr>
            <a:xfrm>
              <a:off x="0" y="0"/>
              <a:ext cx="4907733" cy="181430"/>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sp>
          <p:nvSpPr>
            <p:cNvPr id="18" name="Rectangle"/>
            <p:cNvSpPr/>
            <p:nvPr/>
          </p:nvSpPr>
          <p:spPr>
            <a:xfrm>
              <a:off x="4907732" y="0"/>
              <a:ext cx="4907734" cy="181430"/>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sp>
          <p:nvSpPr>
            <p:cNvPr id="19" name="Rectangle"/>
            <p:cNvSpPr/>
            <p:nvPr/>
          </p:nvSpPr>
          <p:spPr>
            <a:xfrm>
              <a:off x="9815465" y="0"/>
              <a:ext cx="4907733" cy="181430"/>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sp>
          <p:nvSpPr>
            <p:cNvPr id="20" name="Rectangle"/>
            <p:cNvSpPr/>
            <p:nvPr/>
          </p:nvSpPr>
          <p:spPr>
            <a:xfrm>
              <a:off x="14723197" y="0"/>
              <a:ext cx="4907733" cy="181430"/>
            </a:xfrm>
            <a:prstGeom prst="rect">
              <a:avLst/>
            </a:prstGeom>
            <a:solidFill>
              <a:srgbClr val="FFB000"/>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sp>
          <p:nvSpPr>
            <p:cNvPr id="21" name="Rectangle"/>
            <p:cNvSpPr/>
            <p:nvPr/>
          </p:nvSpPr>
          <p:spPr>
            <a:xfrm>
              <a:off x="19630930" y="0"/>
              <a:ext cx="4907733" cy="181430"/>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grpSp>
      <p:sp>
        <p:nvSpPr>
          <p:cNvPr id="5" name="Espace réservé du texte 4">
            <a:extLst>
              <a:ext uri="{FF2B5EF4-FFF2-40B4-BE49-F238E27FC236}">
                <a16:creationId xmlns:a16="http://schemas.microsoft.com/office/drawing/2014/main" id="{BF2B9A1C-80FB-4CDF-BFE4-FA95AD254BBF}"/>
              </a:ext>
            </a:extLst>
          </p:cNvPr>
          <p:cNvSpPr>
            <a:spLocks noGrp="1"/>
          </p:cNvSpPr>
          <p:nvPr>
            <p:ph type="body" sz="quarter" idx="10" hasCustomPrompt="1"/>
          </p:nvPr>
        </p:nvSpPr>
        <p:spPr>
          <a:xfrm>
            <a:off x="494294" y="3946309"/>
            <a:ext cx="8535988" cy="777875"/>
          </a:xfrm>
          <a:prstGeom prst="rect">
            <a:avLst/>
          </a:prstGeom>
        </p:spPr>
        <p:txBody>
          <a:bodyPr tIns="46800" anchor="ctr" anchorCtr="0"/>
          <a:lstStyle>
            <a:lvl1pPr algn="l">
              <a:lnSpc>
                <a:spcPct val="100000"/>
              </a:lnSpc>
              <a:spcBef>
                <a:spcPts val="0"/>
              </a:spcBef>
              <a:defRPr sz="4225" b="1">
                <a:solidFill>
                  <a:schemeClr val="bg1"/>
                </a:solidFill>
                <a:latin typeface="Calibri" panose="020F0502020204030204" pitchFamily="34" charset="0"/>
                <a:cs typeface="Calibri" panose="020F0502020204030204" pitchFamily="34" charset="0"/>
              </a:defRPr>
            </a:lvl1pPr>
            <a:lvl2pPr>
              <a:defRPr sz="4225">
                <a:latin typeface="Calibri" panose="020F0502020204030204" pitchFamily="34" charset="0"/>
                <a:cs typeface="Calibri" panose="020F0502020204030204" pitchFamily="34" charset="0"/>
              </a:defRPr>
            </a:lvl2pPr>
            <a:lvl3pPr>
              <a:defRPr sz="4225">
                <a:latin typeface="Calibri" panose="020F0502020204030204" pitchFamily="34" charset="0"/>
                <a:cs typeface="Calibri" panose="020F0502020204030204" pitchFamily="34" charset="0"/>
              </a:defRPr>
            </a:lvl3pPr>
            <a:lvl4pPr>
              <a:defRPr sz="4225">
                <a:latin typeface="Calibri" panose="020F0502020204030204" pitchFamily="34" charset="0"/>
                <a:cs typeface="Calibri" panose="020F0502020204030204" pitchFamily="34" charset="0"/>
              </a:defRPr>
            </a:lvl4pPr>
            <a:lvl5pPr>
              <a:defRPr sz="4225">
                <a:latin typeface="Calibri" panose="020F0502020204030204" pitchFamily="34" charset="0"/>
                <a:cs typeface="Calibri" panose="020F0502020204030204" pitchFamily="34" charset="0"/>
              </a:defRPr>
            </a:lvl5pPr>
          </a:lstStyle>
          <a:p>
            <a:pPr lvl="0"/>
            <a:r>
              <a:rPr lang="fr-FR" dirty="0"/>
              <a:t>Titre 1</a:t>
            </a:r>
          </a:p>
        </p:txBody>
      </p:sp>
    </p:spTree>
    <p:extLst>
      <p:ext uri="{BB962C8B-B14F-4D97-AF65-F5344CB8AC3E}">
        <p14:creationId xmlns:p14="http://schemas.microsoft.com/office/powerpoint/2010/main" val="2476956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Contenu">
    <p:spTree>
      <p:nvGrpSpPr>
        <p:cNvPr id="1" name=""/>
        <p:cNvGrpSpPr/>
        <p:nvPr/>
      </p:nvGrpSpPr>
      <p:grpSpPr>
        <a:xfrm>
          <a:off x="0" y="0"/>
          <a:ext cx="0" cy="0"/>
          <a:chOff x="0" y="0"/>
          <a:chExt cx="0" cy="0"/>
        </a:xfrm>
      </p:grpSpPr>
      <p:sp>
        <p:nvSpPr>
          <p:cNvPr id="23" name="Texte du titre"/>
          <p:cNvSpPr txBox="1">
            <a:spLocks noGrp="1"/>
          </p:cNvSpPr>
          <p:nvPr>
            <p:ph type="title" hasCustomPrompt="1"/>
          </p:nvPr>
        </p:nvSpPr>
        <p:spPr>
          <a:xfrm>
            <a:off x="0" y="0"/>
            <a:ext cx="12192000" cy="928838"/>
          </a:xfrm>
          <a:prstGeom prst="rect">
            <a:avLst/>
          </a:prstGeom>
        </p:spPr>
        <p:txBody>
          <a:bodyPr anchor="ctr" anchorCtr="0"/>
          <a:lstStyle>
            <a:lvl1pPr>
              <a:defRPr>
                <a:latin typeface="Calibri" panose="020F0502020204030204" pitchFamily="34" charset="0"/>
                <a:cs typeface="Calibri" panose="020F0502020204030204" pitchFamily="34" charset="0"/>
              </a:defRPr>
            </a:lvl1pPr>
          </a:lstStyle>
          <a:p>
            <a:r>
              <a:rPr dirty="0" err="1"/>
              <a:t>Texte</a:t>
            </a:r>
            <a:r>
              <a:rPr dirty="0"/>
              <a:t> du </a:t>
            </a:r>
            <a:r>
              <a:rPr dirty="0" err="1"/>
              <a:t>titre</a:t>
            </a:r>
            <a:endParaRPr dirty="0"/>
          </a:p>
        </p:txBody>
      </p:sp>
      <p:grpSp>
        <p:nvGrpSpPr>
          <p:cNvPr id="11" name="Groupe">
            <a:extLst>
              <a:ext uri="{FF2B5EF4-FFF2-40B4-BE49-F238E27FC236}">
                <a16:creationId xmlns:a16="http://schemas.microsoft.com/office/drawing/2014/main" id="{D360B735-9C28-414B-83EF-B6F6B855D062}"/>
              </a:ext>
            </a:extLst>
          </p:cNvPr>
          <p:cNvGrpSpPr/>
          <p:nvPr userDrawn="1"/>
        </p:nvGrpSpPr>
        <p:grpSpPr>
          <a:xfrm>
            <a:off x="1" y="6761748"/>
            <a:ext cx="12192000" cy="96253"/>
            <a:chOff x="0" y="0"/>
            <a:chExt cx="24538662" cy="181429"/>
          </a:xfrm>
        </p:grpSpPr>
        <p:sp>
          <p:nvSpPr>
            <p:cNvPr id="12" name="Rectangle">
              <a:extLst>
                <a:ext uri="{FF2B5EF4-FFF2-40B4-BE49-F238E27FC236}">
                  <a16:creationId xmlns:a16="http://schemas.microsoft.com/office/drawing/2014/main" id="{7862649B-0C9A-4620-8E94-1D447F8AC7F1}"/>
                </a:ext>
              </a:extLst>
            </p:cNvPr>
            <p:cNvSpPr/>
            <p:nvPr/>
          </p:nvSpPr>
          <p:spPr>
            <a:xfrm>
              <a:off x="0" y="0"/>
              <a:ext cx="4907733" cy="181430"/>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sp>
          <p:nvSpPr>
            <p:cNvPr id="13" name="Rectangle">
              <a:extLst>
                <a:ext uri="{FF2B5EF4-FFF2-40B4-BE49-F238E27FC236}">
                  <a16:creationId xmlns:a16="http://schemas.microsoft.com/office/drawing/2014/main" id="{E0AB1A34-DECA-4767-95B7-BCA671F899C0}"/>
                </a:ext>
              </a:extLst>
            </p:cNvPr>
            <p:cNvSpPr/>
            <p:nvPr/>
          </p:nvSpPr>
          <p:spPr>
            <a:xfrm>
              <a:off x="4907732" y="0"/>
              <a:ext cx="4907734" cy="181430"/>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sp>
          <p:nvSpPr>
            <p:cNvPr id="14" name="Rectangle">
              <a:extLst>
                <a:ext uri="{FF2B5EF4-FFF2-40B4-BE49-F238E27FC236}">
                  <a16:creationId xmlns:a16="http://schemas.microsoft.com/office/drawing/2014/main" id="{DBFB4FB3-DC5A-4761-94B1-C447B526113C}"/>
                </a:ext>
              </a:extLst>
            </p:cNvPr>
            <p:cNvSpPr/>
            <p:nvPr/>
          </p:nvSpPr>
          <p:spPr>
            <a:xfrm>
              <a:off x="9815465" y="0"/>
              <a:ext cx="4907733" cy="181430"/>
            </a:xfrm>
            <a:prstGeom prst="rect">
              <a:avLst/>
            </a:prstGeom>
            <a:solidFill>
              <a:schemeClr val="accent3"/>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sp>
          <p:nvSpPr>
            <p:cNvPr id="15" name="Rectangle">
              <a:extLst>
                <a:ext uri="{FF2B5EF4-FFF2-40B4-BE49-F238E27FC236}">
                  <a16:creationId xmlns:a16="http://schemas.microsoft.com/office/drawing/2014/main" id="{F9DBE7B5-8F35-4A3D-A42B-7ACE57287F13}"/>
                </a:ext>
              </a:extLst>
            </p:cNvPr>
            <p:cNvSpPr/>
            <p:nvPr/>
          </p:nvSpPr>
          <p:spPr>
            <a:xfrm>
              <a:off x="14723197" y="0"/>
              <a:ext cx="4907733" cy="181430"/>
            </a:xfrm>
            <a:prstGeom prst="rect">
              <a:avLst/>
            </a:prstGeom>
            <a:solidFill>
              <a:srgbClr val="FFB000"/>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sp>
          <p:nvSpPr>
            <p:cNvPr id="16" name="Rectangle">
              <a:extLst>
                <a:ext uri="{FF2B5EF4-FFF2-40B4-BE49-F238E27FC236}">
                  <a16:creationId xmlns:a16="http://schemas.microsoft.com/office/drawing/2014/main" id="{3B64FDDD-8CBC-40D4-A037-AC56BDCE095C}"/>
                </a:ext>
              </a:extLst>
            </p:cNvPr>
            <p:cNvSpPr/>
            <p:nvPr/>
          </p:nvSpPr>
          <p:spPr>
            <a:xfrm>
              <a:off x="19630930" y="0"/>
              <a:ext cx="4907733" cy="181430"/>
            </a:xfrm>
            <a:prstGeom prst="rect">
              <a:avLst/>
            </a:prstGeom>
            <a:solidFill>
              <a:schemeClr val="accent5"/>
            </a:solidFill>
            <a:ln w="12700" cap="flat">
              <a:noFill/>
              <a:miter lim="400000"/>
            </a:ln>
            <a:effectLst/>
          </p:spPr>
          <p:txBody>
            <a:bodyPr wrap="square" lIns="45719" tIns="45719" rIns="45719" bIns="45719" numCol="1" anchor="ctr">
              <a:noAutofit/>
            </a:bodyPr>
            <a:lstStyle/>
            <a:p>
              <a:pPr algn="ctr">
                <a:defRPr>
                  <a:solidFill>
                    <a:srgbClr val="FFFFFF"/>
                  </a:solidFill>
                  <a:latin typeface="Exo 2 Light"/>
                  <a:ea typeface="Exo 2 Light"/>
                  <a:cs typeface="Exo 2 Light"/>
                  <a:sym typeface="Exo 2 Light"/>
                </a:defRPr>
              </a:pPr>
              <a:endParaRPr sz="900"/>
            </a:p>
          </p:txBody>
        </p:sp>
      </p:grpSp>
      <p:pic>
        <p:nvPicPr>
          <p:cNvPr id="26" name="STMS2-BLEU CLAIR.png" descr="STMS2-BLEU CLAIR.png">
            <a:extLst>
              <a:ext uri="{FF2B5EF4-FFF2-40B4-BE49-F238E27FC236}">
                <a16:creationId xmlns:a16="http://schemas.microsoft.com/office/drawing/2014/main" id="{3C45B415-D4A4-4F66-9638-AB5AA32F26B1}"/>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a:xfrm>
            <a:off x="11447580" y="6123309"/>
            <a:ext cx="542988" cy="446328"/>
          </a:xfrm>
          <a:prstGeom prst="rect">
            <a:avLst/>
          </a:prstGeom>
          <a:ln w="12700">
            <a:miter lim="400000"/>
          </a:ln>
        </p:spPr>
      </p:pic>
      <p:sp>
        <p:nvSpPr>
          <p:cNvPr id="27" name="Rectangle">
            <a:extLst>
              <a:ext uri="{FF2B5EF4-FFF2-40B4-BE49-F238E27FC236}">
                <a16:creationId xmlns:a16="http://schemas.microsoft.com/office/drawing/2014/main" id="{022756EF-C004-4457-8DC2-7AA9DC3549D1}"/>
              </a:ext>
            </a:extLst>
          </p:cNvPr>
          <p:cNvSpPr/>
          <p:nvPr userDrawn="1"/>
        </p:nvSpPr>
        <p:spPr>
          <a:xfrm>
            <a:off x="5707588" y="896834"/>
            <a:ext cx="776823" cy="64008"/>
          </a:xfrm>
          <a:prstGeom prst="rect">
            <a:avLst/>
          </a:prstGeom>
          <a:solidFill>
            <a:srgbClr val="FFB000"/>
          </a:solidFill>
          <a:ln w="12700">
            <a:miter lim="400000"/>
          </a:ln>
        </p:spPr>
        <p:txBody>
          <a:bodyPr lIns="22860" rIns="22860" anchor="ctr"/>
          <a:lstStyle/>
          <a:p>
            <a:pPr algn="ctr">
              <a:defRPr>
                <a:solidFill>
                  <a:schemeClr val="accent2"/>
                </a:solidFill>
                <a:latin typeface="Exo 2 Light"/>
                <a:ea typeface="Exo 2 Light"/>
                <a:cs typeface="Exo 2 Light"/>
                <a:sym typeface="Exo 2 Light"/>
              </a:defRPr>
            </a:pPr>
            <a:endParaRPr sz="900"/>
          </a:p>
        </p:txBody>
      </p:sp>
      <p:sp>
        <p:nvSpPr>
          <p:cNvPr id="31" name="Texte niveau 1…">
            <a:extLst>
              <a:ext uri="{FF2B5EF4-FFF2-40B4-BE49-F238E27FC236}">
                <a16:creationId xmlns:a16="http://schemas.microsoft.com/office/drawing/2014/main" id="{43D1D4D7-C319-4BA5-95BA-344309BA5F47}"/>
              </a:ext>
            </a:extLst>
          </p:cNvPr>
          <p:cNvSpPr txBox="1">
            <a:spLocks noGrp="1"/>
          </p:cNvSpPr>
          <p:nvPr>
            <p:ph type="body" sz="half" idx="1" hasCustomPrompt="1"/>
          </p:nvPr>
        </p:nvSpPr>
        <p:spPr>
          <a:xfrm>
            <a:off x="609044" y="1677515"/>
            <a:ext cx="11017806" cy="4056535"/>
          </a:xfrm>
          <a:prstGeom prst="rect">
            <a:avLst/>
          </a:prstGeom>
        </p:spPr>
        <p:txBody>
          <a:bodyPr lIns="288000" tIns="288000" rIns="288000" bIns="288000"/>
          <a:lstStyle>
            <a:lvl1pPr marL="265113" indent="-265113" algn="l">
              <a:lnSpc>
                <a:spcPct val="150000"/>
              </a:lnSpc>
              <a:buFont typeface="Wingdings" panose="05000000000000000000" pitchFamily="2" charset="2"/>
              <a:buChar char="§"/>
              <a:defRPr sz="2200">
                <a:latin typeface="Calibri" panose="020F0502020204030204" pitchFamily="34" charset="0"/>
                <a:cs typeface="Calibri" panose="020F0502020204030204" pitchFamily="34" charset="0"/>
              </a:defRPr>
            </a:lvl1pPr>
            <a:lvl2pPr marL="631032" indent="-285750" algn="l">
              <a:lnSpc>
                <a:spcPct val="150000"/>
              </a:lnSpc>
              <a:buFont typeface="Wingdings" panose="05000000000000000000" pitchFamily="2" charset="2"/>
              <a:buChar char="§"/>
              <a:defRPr sz="2000">
                <a:latin typeface="Calibri" panose="020F0502020204030204" pitchFamily="34" charset="0"/>
                <a:cs typeface="Calibri" panose="020F0502020204030204" pitchFamily="34" charset="0"/>
              </a:defRPr>
            </a:lvl2pPr>
            <a:lvl3pPr marL="987425" indent="-285750" algn="l">
              <a:lnSpc>
                <a:spcPct val="150000"/>
              </a:lnSpc>
              <a:buFont typeface="Wingdings" panose="05000000000000000000" pitchFamily="2" charset="2"/>
              <a:buChar char="§"/>
              <a:defRPr sz="2000">
                <a:latin typeface="Calibri" panose="020F0502020204030204" pitchFamily="34" charset="0"/>
                <a:cs typeface="Calibri" panose="020F0502020204030204" pitchFamily="34" charset="0"/>
              </a:defRPr>
            </a:lvl3pPr>
            <a:lvl4pPr marL="1343819" indent="-285750" algn="l">
              <a:lnSpc>
                <a:spcPct val="150000"/>
              </a:lnSpc>
              <a:buFont typeface="Wingdings" panose="05000000000000000000" pitchFamily="2" charset="2"/>
              <a:buChar char="§"/>
              <a:defRPr sz="2000">
                <a:latin typeface="Calibri" panose="020F0502020204030204" pitchFamily="34" charset="0"/>
                <a:cs typeface="Calibri" panose="020F0502020204030204" pitchFamily="34" charset="0"/>
              </a:defRPr>
            </a:lvl4pPr>
            <a:lvl5pPr marL="1746250" indent="-285750" algn="l">
              <a:lnSpc>
                <a:spcPct val="150000"/>
              </a:lnSpc>
              <a:buFont typeface="Wingdings" panose="05000000000000000000" pitchFamily="2" charset="2"/>
              <a:buChar char="§"/>
              <a:defRPr sz="2000">
                <a:latin typeface="Calibri" panose="020F0502020204030204" pitchFamily="34" charset="0"/>
                <a:cs typeface="Calibri" panose="020F0502020204030204" pitchFamily="34" charset="0"/>
              </a:defRPr>
            </a:lvl5pPr>
          </a:lstStyle>
          <a:p>
            <a:r>
              <a:rPr dirty="0" err="1"/>
              <a:t>Texte</a:t>
            </a:r>
            <a:r>
              <a:rPr dirty="0"/>
              <a:t> </a:t>
            </a:r>
            <a:r>
              <a:rPr dirty="0" err="1"/>
              <a:t>niveau</a:t>
            </a:r>
            <a:r>
              <a:rPr dirty="0"/>
              <a:t> 1</a:t>
            </a:r>
          </a:p>
          <a:p>
            <a:pPr lvl="1"/>
            <a:r>
              <a:rPr dirty="0" err="1"/>
              <a:t>Texte</a:t>
            </a:r>
            <a:r>
              <a:rPr dirty="0"/>
              <a:t> </a:t>
            </a:r>
            <a:r>
              <a:rPr dirty="0" err="1"/>
              <a:t>niveau</a:t>
            </a:r>
            <a:r>
              <a:rPr dirty="0"/>
              <a:t> 2</a:t>
            </a:r>
          </a:p>
          <a:p>
            <a:pPr lvl="2"/>
            <a:r>
              <a:rPr dirty="0" err="1"/>
              <a:t>Texte</a:t>
            </a:r>
            <a:r>
              <a:rPr dirty="0"/>
              <a:t> </a:t>
            </a:r>
            <a:r>
              <a:rPr dirty="0" err="1"/>
              <a:t>niveau</a:t>
            </a:r>
            <a:r>
              <a:rPr dirty="0"/>
              <a:t> 3</a:t>
            </a:r>
          </a:p>
          <a:p>
            <a:pPr lvl="3"/>
            <a:r>
              <a:rPr dirty="0" err="1"/>
              <a:t>Texte</a:t>
            </a:r>
            <a:r>
              <a:rPr dirty="0"/>
              <a:t> </a:t>
            </a:r>
            <a:r>
              <a:rPr dirty="0" err="1"/>
              <a:t>niveau</a:t>
            </a:r>
            <a:r>
              <a:rPr dirty="0"/>
              <a:t> 4</a:t>
            </a:r>
          </a:p>
          <a:p>
            <a:pPr lvl="4"/>
            <a:r>
              <a:rPr dirty="0" err="1"/>
              <a:t>Texte</a:t>
            </a:r>
            <a:r>
              <a:rPr dirty="0"/>
              <a:t> </a:t>
            </a:r>
            <a:r>
              <a:rPr dirty="0" err="1"/>
              <a:t>niveau</a:t>
            </a:r>
            <a:r>
              <a:rPr dirty="0"/>
              <a:t> 5</a:t>
            </a:r>
          </a:p>
        </p:txBody>
      </p:sp>
      <p:sp>
        <p:nvSpPr>
          <p:cNvPr id="2" name="Numéro de diapositive">
            <a:extLst>
              <a:ext uri="{FF2B5EF4-FFF2-40B4-BE49-F238E27FC236}">
                <a16:creationId xmlns:a16="http://schemas.microsoft.com/office/drawing/2014/main" id="{350E76D7-D8C4-4678-A211-E25E636C719D}"/>
              </a:ext>
            </a:extLst>
          </p:cNvPr>
          <p:cNvSpPr txBox="1">
            <a:spLocks/>
          </p:cNvSpPr>
          <p:nvPr userDrawn="1"/>
        </p:nvSpPr>
        <p:spPr>
          <a:xfrm>
            <a:off x="11474267" y="246411"/>
            <a:ext cx="412405" cy="152401"/>
          </a:xfrm>
          <a:prstGeom prst="rect">
            <a:avLst/>
          </a:prstGeom>
          <a:solidFill>
            <a:schemeClr val="accent3"/>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087443"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FFFFFF"/>
                </a:solidFill>
                <a:effectLst/>
                <a:uFillTx/>
                <a:latin typeface="Exo 2"/>
                <a:ea typeface="Exo 2"/>
                <a:cs typeface="Exo 2"/>
                <a:sym typeface="Exo 2"/>
              </a:defRPr>
            </a:lvl1pPr>
            <a:lvl2pPr marL="0" marR="0" indent="1087443" algn="l" defTabSz="1087443" rtl="0" fontAlgn="auto" latinLnBrk="0" hangingPunct="0">
              <a:lnSpc>
                <a:spcPct val="100000"/>
              </a:lnSpc>
              <a:spcBef>
                <a:spcPts val="0"/>
              </a:spcBef>
              <a:spcAft>
                <a:spcPts val="0"/>
              </a:spcAft>
              <a:buClrTx/>
              <a:buSzTx/>
              <a:buFontTx/>
              <a:buNone/>
              <a:tabLst/>
              <a:defRPr kumimoji="0" sz="4300" b="0" i="0" u="none" strike="noStrike" cap="none" spc="0" normalizeH="0" baseline="0">
                <a:ln>
                  <a:noFill/>
                </a:ln>
                <a:solidFill>
                  <a:srgbClr val="000000"/>
                </a:solidFill>
                <a:effectLst/>
                <a:uFillTx/>
                <a:latin typeface="Calibri"/>
                <a:ea typeface="Calibri"/>
                <a:cs typeface="Calibri"/>
                <a:sym typeface="Calibri"/>
              </a:defRPr>
            </a:lvl2pPr>
            <a:lvl3pPr marL="0" marR="0" indent="2174887" algn="l" defTabSz="1087443" rtl="0" fontAlgn="auto" latinLnBrk="0" hangingPunct="0">
              <a:lnSpc>
                <a:spcPct val="100000"/>
              </a:lnSpc>
              <a:spcBef>
                <a:spcPts val="0"/>
              </a:spcBef>
              <a:spcAft>
                <a:spcPts val="0"/>
              </a:spcAft>
              <a:buClrTx/>
              <a:buSzTx/>
              <a:buFontTx/>
              <a:buNone/>
              <a:tabLst/>
              <a:defRPr kumimoji="0" sz="4300" b="0" i="0" u="none" strike="noStrike" cap="none" spc="0" normalizeH="0" baseline="0">
                <a:ln>
                  <a:noFill/>
                </a:ln>
                <a:solidFill>
                  <a:srgbClr val="000000"/>
                </a:solidFill>
                <a:effectLst/>
                <a:uFillTx/>
                <a:latin typeface="Calibri"/>
                <a:ea typeface="Calibri"/>
                <a:cs typeface="Calibri"/>
                <a:sym typeface="Calibri"/>
              </a:defRPr>
            </a:lvl3pPr>
            <a:lvl4pPr marL="0" marR="0" indent="3262338" algn="l" defTabSz="1087443" rtl="0" fontAlgn="auto" latinLnBrk="0" hangingPunct="0">
              <a:lnSpc>
                <a:spcPct val="100000"/>
              </a:lnSpc>
              <a:spcBef>
                <a:spcPts val="0"/>
              </a:spcBef>
              <a:spcAft>
                <a:spcPts val="0"/>
              </a:spcAft>
              <a:buClrTx/>
              <a:buSzTx/>
              <a:buFontTx/>
              <a:buNone/>
              <a:tabLst/>
              <a:defRPr kumimoji="0" sz="4300" b="0" i="0" u="none" strike="noStrike" cap="none" spc="0" normalizeH="0" baseline="0">
                <a:ln>
                  <a:noFill/>
                </a:ln>
                <a:solidFill>
                  <a:srgbClr val="000000"/>
                </a:solidFill>
                <a:effectLst/>
                <a:uFillTx/>
                <a:latin typeface="Calibri"/>
                <a:ea typeface="Calibri"/>
                <a:cs typeface="Calibri"/>
                <a:sym typeface="Calibri"/>
              </a:defRPr>
            </a:lvl4pPr>
            <a:lvl5pPr marL="0" marR="0" indent="4349779" algn="l" defTabSz="1087443" rtl="0" fontAlgn="auto" latinLnBrk="0" hangingPunct="0">
              <a:lnSpc>
                <a:spcPct val="100000"/>
              </a:lnSpc>
              <a:spcBef>
                <a:spcPts val="0"/>
              </a:spcBef>
              <a:spcAft>
                <a:spcPts val="0"/>
              </a:spcAft>
              <a:buClrTx/>
              <a:buSzTx/>
              <a:buFontTx/>
              <a:buNone/>
              <a:tabLst/>
              <a:defRPr kumimoji="0" sz="4300" b="0" i="0" u="none" strike="noStrike" cap="none" spc="0" normalizeH="0" baseline="0">
                <a:ln>
                  <a:noFill/>
                </a:ln>
                <a:solidFill>
                  <a:srgbClr val="000000"/>
                </a:solidFill>
                <a:effectLst/>
                <a:uFillTx/>
                <a:latin typeface="Calibri"/>
                <a:ea typeface="Calibri"/>
                <a:cs typeface="Calibri"/>
                <a:sym typeface="Calibri"/>
              </a:defRPr>
            </a:lvl5pPr>
            <a:lvl6pPr marL="0" marR="0" indent="5437225" algn="l" defTabSz="1087443" rtl="0" fontAlgn="auto" latinLnBrk="0" hangingPunct="0">
              <a:lnSpc>
                <a:spcPct val="100000"/>
              </a:lnSpc>
              <a:spcBef>
                <a:spcPts val="0"/>
              </a:spcBef>
              <a:spcAft>
                <a:spcPts val="0"/>
              </a:spcAft>
              <a:buClrTx/>
              <a:buSzTx/>
              <a:buFontTx/>
              <a:buNone/>
              <a:tabLst/>
              <a:defRPr kumimoji="0" sz="4300" b="0" i="0" u="none" strike="noStrike" cap="none" spc="0" normalizeH="0" baseline="0">
                <a:ln>
                  <a:noFill/>
                </a:ln>
                <a:solidFill>
                  <a:srgbClr val="000000"/>
                </a:solidFill>
                <a:effectLst/>
                <a:uFillTx/>
                <a:latin typeface="Calibri"/>
                <a:ea typeface="Calibri"/>
                <a:cs typeface="Calibri"/>
                <a:sym typeface="Calibri"/>
              </a:defRPr>
            </a:lvl6pPr>
            <a:lvl7pPr marL="0" marR="0" indent="6524670" algn="l" defTabSz="1087443" rtl="0" fontAlgn="auto" latinLnBrk="0" hangingPunct="0">
              <a:lnSpc>
                <a:spcPct val="100000"/>
              </a:lnSpc>
              <a:spcBef>
                <a:spcPts val="0"/>
              </a:spcBef>
              <a:spcAft>
                <a:spcPts val="0"/>
              </a:spcAft>
              <a:buClrTx/>
              <a:buSzTx/>
              <a:buFontTx/>
              <a:buNone/>
              <a:tabLst/>
              <a:defRPr kumimoji="0" sz="4300" b="0" i="0" u="none" strike="noStrike" cap="none" spc="0" normalizeH="0" baseline="0">
                <a:ln>
                  <a:noFill/>
                </a:ln>
                <a:solidFill>
                  <a:srgbClr val="000000"/>
                </a:solidFill>
                <a:effectLst/>
                <a:uFillTx/>
                <a:latin typeface="Calibri"/>
                <a:ea typeface="Calibri"/>
                <a:cs typeface="Calibri"/>
                <a:sym typeface="Calibri"/>
              </a:defRPr>
            </a:lvl7pPr>
            <a:lvl8pPr marL="0" marR="0" indent="7612115" algn="l" defTabSz="1087443" rtl="0" fontAlgn="auto" latinLnBrk="0" hangingPunct="0">
              <a:lnSpc>
                <a:spcPct val="100000"/>
              </a:lnSpc>
              <a:spcBef>
                <a:spcPts val="0"/>
              </a:spcBef>
              <a:spcAft>
                <a:spcPts val="0"/>
              </a:spcAft>
              <a:buClrTx/>
              <a:buSzTx/>
              <a:buFontTx/>
              <a:buNone/>
              <a:tabLst/>
              <a:defRPr kumimoji="0" sz="4300" b="0" i="0" u="none" strike="noStrike" cap="none" spc="0" normalizeH="0" baseline="0">
                <a:ln>
                  <a:noFill/>
                </a:ln>
                <a:solidFill>
                  <a:srgbClr val="000000"/>
                </a:solidFill>
                <a:effectLst/>
                <a:uFillTx/>
                <a:latin typeface="Calibri"/>
                <a:ea typeface="Calibri"/>
                <a:cs typeface="Calibri"/>
                <a:sym typeface="Calibri"/>
              </a:defRPr>
            </a:lvl8pPr>
            <a:lvl9pPr marL="0" marR="0" indent="8699558" algn="l" defTabSz="1087443" rtl="0" fontAlgn="auto" latinLnBrk="0" hangingPunct="0">
              <a:lnSpc>
                <a:spcPct val="100000"/>
              </a:lnSpc>
              <a:spcBef>
                <a:spcPts val="0"/>
              </a:spcBef>
              <a:spcAft>
                <a:spcPts val="0"/>
              </a:spcAft>
              <a:buClrTx/>
              <a:buSzTx/>
              <a:buFontTx/>
              <a:buNone/>
              <a:tabLst/>
              <a:defRPr kumimoji="0" sz="4300" b="0" i="0" u="none" strike="noStrike" cap="none" spc="0" normalizeH="0" baseline="0">
                <a:ln>
                  <a:noFill/>
                </a:ln>
                <a:solidFill>
                  <a:srgbClr val="000000"/>
                </a:solidFill>
                <a:effectLst/>
                <a:uFillTx/>
                <a:latin typeface="Calibri"/>
                <a:ea typeface="Calibri"/>
                <a:cs typeface="Calibri"/>
                <a:sym typeface="Calibri"/>
              </a:defRPr>
            </a:lvl9pPr>
          </a:lstStyle>
          <a:p>
            <a:fld id="{86CB4B4D-7CA3-9044-876B-883B54F8677D}" type="slidenum">
              <a:rPr lang="fr-FR" sz="1000" smtClean="0"/>
              <a:pPr/>
              <a:t>‹N°›</a:t>
            </a:fld>
            <a:endParaRPr lang="fr-FR" sz="1000" dirty="0"/>
          </a:p>
        </p:txBody>
      </p:sp>
    </p:spTree>
    <p:extLst>
      <p:ext uri="{BB962C8B-B14F-4D97-AF65-F5344CB8AC3E}">
        <p14:creationId xmlns:p14="http://schemas.microsoft.com/office/powerpoint/2010/main" val="3333392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8C85F5B-E093-99C5-D11D-21A05B0DCE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5DE4EF4-E468-D6E6-674F-F6516C7017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110D1C0-B201-B6FA-410F-2D75520173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9F4A61-BF6E-46AE-B2AF-38AF17C84D0E}" type="datetimeFigureOut">
              <a:rPr lang="fr-FR" smtClean="0"/>
              <a:t>24/11/2025</a:t>
            </a:fld>
            <a:endParaRPr lang="fr-FR"/>
          </a:p>
        </p:txBody>
      </p:sp>
      <p:sp>
        <p:nvSpPr>
          <p:cNvPr id="5" name="Espace réservé du pied de page 4">
            <a:extLst>
              <a:ext uri="{FF2B5EF4-FFF2-40B4-BE49-F238E27FC236}">
                <a16:creationId xmlns:a16="http://schemas.microsoft.com/office/drawing/2014/main" id="{D418560D-F315-CDE5-ABB6-F728DF47B2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2C098D0-A2AE-58A4-6730-E83471AA59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BCEB07-1D37-4280-9B32-ED99D0576C27}" type="slidenum">
              <a:rPr lang="fr-FR" smtClean="0"/>
              <a:t>‹N°›</a:t>
            </a:fld>
            <a:endParaRPr lang="fr-FR"/>
          </a:p>
        </p:txBody>
      </p:sp>
    </p:spTree>
    <p:extLst>
      <p:ext uri="{BB962C8B-B14F-4D97-AF65-F5344CB8AC3E}">
        <p14:creationId xmlns:p14="http://schemas.microsoft.com/office/powerpoint/2010/main" val="2164453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us-titre 1">
            <a:extLst>
              <a:ext uri="{FF2B5EF4-FFF2-40B4-BE49-F238E27FC236}">
                <a16:creationId xmlns:a16="http://schemas.microsoft.com/office/drawing/2014/main" id="{4B9CE9ED-F13C-4904-BB58-07887CCAE619}"/>
              </a:ext>
            </a:extLst>
          </p:cNvPr>
          <p:cNvSpPr>
            <a:spLocks noGrp="1"/>
          </p:cNvSpPr>
          <p:nvPr>
            <p:ph type="subTitle" sz="quarter" idx="1"/>
          </p:nvPr>
        </p:nvSpPr>
        <p:spPr>
          <a:xfrm>
            <a:off x="6392008" y="677928"/>
            <a:ext cx="5944180" cy="558433"/>
          </a:xfrm>
        </p:spPr>
        <p:txBody>
          <a:bodyPr/>
          <a:lstStyle/>
          <a:p>
            <a:r>
              <a:rPr lang="fr-FR" dirty="0"/>
              <a:t> </a:t>
            </a:r>
          </a:p>
        </p:txBody>
      </p:sp>
      <p:sp>
        <p:nvSpPr>
          <p:cNvPr id="3" name="Espace réservé du texte 2">
            <a:extLst>
              <a:ext uri="{FF2B5EF4-FFF2-40B4-BE49-F238E27FC236}">
                <a16:creationId xmlns:a16="http://schemas.microsoft.com/office/drawing/2014/main" id="{50066482-C983-4F33-ABDA-F3BCDF4BF89E}"/>
              </a:ext>
            </a:extLst>
          </p:cNvPr>
          <p:cNvSpPr>
            <a:spLocks noGrp="1"/>
          </p:cNvSpPr>
          <p:nvPr>
            <p:ph type="body" sz="quarter" idx="10"/>
          </p:nvPr>
        </p:nvSpPr>
        <p:spPr>
          <a:xfrm>
            <a:off x="494294" y="3946309"/>
            <a:ext cx="11261021" cy="777875"/>
          </a:xfrm>
        </p:spPr>
        <p:txBody>
          <a:bodyPr>
            <a:normAutofit/>
          </a:bodyPr>
          <a:lstStyle/>
          <a:p>
            <a:pPr marL="0" indent="0">
              <a:buNone/>
            </a:pPr>
            <a:r>
              <a:rPr lang="fr-FR" dirty="0"/>
              <a:t>Formation Technique ABAP </a:t>
            </a:r>
          </a:p>
        </p:txBody>
      </p:sp>
      <p:sp>
        <p:nvSpPr>
          <p:cNvPr id="5" name="Sous-titre 1">
            <a:extLst>
              <a:ext uri="{FF2B5EF4-FFF2-40B4-BE49-F238E27FC236}">
                <a16:creationId xmlns:a16="http://schemas.microsoft.com/office/drawing/2014/main" id="{E97B557A-F58C-4E2A-9398-76B3AAAEB8D5}"/>
              </a:ext>
            </a:extLst>
          </p:cNvPr>
          <p:cNvSpPr txBox="1">
            <a:spLocks/>
          </p:cNvSpPr>
          <p:nvPr/>
        </p:nvSpPr>
        <p:spPr>
          <a:xfrm>
            <a:off x="7816362" y="175846"/>
            <a:ext cx="4587234" cy="13397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450"/>
              </a:spcBef>
              <a:buFont typeface="Arial" panose="020B0604020202020204" pitchFamily="34" charset="0"/>
              <a:buChar char="•"/>
              <a:defRPr sz="2500" kern="1200">
                <a:solidFill>
                  <a:srgbClr val="FFFFFE"/>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 </a:t>
            </a:r>
            <a:endParaRPr lang="fr-FR" dirty="0"/>
          </a:p>
        </p:txBody>
      </p:sp>
      <p:sp>
        <p:nvSpPr>
          <p:cNvPr id="4" name="Espace réservé du texte 2">
            <a:extLst>
              <a:ext uri="{FF2B5EF4-FFF2-40B4-BE49-F238E27FC236}">
                <a16:creationId xmlns:a16="http://schemas.microsoft.com/office/drawing/2014/main" id="{5BC60851-4CD8-11D4-D1CE-33B3E8CABF06}"/>
              </a:ext>
            </a:extLst>
          </p:cNvPr>
          <p:cNvSpPr txBox="1">
            <a:spLocks/>
          </p:cNvSpPr>
          <p:nvPr/>
        </p:nvSpPr>
        <p:spPr>
          <a:xfrm>
            <a:off x="494294" y="4901142"/>
            <a:ext cx="11261021" cy="777875"/>
          </a:xfrm>
          <a:prstGeom prst="rect">
            <a:avLst/>
          </a:prstGeom>
        </p:spPr>
        <p:txBody>
          <a:bodyPr vert="horz" lIns="91440" tIns="46800" rIns="91440" bIns="45720" rtlCol="0" anchor="ctr" anchorCtr="0">
            <a:normAutofit/>
          </a:bodyPr>
          <a:lstStyle>
            <a:lvl1pPr marL="228600" indent="-228600" algn="l" defTabSz="914400" rtl="0" eaLnBrk="1" latinLnBrk="0" hangingPunct="1">
              <a:lnSpc>
                <a:spcPct val="100000"/>
              </a:lnSpc>
              <a:spcBef>
                <a:spcPts val="0"/>
              </a:spcBef>
              <a:buFont typeface="Arial" panose="020B0604020202020204" pitchFamily="34" charset="0"/>
              <a:buChar char="•"/>
              <a:defRPr sz="4225" b="1" kern="1200">
                <a:solidFill>
                  <a:schemeClr val="bg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4225"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4225"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4225"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4225"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3200" dirty="0"/>
              <a:t>Les modules fonction</a:t>
            </a:r>
          </a:p>
        </p:txBody>
      </p:sp>
    </p:spTree>
    <p:extLst>
      <p:ext uri="{BB962C8B-B14F-4D97-AF65-F5344CB8AC3E}">
        <p14:creationId xmlns:p14="http://schemas.microsoft.com/office/powerpoint/2010/main" val="1998575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Définition et accès</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587097" y="928838"/>
            <a:ext cx="10880226" cy="5199401"/>
          </a:xfrm>
        </p:spPr>
        <p:txBody>
          <a:bodyPr/>
          <a:lstStyle/>
          <a:p>
            <a:pPr marL="0" indent="0">
              <a:buNone/>
            </a:pPr>
            <a:r>
              <a:rPr lang="fr-FR" sz="2000" dirty="0"/>
              <a:t>Le module fonction est un outil indispensable à la programmation qui permet d’isoler un traitement spécifique (conversion, récupération d’informations, gestion de données…) et de solliciter ensuite ce traitement dans n’importe quel programme interne à SAP ou venant d’un système externe SAP via le mode RFC (ou d’un système externe NON SAP pour certains MF RFC particuliers appelés BAPI).</a:t>
            </a:r>
          </a:p>
          <a:p>
            <a:pPr marL="0" indent="0">
              <a:buNone/>
            </a:pPr>
            <a:r>
              <a:rPr lang="fr-FR" sz="2000" dirty="0"/>
              <a:t>L’éditeur de gestion des fonctions est accessible via la transaction </a:t>
            </a:r>
            <a:r>
              <a:rPr lang="fr-FR" sz="2000" b="1" dirty="0"/>
              <a:t>SE37 </a:t>
            </a:r>
            <a:r>
              <a:rPr lang="fr-FR" sz="2000" dirty="0"/>
              <a:t>(/NSE37  /OSE37).</a:t>
            </a:r>
          </a:p>
          <a:p>
            <a:pPr marL="0" indent="0">
              <a:buNone/>
            </a:pPr>
            <a:endParaRPr lang="fr-FR" dirty="0"/>
          </a:p>
          <a:p>
            <a:pPr marL="0" indent="0">
              <a:buNone/>
            </a:pPr>
            <a:endParaRPr lang="fr-FR" b="1" u="sng" dirty="0"/>
          </a:p>
        </p:txBody>
      </p:sp>
      <p:pic>
        <p:nvPicPr>
          <p:cNvPr id="5" name="Image 4">
            <a:extLst>
              <a:ext uri="{FF2B5EF4-FFF2-40B4-BE49-F238E27FC236}">
                <a16:creationId xmlns:a16="http://schemas.microsoft.com/office/drawing/2014/main" id="{8D594367-26B0-4F50-B7EB-F7CE19B1F781}"/>
              </a:ext>
            </a:extLst>
          </p:cNvPr>
          <p:cNvPicPr>
            <a:picLocks noChangeAspect="1"/>
          </p:cNvPicPr>
          <p:nvPr/>
        </p:nvPicPr>
        <p:blipFill>
          <a:blip r:embed="rId2"/>
          <a:stretch>
            <a:fillRect/>
          </a:stretch>
        </p:blipFill>
        <p:spPr>
          <a:xfrm>
            <a:off x="846355" y="4216796"/>
            <a:ext cx="4799047" cy="2365311"/>
          </a:xfrm>
          <a:prstGeom prst="rect">
            <a:avLst/>
          </a:prstGeom>
        </p:spPr>
      </p:pic>
      <p:pic>
        <p:nvPicPr>
          <p:cNvPr id="6" name="Image 5">
            <a:extLst>
              <a:ext uri="{FF2B5EF4-FFF2-40B4-BE49-F238E27FC236}">
                <a16:creationId xmlns:a16="http://schemas.microsoft.com/office/drawing/2014/main" id="{F51B285A-8BD5-4C27-B11C-13AC143C37F0}"/>
              </a:ext>
            </a:extLst>
          </p:cNvPr>
          <p:cNvPicPr>
            <a:picLocks noChangeAspect="1"/>
          </p:cNvPicPr>
          <p:nvPr/>
        </p:nvPicPr>
        <p:blipFill>
          <a:blip r:embed="rId3"/>
          <a:stretch>
            <a:fillRect/>
          </a:stretch>
        </p:blipFill>
        <p:spPr>
          <a:xfrm>
            <a:off x="5904660" y="4216796"/>
            <a:ext cx="5222474" cy="572433"/>
          </a:xfrm>
          <a:prstGeom prst="rect">
            <a:avLst/>
          </a:prstGeom>
        </p:spPr>
      </p:pic>
      <p:sp>
        <p:nvSpPr>
          <p:cNvPr id="7" name="Espace réservé du texte 2">
            <a:extLst>
              <a:ext uri="{FF2B5EF4-FFF2-40B4-BE49-F238E27FC236}">
                <a16:creationId xmlns:a16="http://schemas.microsoft.com/office/drawing/2014/main" id="{E2E43B51-0C0E-4C90-867F-ACBD17EA0E84}"/>
              </a:ext>
            </a:extLst>
          </p:cNvPr>
          <p:cNvSpPr txBox="1">
            <a:spLocks/>
          </p:cNvSpPr>
          <p:nvPr/>
        </p:nvSpPr>
        <p:spPr>
          <a:xfrm>
            <a:off x="5817272" y="4630994"/>
            <a:ext cx="5650051" cy="177537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lgn="just">
              <a:buNone/>
            </a:pPr>
            <a:r>
              <a:rPr lang="fr-FR" sz="1800" dirty="0"/>
              <a:t>La barre d’outils de gauche à droite :</a:t>
            </a:r>
          </a:p>
          <a:p>
            <a:pPr marL="0" indent="0" algn="just">
              <a:buNone/>
            </a:pPr>
            <a:r>
              <a:rPr lang="fr-FR" sz="1800" b="1" dirty="0"/>
              <a:t>Contrôler – Syntaxe / Activer / Tester – Exécuter / Cas d’emploi / Manuel en ligne  / Supprimer / Copier / Renommer / Réaffecter </a:t>
            </a:r>
            <a:r>
              <a:rPr lang="fr-FR" sz="1800" dirty="0"/>
              <a:t>(à un autre groupe de fonctions)</a:t>
            </a:r>
          </a:p>
          <a:p>
            <a:pPr marL="0" indent="0">
              <a:buNone/>
            </a:pPr>
            <a:endParaRPr lang="fr-FR" sz="2200" b="1" u="sng" dirty="0"/>
          </a:p>
        </p:txBody>
      </p:sp>
    </p:spTree>
    <p:extLst>
      <p:ext uri="{BB962C8B-B14F-4D97-AF65-F5344CB8AC3E}">
        <p14:creationId xmlns:p14="http://schemas.microsoft.com/office/powerpoint/2010/main" val="2955542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MF et groupe de fonctions</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587097" y="928838"/>
            <a:ext cx="10834111" cy="5199401"/>
          </a:xfrm>
        </p:spPr>
        <p:txBody>
          <a:bodyPr>
            <a:normAutofit/>
          </a:bodyPr>
          <a:lstStyle/>
          <a:p>
            <a:pPr algn="just" eaLnBrk="0" fontAlgn="base"/>
            <a:r>
              <a:rPr lang="fr-FR" altLang="fr-FR" sz="2000" dirty="0"/>
              <a:t>Un module fonction est une procédure qui ne peut être définie que dans un groupe de fonctions et en dehors des classes. Il commence par FUNCTION et se termine par ENDFUNCTION. </a:t>
            </a:r>
          </a:p>
          <a:p>
            <a:pPr algn="just" eaLnBrk="0" fontAlgn="base"/>
            <a:r>
              <a:rPr lang="fr-FR" altLang="fr-FR" sz="2000" dirty="0"/>
              <a:t>Les modules de fonction sont des procédures réutilisables inter programmes organisées en groupes de fonctions.</a:t>
            </a:r>
          </a:p>
          <a:p>
            <a:pPr algn="just" eaLnBrk="0" fontAlgn="base"/>
            <a:r>
              <a:rPr lang="fr-FR" altLang="fr-FR" sz="2000" dirty="0"/>
              <a:t>Ils ne sont pas destinés à modifier les données des tables STANDARDS et ne doivent jamais l’être.</a:t>
            </a:r>
          </a:p>
          <a:p>
            <a:pPr algn="just" eaLnBrk="0" fontAlgn="base"/>
            <a:r>
              <a:rPr lang="fr-FR" sz="2000" dirty="0"/>
              <a:t>Le MF peut être appelé depuis n’importe quel programme interne à SAP ou venant d’un système externe (SAP ou autre)  via le mode RFC :</a:t>
            </a:r>
          </a:p>
          <a:p>
            <a:pPr lvl="1" algn="just" eaLnBrk="0" fontAlgn="base"/>
            <a:r>
              <a:rPr lang="fr-FR" sz="1800" dirty="0"/>
              <a:t>Ex : Récupération des infos clients depuis SAP CRM dans SAP ECC.</a:t>
            </a:r>
          </a:p>
          <a:p>
            <a:pPr algn="just" eaLnBrk="0" fontAlgn="base">
              <a:spcBef>
                <a:spcPts val="250"/>
              </a:spcBef>
            </a:pPr>
            <a:endParaRPr lang="fr-FR" altLang="fr-FR" sz="2000" dirty="0">
              <a:solidFill>
                <a:srgbClr val="797979"/>
              </a:solidFill>
            </a:endParaRPr>
          </a:p>
          <a:p>
            <a:pPr algn="just" eaLnBrk="0" fontAlgn="base">
              <a:spcBef>
                <a:spcPts val="250"/>
              </a:spcBef>
            </a:pPr>
            <a:endParaRPr lang="fr-FR" sz="2000" dirty="0">
              <a:solidFill>
                <a:srgbClr val="797979"/>
              </a:solidFill>
              <a:sym typeface="Exo 2 Light"/>
            </a:endParaRPr>
          </a:p>
          <a:p>
            <a:pPr marL="0" indent="0">
              <a:buNone/>
            </a:pPr>
            <a:endParaRPr lang="fr-FR" dirty="0"/>
          </a:p>
          <a:p>
            <a:pPr marL="0" indent="0">
              <a:buNone/>
            </a:pPr>
            <a:endParaRPr lang="fr-FR" b="1" u="sng" dirty="0"/>
          </a:p>
        </p:txBody>
      </p:sp>
    </p:spTree>
    <p:extLst>
      <p:ext uri="{BB962C8B-B14F-4D97-AF65-F5344CB8AC3E}">
        <p14:creationId xmlns:p14="http://schemas.microsoft.com/office/powerpoint/2010/main" val="814042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Un exemple de module fonction</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1317" y="928838"/>
            <a:ext cx="10764233" cy="5199401"/>
          </a:xfrm>
        </p:spPr>
        <p:txBody>
          <a:bodyPr/>
          <a:lstStyle/>
          <a:p>
            <a:pPr marL="0" indent="0">
              <a:buNone/>
            </a:pPr>
            <a:r>
              <a:rPr lang="fr-FR" dirty="0"/>
              <a:t>Partons de la routine de conversion spécifiée pour le domaine MATNR:</a:t>
            </a:r>
          </a:p>
          <a:p>
            <a:pPr marL="0" indent="0">
              <a:buNone/>
            </a:pPr>
            <a:endParaRPr lang="fr-FR" dirty="0"/>
          </a:p>
          <a:p>
            <a:pPr marL="0" indent="0">
              <a:buNone/>
            </a:pPr>
            <a:endParaRPr lang="fr-FR" dirty="0"/>
          </a:p>
          <a:p>
            <a:pPr marL="0" indent="0">
              <a:buNone/>
            </a:pPr>
            <a:endParaRPr lang="fr-FR" b="1" u="sng" dirty="0"/>
          </a:p>
        </p:txBody>
      </p:sp>
      <p:pic>
        <p:nvPicPr>
          <p:cNvPr id="6" name="Image 5">
            <a:extLst>
              <a:ext uri="{FF2B5EF4-FFF2-40B4-BE49-F238E27FC236}">
                <a16:creationId xmlns:a16="http://schemas.microsoft.com/office/drawing/2014/main" id="{99799E70-FA17-4330-A583-A45C5C4AD4E8}"/>
              </a:ext>
            </a:extLst>
          </p:cNvPr>
          <p:cNvPicPr>
            <a:picLocks noChangeAspect="1"/>
          </p:cNvPicPr>
          <p:nvPr/>
        </p:nvPicPr>
        <p:blipFill>
          <a:blip r:embed="rId2"/>
          <a:stretch>
            <a:fillRect/>
          </a:stretch>
        </p:blipFill>
        <p:spPr>
          <a:xfrm>
            <a:off x="746449" y="1907521"/>
            <a:ext cx="4845036" cy="3419211"/>
          </a:xfrm>
          <a:prstGeom prst="rect">
            <a:avLst/>
          </a:prstGeom>
        </p:spPr>
      </p:pic>
      <p:pic>
        <p:nvPicPr>
          <p:cNvPr id="8" name="Image 7">
            <a:extLst>
              <a:ext uri="{FF2B5EF4-FFF2-40B4-BE49-F238E27FC236}">
                <a16:creationId xmlns:a16="http://schemas.microsoft.com/office/drawing/2014/main" id="{F2E9005F-EFED-4912-87C0-9ED7B93CB6C7}"/>
              </a:ext>
            </a:extLst>
          </p:cNvPr>
          <p:cNvPicPr>
            <a:picLocks noChangeAspect="1"/>
          </p:cNvPicPr>
          <p:nvPr/>
        </p:nvPicPr>
        <p:blipFill>
          <a:blip r:embed="rId3"/>
          <a:stretch>
            <a:fillRect/>
          </a:stretch>
        </p:blipFill>
        <p:spPr>
          <a:xfrm>
            <a:off x="5750837" y="1907521"/>
            <a:ext cx="5643995" cy="3419211"/>
          </a:xfrm>
          <a:prstGeom prst="rect">
            <a:avLst/>
          </a:prstGeom>
        </p:spPr>
      </p:pic>
    </p:spTree>
    <p:extLst>
      <p:ext uri="{BB962C8B-B14F-4D97-AF65-F5344CB8AC3E}">
        <p14:creationId xmlns:p14="http://schemas.microsoft.com/office/powerpoint/2010/main" val="3716925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Un exemple de module fonction (2)</a:t>
            </a:r>
          </a:p>
        </p:txBody>
      </p:sp>
      <p:pic>
        <p:nvPicPr>
          <p:cNvPr id="6" name="Image 5">
            <a:extLst>
              <a:ext uri="{FF2B5EF4-FFF2-40B4-BE49-F238E27FC236}">
                <a16:creationId xmlns:a16="http://schemas.microsoft.com/office/drawing/2014/main" id="{7424A525-332F-4D76-8487-15744C8E1C2D}"/>
              </a:ext>
            </a:extLst>
          </p:cNvPr>
          <p:cNvPicPr>
            <a:picLocks noChangeAspect="1"/>
          </p:cNvPicPr>
          <p:nvPr/>
        </p:nvPicPr>
        <p:blipFill>
          <a:blip r:embed="rId2"/>
          <a:stretch>
            <a:fillRect/>
          </a:stretch>
        </p:blipFill>
        <p:spPr>
          <a:xfrm>
            <a:off x="663297" y="1121013"/>
            <a:ext cx="4515194" cy="3337961"/>
          </a:xfrm>
          <a:prstGeom prst="rect">
            <a:avLst/>
          </a:prstGeom>
        </p:spPr>
      </p:pic>
      <p:pic>
        <p:nvPicPr>
          <p:cNvPr id="9" name="Image 8">
            <a:extLst>
              <a:ext uri="{FF2B5EF4-FFF2-40B4-BE49-F238E27FC236}">
                <a16:creationId xmlns:a16="http://schemas.microsoft.com/office/drawing/2014/main" id="{2954B437-7D64-4674-A4D2-C6D7E69B81F3}"/>
              </a:ext>
            </a:extLst>
          </p:cNvPr>
          <p:cNvPicPr>
            <a:picLocks noChangeAspect="1"/>
          </p:cNvPicPr>
          <p:nvPr/>
        </p:nvPicPr>
        <p:blipFill>
          <a:blip r:embed="rId3"/>
          <a:stretch>
            <a:fillRect/>
          </a:stretch>
        </p:blipFill>
        <p:spPr>
          <a:xfrm>
            <a:off x="5178491" y="1121013"/>
            <a:ext cx="6222142" cy="2972791"/>
          </a:xfrm>
          <a:prstGeom prst="rect">
            <a:avLst/>
          </a:prstGeom>
        </p:spPr>
      </p:pic>
      <p:sp>
        <p:nvSpPr>
          <p:cNvPr id="10" name="Espace réservé du texte 2">
            <a:extLst>
              <a:ext uri="{FF2B5EF4-FFF2-40B4-BE49-F238E27FC236}">
                <a16:creationId xmlns:a16="http://schemas.microsoft.com/office/drawing/2014/main" id="{770AFB89-5C9A-4F48-8EE1-02EEFADBA2CB}"/>
              </a:ext>
            </a:extLst>
          </p:cNvPr>
          <p:cNvSpPr txBox="1">
            <a:spLocks/>
          </p:cNvSpPr>
          <p:nvPr/>
        </p:nvSpPr>
        <p:spPr>
          <a:xfrm>
            <a:off x="689232" y="4458974"/>
            <a:ext cx="10711401" cy="1667506"/>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lgn="just">
              <a:buNone/>
            </a:pPr>
            <a:r>
              <a:rPr lang="fr-FR" sz="2200" dirty="0"/>
              <a:t>En cliquant sur le nom du module fonction (image de gauche) ou via la transaction SE37 en saisissant le nom du MF puis en cliquant sur Afficher (image de droite) on accède au code source du module fonction.</a:t>
            </a:r>
          </a:p>
          <a:p>
            <a:pPr marL="0" indent="0">
              <a:buNone/>
            </a:pPr>
            <a:endParaRPr lang="fr-FR" sz="2200" b="1" u="sng" dirty="0"/>
          </a:p>
        </p:txBody>
      </p:sp>
    </p:spTree>
    <p:extLst>
      <p:ext uri="{BB962C8B-B14F-4D97-AF65-F5344CB8AC3E}">
        <p14:creationId xmlns:p14="http://schemas.microsoft.com/office/powerpoint/2010/main" val="1269362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Le code source</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05026" y="948788"/>
            <a:ext cx="10824242" cy="4960426"/>
          </a:xfrm>
        </p:spPr>
        <p:txBody>
          <a:bodyPr>
            <a:normAutofit/>
          </a:bodyPr>
          <a:lstStyle/>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p:txBody>
      </p:sp>
      <p:pic>
        <p:nvPicPr>
          <p:cNvPr id="12" name="Image 11">
            <a:extLst>
              <a:ext uri="{FF2B5EF4-FFF2-40B4-BE49-F238E27FC236}">
                <a16:creationId xmlns:a16="http://schemas.microsoft.com/office/drawing/2014/main" id="{036D6DEA-E6C5-4682-B757-DE99EAD814EA}"/>
              </a:ext>
            </a:extLst>
          </p:cNvPr>
          <p:cNvPicPr>
            <a:picLocks noChangeAspect="1"/>
          </p:cNvPicPr>
          <p:nvPr/>
        </p:nvPicPr>
        <p:blipFill>
          <a:blip r:embed="rId2"/>
          <a:stretch>
            <a:fillRect/>
          </a:stretch>
        </p:blipFill>
        <p:spPr>
          <a:xfrm>
            <a:off x="605026" y="1284065"/>
            <a:ext cx="5002442" cy="4842415"/>
          </a:xfrm>
          <a:prstGeom prst="rect">
            <a:avLst/>
          </a:prstGeom>
        </p:spPr>
      </p:pic>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948787"/>
            <a:ext cx="5666608" cy="4842414"/>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r>
              <a:rPr lang="fr-FR" sz="1800" dirty="0"/>
              <a:t>Même barre d’outils qu’en SE80 avec les fonctionnalités suivantes qui différent : </a:t>
            </a:r>
          </a:p>
          <a:p>
            <a:pPr hangingPunct="1">
              <a:buFontTx/>
              <a:buChar char="-"/>
            </a:pPr>
            <a:r>
              <a:rPr lang="fr-FR" sz="1800" dirty="0"/>
              <a:t>Motif(l’équivalent de Modèle dans la barre d’outils de l’éditeur ABAP)</a:t>
            </a:r>
          </a:p>
          <a:p>
            <a:pPr hangingPunct="1">
              <a:buFontTx/>
              <a:buChar char="-"/>
            </a:pPr>
            <a:r>
              <a:rPr lang="fr-FR" sz="1800" dirty="0"/>
              <a:t>Documentation</a:t>
            </a:r>
          </a:p>
          <a:p>
            <a:pPr marL="0" indent="0" algn="just">
              <a:buNone/>
            </a:pPr>
            <a:r>
              <a:rPr lang="fr-FR" sz="1800" dirty="0"/>
              <a:t>Entre ces 2 boutons, 5 autres boutons existent également pour les programmes de l’éditeur ABAP, mais uniquement dans le cas de MF ou de programmes standards, car ils permettent de modifier le code source en insérant des balises et donc de documenter et suivre les modifications faites dans le code ABAP (insérer,  remplacer, supprimer…).</a:t>
            </a:r>
          </a:p>
        </p:txBody>
      </p:sp>
    </p:spTree>
    <p:extLst>
      <p:ext uri="{BB962C8B-B14F-4D97-AF65-F5344CB8AC3E}">
        <p14:creationId xmlns:p14="http://schemas.microsoft.com/office/powerpoint/2010/main" val="2714086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Les objets liés au MF</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50532" y="1003483"/>
            <a:ext cx="10824241" cy="5122997"/>
          </a:xfrm>
        </p:spPr>
        <p:txBody>
          <a:bodyPr>
            <a:normAutofit fontScale="85000" lnSpcReduction="20000"/>
          </a:bodyPr>
          <a:lstStyle/>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lgn="ctr">
              <a:buNone/>
            </a:pPr>
            <a:endParaRPr lang="fr-FR" sz="1800" dirty="0"/>
          </a:p>
          <a:p>
            <a:pPr marL="0" indent="0" algn="ctr">
              <a:buNone/>
            </a:pPr>
            <a:endParaRPr lang="fr-FR" sz="1800" dirty="0"/>
          </a:p>
          <a:p>
            <a:pPr marL="0" indent="0">
              <a:buNone/>
            </a:pPr>
            <a:r>
              <a:rPr lang="fr-FR" sz="1800" dirty="0"/>
              <a:t>On peut afficher la liste des objets et voir que ce MF est associé à un groupe de fonctions qui contient des includes, des points d’extension…Un groupe de fonction n’est ni plus ni moins qu’un programme  ABAP de type F possédant plusieurs objets techniques.</a:t>
            </a:r>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pic>
        <p:nvPicPr>
          <p:cNvPr id="5" name="Image 4">
            <a:extLst>
              <a:ext uri="{FF2B5EF4-FFF2-40B4-BE49-F238E27FC236}">
                <a16:creationId xmlns:a16="http://schemas.microsoft.com/office/drawing/2014/main" id="{C779EF59-B613-4CF5-9777-92406A13446A}"/>
              </a:ext>
            </a:extLst>
          </p:cNvPr>
          <p:cNvPicPr>
            <a:picLocks noChangeAspect="1"/>
          </p:cNvPicPr>
          <p:nvPr/>
        </p:nvPicPr>
        <p:blipFill>
          <a:blip r:embed="rId2"/>
          <a:stretch>
            <a:fillRect/>
          </a:stretch>
        </p:blipFill>
        <p:spPr>
          <a:xfrm>
            <a:off x="2162530" y="1093169"/>
            <a:ext cx="7866939" cy="3926701"/>
          </a:xfrm>
          <a:prstGeom prst="rect">
            <a:avLst/>
          </a:prstGeom>
        </p:spPr>
      </p:pic>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213856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Les propriétés du MF</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78525" y="1028221"/>
            <a:ext cx="10704823" cy="5098259"/>
          </a:xfrm>
        </p:spPr>
        <p:txBody>
          <a:bodyPr>
            <a:normAutofit fontScale="85000" lnSpcReduction="20000"/>
          </a:bodyPr>
          <a:lstStyle/>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lgn="just">
              <a:buNone/>
            </a:pPr>
            <a:endParaRPr lang="fr-FR" dirty="0"/>
          </a:p>
          <a:p>
            <a:pPr marL="0" indent="0" algn="just">
              <a:buNone/>
            </a:pPr>
            <a:endParaRPr lang="fr-FR" sz="1800" dirty="0"/>
          </a:p>
          <a:p>
            <a:pPr marL="0" indent="0" algn="just">
              <a:buNone/>
            </a:pPr>
            <a:r>
              <a:rPr lang="fr-FR" sz="1800" dirty="0"/>
              <a:t>Le type d’exécution : </a:t>
            </a:r>
          </a:p>
          <a:p>
            <a:pPr marL="0" indent="0" algn="just">
              <a:buNone/>
            </a:pPr>
            <a:r>
              <a:rPr lang="fr-FR" sz="1800" dirty="0"/>
              <a:t>-    Module fonction normal : Exécuté dès qu’il est appelé</a:t>
            </a:r>
          </a:p>
          <a:p>
            <a:pPr algn="just">
              <a:buFontTx/>
              <a:buChar char="-"/>
            </a:pPr>
            <a:r>
              <a:rPr lang="fr-FR" sz="1800" dirty="0"/>
              <a:t>Accessible à distance ou RFC : appelé par un système externe (SAP ou autre) et exécuté immédiatement.</a:t>
            </a:r>
          </a:p>
          <a:p>
            <a:pPr algn="just">
              <a:buFontTx/>
              <a:buChar char="-"/>
            </a:pPr>
            <a:r>
              <a:rPr lang="fr-FR" sz="1800" dirty="0"/>
              <a:t>Mise à jour :  appelé pendant le processus Dialog Work Process, mis en attente et exécuté pendant le processus UPDATE</a:t>
            </a:r>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pic>
        <p:nvPicPr>
          <p:cNvPr id="6" name="Image 5">
            <a:extLst>
              <a:ext uri="{FF2B5EF4-FFF2-40B4-BE49-F238E27FC236}">
                <a16:creationId xmlns:a16="http://schemas.microsoft.com/office/drawing/2014/main" id="{3A7E4497-16DC-46C0-8B86-4AE3493872A0}"/>
              </a:ext>
            </a:extLst>
          </p:cNvPr>
          <p:cNvPicPr>
            <a:picLocks noChangeAspect="1"/>
          </p:cNvPicPr>
          <p:nvPr/>
        </p:nvPicPr>
        <p:blipFill>
          <a:blip r:embed="rId2"/>
          <a:stretch>
            <a:fillRect/>
          </a:stretch>
        </p:blipFill>
        <p:spPr>
          <a:xfrm>
            <a:off x="2799836" y="1167814"/>
            <a:ext cx="6592328" cy="2734374"/>
          </a:xfrm>
          <a:prstGeom prst="rect">
            <a:avLst/>
          </a:prstGeom>
        </p:spPr>
      </p:pic>
    </p:spTree>
    <p:extLst>
      <p:ext uri="{BB962C8B-B14F-4D97-AF65-F5344CB8AC3E}">
        <p14:creationId xmlns:p14="http://schemas.microsoft.com/office/powerpoint/2010/main" val="1244639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Les paramètres</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928839"/>
            <a:ext cx="10694116" cy="5197642"/>
          </a:xfrm>
        </p:spPr>
        <p:txBody>
          <a:bodyPr/>
          <a:lstStyle/>
          <a:p>
            <a:pPr marL="0" indent="0">
              <a:buNone/>
            </a:pPr>
            <a:r>
              <a:rPr lang="fr-FR" sz="2000" dirty="0"/>
              <a:t>Un Module fonction est un outil technique permettant de traiter des informations selon des paramètres d’entrée, pour en définir de nouvelles dans les paramètres de sortie. </a:t>
            </a:r>
          </a:p>
          <a:p>
            <a:pPr marL="0" indent="0">
              <a:buNone/>
            </a:pPr>
            <a:r>
              <a:rPr lang="fr-FR" sz="2000" dirty="0"/>
              <a:t>Prenons le MF « SD_CUSTOMER_MAINTAIN_ALL » (création d’un client) comme exemple.</a:t>
            </a:r>
          </a:p>
          <a:p>
            <a:pPr marL="0" indent="0">
              <a:buNone/>
            </a:pPr>
            <a:endParaRPr lang="fr-FR" dirty="0"/>
          </a:p>
          <a:p>
            <a:pPr marL="0" indent="0">
              <a:buNone/>
            </a:pPr>
            <a:endParaRPr lang="fr-FR"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pic>
        <p:nvPicPr>
          <p:cNvPr id="5" name="Image 4">
            <a:extLst>
              <a:ext uri="{FF2B5EF4-FFF2-40B4-BE49-F238E27FC236}">
                <a16:creationId xmlns:a16="http://schemas.microsoft.com/office/drawing/2014/main" id="{296240F4-A4A2-492A-BE64-D1FF9AEB3BE8}"/>
              </a:ext>
            </a:extLst>
          </p:cNvPr>
          <p:cNvPicPr>
            <a:picLocks noChangeAspect="1"/>
          </p:cNvPicPr>
          <p:nvPr/>
        </p:nvPicPr>
        <p:blipFill>
          <a:blip r:embed="rId2"/>
          <a:stretch>
            <a:fillRect/>
          </a:stretch>
        </p:blipFill>
        <p:spPr>
          <a:xfrm>
            <a:off x="1637493" y="2715968"/>
            <a:ext cx="8917013" cy="3412271"/>
          </a:xfrm>
          <a:prstGeom prst="rect">
            <a:avLst/>
          </a:prstGeom>
        </p:spPr>
      </p:pic>
    </p:spTree>
    <p:extLst>
      <p:ext uri="{BB962C8B-B14F-4D97-AF65-F5344CB8AC3E}">
        <p14:creationId xmlns:p14="http://schemas.microsoft.com/office/powerpoint/2010/main" val="1325441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Les paramètres : Importation</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098259"/>
          </a:xfrm>
        </p:spPr>
        <p:txBody>
          <a:bodyPr>
            <a:normAutofit fontScale="92500" lnSpcReduction="20000"/>
          </a:bodyPr>
          <a:lstStyle/>
          <a:p>
            <a:pPr marL="0" indent="0" algn="just">
              <a:buNone/>
            </a:pPr>
            <a:r>
              <a:rPr lang="fr-FR" sz="1800" b="1" dirty="0"/>
              <a:t>Nom du paramètre </a:t>
            </a:r>
            <a:r>
              <a:rPr lang="fr-FR" sz="1800" dirty="0"/>
              <a:t>: Libre mais commence normalement par ‘I’ (pour importation) puis IV (pour importation variable) ou IS (importation structure).</a:t>
            </a:r>
          </a:p>
          <a:p>
            <a:pPr marL="0" indent="0" algn="just">
              <a:buNone/>
            </a:pPr>
            <a:r>
              <a:rPr lang="fr-FR" sz="1800" b="1" dirty="0"/>
              <a:t>Catégorisation </a:t>
            </a:r>
            <a:r>
              <a:rPr lang="fr-FR" sz="1800" dirty="0"/>
              <a:t>: TYPE ou LIKE pour faire référence à un élément de données de type élémentaire  et TYPE REF TO pour un type de référence à une classe ou une interface lors de l’utilisation de l’ABAP Objet.</a:t>
            </a:r>
          </a:p>
          <a:p>
            <a:pPr marL="0" indent="0" algn="just">
              <a:buNone/>
            </a:pPr>
            <a:r>
              <a:rPr lang="fr-FR" sz="1800" b="1" dirty="0"/>
              <a:t>Type référence </a:t>
            </a:r>
            <a:r>
              <a:rPr lang="fr-FR" sz="1800" dirty="0"/>
              <a:t>: champ d’une table ou structure, ou élément de données.</a:t>
            </a:r>
          </a:p>
          <a:p>
            <a:pPr marL="0" indent="0" algn="just">
              <a:buNone/>
            </a:pPr>
            <a:r>
              <a:rPr lang="fr-FR" sz="1800" b="1" dirty="0"/>
              <a:t>Valeur par défaut </a:t>
            </a:r>
            <a:r>
              <a:rPr lang="fr-FR" sz="1800" dirty="0"/>
              <a:t>:  comme son nom l’indique, précise si le champ doit être renseigné par une valeur prédéfinie.</a:t>
            </a:r>
          </a:p>
          <a:p>
            <a:pPr marL="0" indent="0" algn="just">
              <a:buNone/>
            </a:pPr>
            <a:r>
              <a:rPr lang="fr-FR" sz="1800" b="1" dirty="0"/>
              <a:t>Facultative</a:t>
            </a:r>
            <a:r>
              <a:rPr lang="fr-FR" sz="1800" dirty="0"/>
              <a:t> : Fixe le paramètre comme étant optionnel. Il ne sera donc pas nécessaire de lui attribuer une variable de l’appel de la fonction. </a:t>
            </a:r>
          </a:p>
          <a:p>
            <a:pPr marL="0" indent="0" algn="just">
              <a:buNone/>
            </a:pPr>
            <a:r>
              <a:rPr lang="fr-FR" sz="1800" b="1" dirty="0"/>
              <a:t>Passage par valeur </a:t>
            </a:r>
            <a:r>
              <a:rPr lang="fr-FR" sz="1800" dirty="0"/>
              <a:t>: permet de transférer la valeur du paramètre dans le paramètre appelant (à n’utiliser que pour les MF RFC car ils n’acceptent pas le passage par référence).</a:t>
            </a:r>
          </a:p>
          <a:p>
            <a:pPr marL="0" indent="0" algn="just">
              <a:buNone/>
            </a:pPr>
            <a:r>
              <a:rPr lang="fr-FR" sz="1800" b="1" dirty="0"/>
              <a:t>Désignation</a:t>
            </a:r>
            <a:r>
              <a:rPr lang="fr-FR" sz="1800" dirty="0"/>
              <a:t> : Description du champ de la table / structure ou élément de données.</a:t>
            </a:r>
          </a:p>
          <a:p>
            <a:pPr marL="0" indent="0" algn="just">
              <a:buNone/>
            </a:pPr>
            <a:endParaRPr lang="fr-FR" sz="2000" dirty="0"/>
          </a:p>
          <a:p>
            <a:pPr marL="0" indent="0">
              <a:buNone/>
            </a:pPr>
            <a:endParaRPr lang="fr-FR" dirty="0"/>
          </a:p>
          <a:p>
            <a:pPr marL="0" indent="0">
              <a:buNone/>
            </a:pPr>
            <a:endParaRPr lang="fr-FR"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441369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Les paramètres : Export, Modification, Tables</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098259"/>
          </a:xfrm>
        </p:spPr>
        <p:txBody>
          <a:bodyPr/>
          <a:lstStyle/>
          <a:p>
            <a:pPr marL="0" indent="0" algn="just">
              <a:buNone/>
            </a:pPr>
            <a:r>
              <a:rPr lang="fr-FR" sz="1800" b="1" dirty="0"/>
              <a:t>Les paramètres de sortie  de l’onglet Export </a:t>
            </a:r>
            <a:r>
              <a:rPr lang="fr-FR" sz="1800" dirty="0"/>
              <a:t>regroupent les mêmes informations que ceux de l’onglet Importation. Par contre, pour le nom du paramètre, on commencera cette fois par E (pour export), EV_, ES_(Export variable ou export structure….)</a:t>
            </a:r>
          </a:p>
          <a:p>
            <a:pPr marL="0" indent="0" algn="just">
              <a:buNone/>
            </a:pPr>
            <a:r>
              <a:rPr lang="fr-FR" sz="1800" b="1" dirty="0"/>
              <a:t>Les paramètres de modifications </a:t>
            </a:r>
            <a:r>
              <a:rPr lang="fr-FR" sz="1800" dirty="0"/>
              <a:t>quant à eux, sont à la fois des paramètres d’importation et de sortie.</a:t>
            </a:r>
          </a:p>
          <a:p>
            <a:pPr marL="0" indent="0" algn="just">
              <a:buNone/>
            </a:pPr>
            <a:r>
              <a:rPr lang="fr-FR" sz="1800" dirty="0"/>
              <a:t>Ainsi, leur valeur peut changer pendant l’exécution de la fonction(on ne peut pas modifier la valeur des paramètres d’entrée). Quant aux informations de ces paramètres de modifications, elles sont les mêmes que celles des onglets importation ou export. </a:t>
            </a:r>
          </a:p>
          <a:p>
            <a:pPr marL="0" indent="0" algn="just">
              <a:buNone/>
            </a:pPr>
            <a:r>
              <a:rPr lang="fr-FR" sz="1800" b="1" dirty="0"/>
              <a:t>L’onglet Tables</a:t>
            </a:r>
            <a:r>
              <a:rPr lang="fr-FR" sz="1800" dirty="0"/>
              <a:t> va contenir la liste des tables à utiliser dans la fonction (peut être à la fois un paramètre d’entrée comme de sortie). Mêmes informations que l’onglet export. Cet onglet va devenir obsolète dans les prochaines options de SAP(remplacé par l’onglet </a:t>
            </a:r>
            <a:r>
              <a:rPr lang="fr-FR" sz="1800" dirty="0" err="1"/>
              <a:t>modifs</a:t>
            </a:r>
            <a:r>
              <a:rPr lang="fr-FR" sz="1800" dirty="0"/>
              <a:t>.)</a:t>
            </a:r>
          </a:p>
          <a:p>
            <a:pPr marL="0" indent="0" algn="just">
              <a:buNone/>
            </a:pPr>
            <a:endParaRPr lang="fr-FR" sz="2000" dirty="0"/>
          </a:p>
          <a:p>
            <a:pPr marL="0" indent="0">
              <a:buNone/>
            </a:pPr>
            <a:endParaRPr lang="fr-FR" dirty="0"/>
          </a:p>
          <a:p>
            <a:pPr marL="0" indent="0">
              <a:buNone/>
            </a:pPr>
            <a:endParaRPr lang="fr-FR"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508647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Les paramètres : Déclarer un type de Table</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928839"/>
            <a:ext cx="10694114" cy="5197642"/>
          </a:xfrm>
        </p:spPr>
        <p:txBody>
          <a:bodyPr/>
          <a:lstStyle/>
          <a:p>
            <a:pPr marL="0" indent="0" algn="just">
              <a:buNone/>
            </a:pPr>
            <a:r>
              <a:rPr lang="fr-FR" sz="2000" b="1" dirty="0"/>
              <a:t>Dans l’onglet Table</a:t>
            </a:r>
            <a:r>
              <a:rPr lang="fr-FR" sz="2000" dirty="0"/>
              <a:t>, il est possible comme pour les autres paramètres de typer la table qu’on souhaite passer en paramètre. Cependant, si vous indiquez le nom d’une table comme TYPE de votre table, vous constaterez que votre table sera considérée comme une structure….Il faudra utiliser un type de table soit via la SE11 soit dans l’</a:t>
            </a:r>
            <a:r>
              <a:rPr lang="fr-FR" sz="2000" dirty="0" err="1"/>
              <a:t>include</a:t>
            </a:r>
            <a:r>
              <a:rPr lang="fr-FR" sz="2000" dirty="0"/>
              <a:t> top du module fonction associé à notre module fonction, pour ensuite revenir à l’onglet Tables et typer votre table en référence au Type de table précédemment créé. </a:t>
            </a:r>
          </a:p>
          <a:p>
            <a:pPr marL="0" indent="0" algn="just">
              <a:buNone/>
            </a:pPr>
            <a:endParaRPr lang="fr-FR" sz="2000" dirty="0"/>
          </a:p>
          <a:p>
            <a:pPr marL="0" indent="0" algn="just">
              <a:buNone/>
            </a:pPr>
            <a:endParaRPr lang="fr-FR" sz="2000" dirty="0"/>
          </a:p>
          <a:p>
            <a:pPr marL="0" indent="0">
              <a:buNone/>
            </a:pPr>
            <a:endParaRPr lang="fr-FR" dirty="0"/>
          </a:p>
          <a:p>
            <a:pPr marL="0" indent="0">
              <a:buNone/>
            </a:pPr>
            <a:endParaRPr lang="fr-FR"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pic>
        <p:nvPicPr>
          <p:cNvPr id="6" name="Image 5" descr="CY Tech — Wikipédia">
            <a:extLst>
              <a:ext uri="{FF2B5EF4-FFF2-40B4-BE49-F238E27FC236}">
                <a16:creationId xmlns:a16="http://schemas.microsoft.com/office/drawing/2014/main" id="{1AD46ED8-B848-4E00-B094-9AA1120B2AD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879" y="6126480"/>
            <a:ext cx="1135826" cy="599551"/>
          </a:xfrm>
          <a:prstGeom prst="rect">
            <a:avLst/>
          </a:prstGeom>
          <a:noFill/>
          <a:ln>
            <a:noFill/>
          </a:ln>
        </p:spPr>
      </p:pic>
    </p:spTree>
    <p:extLst>
      <p:ext uri="{BB962C8B-B14F-4D97-AF65-F5344CB8AC3E}">
        <p14:creationId xmlns:p14="http://schemas.microsoft.com/office/powerpoint/2010/main" val="1141083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Les paramètres : Les exceptions</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928839"/>
            <a:ext cx="10694114" cy="5197642"/>
          </a:xfrm>
        </p:spPr>
        <p:txBody>
          <a:bodyPr/>
          <a:lstStyle/>
          <a:p>
            <a:pPr marL="0" indent="0" algn="just">
              <a:buNone/>
            </a:pPr>
            <a:r>
              <a:rPr lang="fr-FR" sz="2000" b="1" dirty="0"/>
              <a:t>Les exceptions </a:t>
            </a:r>
            <a:r>
              <a:rPr lang="fr-FR" sz="2000" dirty="0"/>
              <a:t>sont une liste d’erreurs que la fonction peut retourner. Il serait possible d’utiliser à la place des messages, mais les exceptions donnent la possibilité aux développeurs de les gérer comme ils le souhaitent et sont aussi plus pratiques lorsqu’il s’agit de fonctions de type RFC.</a:t>
            </a:r>
          </a:p>
          <a:p>
            <a:pPr marL="0" indent="0" algn="just">
              <a:buNone/>
            </a:pPr>
            <a:endParaRPr lang="fr-FR" sz="2000" dirty="0"/>
          </a:p>
          <a:p>
            <a:pPr marL="0" indent="0" algn="just">
              <a:buNone/>
            </a:pPr>
            <a:endParaRPr lang="fr-FR" sz="2000" dirty="0"/>
          </a:p>
          <a:p>
            <a:pPr marL="0" indent="0">
              <a:buNone/>
            </a:pPr>
            <a:endParaRPr lang="fr-FR" dirty="0"/>
          </a:p>
          <a:p>
            <a:pPr marL="0" indent="0">
              <a:buNone/>
            </a:pPr>
            <a:endParaRPr lang="fr-FR"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2351784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Le code source</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928839"/>
            <a:ext cx="10694114" cy="5197642"/>
          </a:xfrm>
        </p:spPr>
        <p:txBody>
          <a:bodyPr>
            <a:normAutofit fontScale="85000" lnSpcReduction="10000"/>
          </a:bodyPr>
          <a:lstStyle/>
          <a:p>
            <a:pPr marL="0" indent="0">
              <a:buNone/>
            </a:pPr>
            <a:r>
              <a:rPr lang="fr-FR" sz="1800" dirty="0"/>
              <a:t>La fonction commence toujours par lister</a:t>
            </a:r>
          </a:p>
          <a:p>
            <a:pPr marL="0" indent="0">
              <a:buNone/>
            </a:pPr>
            <a:r>
              <a:rPr lang="fr-FR" sz="1800" dirty="0"/>
              <a:t> tous les paramètres qu’elle manipule. </a:t>
            </a:r>
          </a:p>
          <a:p>
            <a:pPr marL="0" indent="0" algn="just">
              <a:buNone/>
            </a:pPr>
            <a:endParaRPr lang="fr-FR" sz="2000" dirty="0"/>
          </a:p>
          <a:p>
            <a:pPr marL="0" indent="0" algn="just">
              <a:buNone/>
            </a:pPr>
            <a:endParaRPr lang="fr-FR" sz="2000" dirty="0"/>
          </a:p>
          <a:p>
            <a:pPr marL="0" indent="0" algn="just">
              <a:buNone/>
            </a:pPr>
            <a:endParaRPr lang="fr-FR" sz="2000" dirty="0"/>
          </a:p>
          <a:p>
            <a:pPr marL="0" indent="0" algn="just">
              <a:buNone/>
            </a:pPr>
            <a:endParaRPr lang="fr-FR" sz="1800" dirty="0"/>
          </a:p>
          <a:p>
            <a:pPr marL="0" indent="0" algn="just">
              <a:buNone/>
            </a:pPr>
            <a:endParaRPr lang="fr-FR" sz="1800" dirty="0"/>
          </a:p>
          <a:p>
            <a:pPr marL="0" indent="0" algn="just">
              <a:buNone/>
            </a:pPr>
            <a:r>
              <a:rPr lang="fr-FR" sz="1800" dirty="0"/>
              <a:t>Certaines fonctions contenant un nombre important de paramètres, il est assez difficile de l’utiliser dans un programme. C’est pour cela que l’option « Modèle » dans l’éditeur ABAP est très utile. En effet, après avoir exécuté la transaction SE80 (ou SE38) et avoir créé un programme, il suffira alors de cliquer sur cette option « Modèle » afin de renseigner la fonction souhaitée dans la partie CALL FUNCTION. </a:t>
            </a:r>
          </a:p>
          <a:p>
            <a:pPr marL="0" indent="0" algn="just">
              <a:buNone/>
            </a:pPr>
            <a:endParaRPr lang="fr-FR" sz="2000" dirty="0"/>
          </a:p>
          <a:p>
            <a:pPr marL="0" indent="0">
              <a:buNone/>
            </a:pPr>
            <a:endParaRPr lang="fr-FR" dirty="0"/>
          </a:p>
          <a:p>
            <a:pPr marL="0" indent="0">
              <a:buNone/>
            </a:pPr>
            <a:endParaRPr lang="fr-FR"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pic>
        <p:nvPicPr>
          <p:cNvPr id="5" name="Image 4">
            <a:extLst>
              <a:ext uri="{FF2B5EF4-FFF2-40B4-BE49-F238E27FC236}">
                <a16:creationId xmlns:a16="http://schemas.microsoft.com/office/drawing/2014/main" id="{9C20C7BF-CFED-471F-98E1-4E10E86B657E}"/>
              </a:ext>
            </a:extLst>
          </p:cNvPr>
          <p:cNvPicPr>
            <a:picLocks noChangeAspect="1"/>
          </p:cNvPicPr>
          <p:nvPr/>
        </p:nvPicPr>
        <p:blipFill>
          <a:blip r:embed="rId2"/>
          <a:stretch>
            <a:fillRect/>
          </a:stretch>
        </p:blipFill>
        <p:spPr>
          <a:xfrm>
            <a:off x="5061806" y="1068431"/>
            <a:ext cx="5239190" cy="3362436"/>
          </a:xfrm>
          <a:prstGeom prst="rect">
            <a:avLst/>
          </a:prstGeom>
        </p:spPr>
      </p:pic>
    </p:spTree>
    <p:extLst>
      <p:ext uri="{BB962C8B-B14F-4D97-AF65-F5344CB8AC3E}">
        <p14:creationId xmlns:p14="http://schemas.microsoft.com/office/powerpoint/2010/main" val="1629331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Le code source (2)</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lstStyle/>
          <a:p>
            <a:pPr marL="0" indent="0" algn="just">
              <a:buNone/>
            </a:pPr>
            <a:endParaRPr lang="fr-FR" sz="2000" dirty="0"/>
          </a:p>
          <a:p>
            <a:pPr marL="0" indent="0">
              <a:buNone/>
            </a:pPr>
            <a:endParaRPr lang="fr-FR" dirty="0"/>
          </a:p>
          <a:p>
            <a:pPr marL="0" indent="0">
              <a:buNone/>
            </a:pPr>
            <a:endParaRPr lang="fr-FR"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pic>
        <p:nvPicPr>
          <p:cNvPr id="6" name="Image 5">
            <a:extLst>
              <a:ext uri="{FF2B5EF4-FFF2-40B4-BE49-F238E27FC236}">
                <a16:creationId xmlns:a16="http://schemas.microsoft.com/office/drawing/2014/main" id="{426889F5-2A93-4586-AB1B-4BB6C7E44C7D}"/>
              </a:ext>
            </a:extLst>
          </p:cNvPr>
          <p:cNvPicPr>
            <a:picLocks noChangeAspect="1"/>
          </p:cNvPicPr>
          <p:nvPr/>
        </p:nvPicPr>
        <p:blipFill>
          <a:blip r:embed="rId2"/>
          <a:stretch>
            <a:fillRect/>
          </a:stretch>
        </p:blipFill>
        <p:spPr>
          <a:xfrm>
            <a:off x="1081248" y="1028220"/>
            <a:ext cx="4243787" cy="1808367"/>
          </a:xfrm>
          <a:prstGeom prst="rect">
            <a:avLst/>
          </a:prstGeom>
        </p:spPr>
      </p:pic>
      <p:pic>
        <p:nvPicPr>
          <p:cNvPr id="11" name="Image 10">
            <a:extLst>
              <a:ext uri="{FF2B5EF4-FFF2-40B4-BE49-F238E27FC236}">
                <a16:creationId xmlns:a16="http://schemas.microsoft.com/office/drawing/2014/main" id="{C72180AF-CAEB-4C8D-B220-71FDCE3B7149}"/>
              </a:ext>
            </a:extLst>
          </p:cNvPr>
          <p:cNvPicPr>
            <a:picLocks noChangeAspect="1"/>
          </p:cNvPicPr>
          <p:nvPr/>
        </p:nvPicPr>
        <p:blipFill>
          <a:blip r:embed="rId3"/>
          <a:stretch>
            <a:fillRect/>
          </a:stretch>
        </p:blipFill>
        <p:spPr>
          <a:xfrm>
            <a:off x="995952" y="2779636"/>
            <a:ext cx="4416169" cy="3050144"/>
          </a:xfrm>
          <a:prstGeom prst="rect">
            <a:avLst/>
          </a:prstGeom>
        </p:spPr>
      </p:pic>
      <p:pic>
        <p:nvPicPr>
          <p:cNvPr id="13" name="Image 12">
            <a:extLst>
              <a:ext uri="{FF2B5EF4-FFF2-40B4-BE49-F238E27FC236}">
                <a16:creationId xmlns:a16="http://schemas.microsoft.com/office/drawing/2014/main" id="{0C7AEEAB-22A2-4546-83DB-03C57466D2B4}"/>
              </a:ext>
            </a:extLst>
          </p:cNvPr>
          <p:cNvPicPr>
            <a:picLocks noChangeAspect="1"/>
          </p:cNvPicPr>
          <p:nvPr/>
        </p:nvPicPr>
        <p:blipFill>
          <a:blip r:embed="rId4"/>
          <a:stretch>
            <a:fillRect/>
          </a:stretch>
        </p:blipFill>
        <p:spPr>
          <a:xfrm>
            <a:off x="5794750" y="1167813"/>
            <a:ext cx="5197687" cy="4514592"/>
          </a:xfrm>
          <a:prstGeom prst="rect">
            <a:avLst/>
          </a:prstGeom>
        </p:spPr>
      </p:pic>
    </p:spTree>
    <p:extLst>
      <p:ext uri="{BB962C8B-B14F-4D97-AF65-F5344CB8AC3E}">
        <p14:creationId xmlns:p14="http://schemas.microsoft.com/office/powerpoint/2010/main" val="2220621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Le code source (3)</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028221"/>
            <a:ext cx="10694114" cy="5360505"/>
          </a:xfrm>
        </p:spPr>
        <p:txBody>
          <a:bodyPr/>
          <a:lstStyle/>
          <a:p>
            <a:pPr marL="0" indent="0" algn="just">
              <a:buNone/>
            </a:pPr>
            <a:endParaRPr lang="fr-FR" sz="2000" dirty="0"/>
          </a:p>
          <a:p>
            <a:pPr marL="0" indent="0">
              <a:buNone/>
            </a:pPr>
            <a:endParaRPr lang="fr-FR" dirty="0"/>
          </a:p>
          <a:p>
            <a:pPr marL="0" indent="0">
              <a:buNone/>
            </a:pPr>
            <a:endParaRPr lang="fr-FR"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689233" y="928839"/>
            <a:ext cx="10694114" cy="5197642"/>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lgn="just" defTabSz="914400">
              <a:spcBef>
                <a:spcPts val="1000"/>
              </a:spcBef>
              <a:buNone/>
            </a:pPr>
            <a:r>
              <a:rPr lang="fr-FR" sz="2000" dirty="0">
                <a:solidFill>
                  <a:schemeClr val="tx1"/>
                </a:solidFill>
                <a:ea typeface="+mn-ea"/>
              </a:rPr>
              <a:t>Après avoir validé, SAP a importé le CALL FUNCTION de la fonction « SD_CUSTOMER_MAINTAIN_ALL » avec tous ses paramètres et ses exceptions. Aussi, tout ce qui est en commentaire correspondant à des paramètres optionnels. </a:t>
            </a:r>
          </a:p>
          <a:p>
            <a:pPr marL="0" indent="0" algn="just" defTabSz="914400">
              <a:spcBef>
                <a:spcPts val="1000"/>
              </a:spcBef>
              <a:buNone/>
            </a:pPr>
            <a:r>
              <a:rPr lang="fr-FR" sz="2000" dirty="0">
                <a:solidFill>
                  <a:schemeClr val="tx1"/>
                </a:solidFill>
                <a:ea typeface="+mn-ea"/>
              </a:rPr>
              <a:t>Concernant les exceptions, chacune est associée à un numéro. </a:t>
            </a:r>
          </a:p>
          <a:p>
            <a:pPr marL="0" indent="0" algn="just" defTabSz="914400">
              <a:spcBef>
                <a:spcPts val="1000"/>
              </a:spcBef>
              <a:buNone/>
            </a:pPr>
            <a:r>
              <a:rPr lang="fr-FR" sz="2000" dirty="0">
                <a:solidFill>
                  <a:schemeClr val="tx1"/>
                </a:solidFill>
                <a:ea typeface="+mn-ea"/>
              </a:rPr>
              <a:t>Il s’agit en fait de la valeur que prendra la variable système </a:t>
            </a:r>
          </a:p>
          <a:p>
            <a:pPr marL="0" indent="0" algn="just" defTabSz="914400">
              <a:spcBef>
                <a:spcPts val="1000"/>
              </a:spcBef>
              <a:buNone/>
            </a:pPr>
            <a:r>
              <a:rPr lang="fr-FR" sz="2000" dirty="0">
                <a:solidFill>
                  <a:schemeClr val="tx1"/>
                </a:solidFill>
                <a:ea typeface="+mn-ea"/>
              </a:rPr>
              <a:t>du code retour SY-SUBRC après l’exécution de la fonction.</a:t>
            </a:r>
          </a:p>
          <a:p>
            <a:pPr marL="0" indent="0">
              <a:buNone/>
            </a:pPr>
            <a:endParaRPr lang="fr-FR" sz="2200" dirty="0"/>
          </a:p>
          <a:p>
            <a:pPr marL="0" indent="0">
              <a:buNone/>
            </a:pPr>
            <a:endParaRPr lang="fr-FR" sz="2200" dirty="0"/>
          </a:p>
        </p:txBody>
      </p:sp>
      <p:pic>
        <p:nvPicPr>
          <p:cNvPr id="5" name="Image 4">
            <a:extLst>
              <a:ext uri="{FF2B5EF4-FFF2-40B4-BE49-F238E27FC236}">
                <a16:creationId xmlns:a16="http://schemas.microsoft.com/office/drawing/2014/main" id="{6FE02F2D-9B5D-4B2C-88B8-980CA8060121}"/>
              </a:ext>
            </a:extLst>
          </p:cNvPr>
          <p:cNvPicPr>
            <a:picLocks noChangeAspect="1"/>
          </p:cNvPicPr>
          <p:nvPr/>
        </p:nvPicPr>
        <p:blipFill>
          <a:blip r:embed="rId2"/>
          <a:stretch>
            <a:fillRect/>
          </a:stretch>
        </p:blipFill>
        <p:spPr>
          <a:xfrm>
            <a:off x="7409073" y="2002273"/>
            <a:ext cx="3498980" cy="3827506"/>
          </a:xfrm>
          <a:prstGeom prst="rect">
            <a:avLst/>
          </a:prstGeom>
        </p:spPr>
      </p:pic>
    </p:spTree>
    <p:extLst>
      <p:ext uri="{BB962C8B-B14F-4D97-AF65-F5344CB8AC3E}">
        <p14:creationId xmlns:p14="http://schemas.microsoft.com/office/powerpoint/2010/main" val="2549400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Exercices</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167814"/>
            <a:ext cx="10694114" cy="5220912"/>
          </a:xfrm>
        </p:spPr>
        <p:txBody>
          <a:bodyPr>
            <a:normAutofit/>
          </a:bodyPr>
          <a:lstStyle/>
          <a:p>
            <a:pPr marL="0" indent="0">
              <a:lnSpc>
                <a:spcPct val="100000"/>
              </a:lnSpc>
              <a:buNone/>
            </a:pPr>
            <a:r>
              <a:rPr lang="fr-FR" sz="2000" dirty="0"/>
              <a:t>La société pour laquelle vous intervenez a besoin d’un report lui permettant de connaître rapidement l’ensemble des articles/quantités qui ont été commandés par client sur une tranche de date.</a:t>
            </a:r>
          </a:p>
          <a:p>
            <a:pPr marL="0" indent="0">
              <a:lnSpc>
                <a:spcPct val="100000"/>
              </a:lnSpc>
              <a:buNone/>
            </a:pPr>
            <a:r>
              <a:rPr lang="fr-FR" sz="1600" dirty="0">
                <a:solidFill>
                  <a:srgbClr val="FF0000"/>
                </a:solidFill>
              </a:rPr>
              <a:t>/ ! \ </a:t>
            </a:r>
            <a:r>
              <a:rPr lang="fr-FR" sz="1600" dirty="0"/>
              <a:t>Un simple programme pourrait suffire, mais la société sait qu’il y aura d’autres besoins autour des commandes de vente et demande à ce que la récupération se fasse via module fonction.</a:t>
            </a:r>
          </a:p>
          <a:p>
            <a:pPr marL="0" indent="0">
              <a:lnSpc>
                <a:spcPct val="100000"/>
              </a:lnSpc>
              <a:buNone/>
            </a:pPr>
            <a:r>
              <a:rPr lang="fr-FR" sz="1600" dirty="0"/>
              <a:t>1- Créer le programme de </a:t>
            </a:r>
            <a:r>
              <a:rPr lang="fr-FR" sz="1600" dirty="0" err="1"/>
              <a:t>reporting</a:t>
            </a:r>
            <a:r>
              <a:rPr lang="fr-FR" sz="1600" dirty="0"/>
              <a:t> - Nom du programme : ZSDRE_SO_CUST_&lt;TRIGRAMME&gt;</a:t>
            </a:r>
          </a:p>
          <a:p>
            <a:pPr marL="0" indent="0">
              <a:lnSpc>
                <a:spcPct val="100000"/>
              </a:lnSpc>
              <a:buNone/>
            </a:pPr>
            <a:r>
              <a:rPr lang="fr-FR" sz="1600" dirty="0"/>
              <a:t>Critères de sélection : paramètre </a:t>
            </a:r>
            <a:r>
              <a:rPr lang="fr-FR" sz="1600" dirty="0" err="1"/>
              <a:t>n°client</a:t>
            </a:r>
            <a:r>
              <a:rPr lang="fr-FR" sz="1600" dirty="0"/>
              <a:t> (KUNNR) / SELECT-OPTION Tranche de date (VBAK-ERDAT)</a:t>
            </a:r>
          </a:p>
          <a:p>
            <a:pPr marL="0" indent="0">
              <a:lnSpc>
                <a:spcPct val="100000"/>
              </a:lnSpc>
              <a:buNone/>
            </a:pPr>
            <a:r>
              <a:rPr lang="fr-FR" sz="1600" dirty="0"/>
              <a:t>2- Créer un groupe de fonction ZSDGF_&lt;TRIGRAMME&gt; (SE80) </a:t>
            </a:r>
          </a:p>
          <a:p>
            <a:pPr marL="0" indent="0">
              <a:lnSpc>
                <a:spcPct val="100000"/>
              </a:lnSpc>
              <a:buNone/>
            </a:pPr>
            <a:r>
              <a:rPr lang="fr-FR" sz="1600" dirty="0"/>
              <a:t>3- Créer la fonction Z_GET_SO_CUST_&lt;TRIGRAMME&gt; pour récupérer les données commande.</a:t>
            </a:r>
          </a:p>
          <a:p>
            <a:pPr marL="0" indent="0">
              <a:lnSpc>
                <a:spcPct val="100000"/>
              </a:lnSpc>
              <a:buNone/>
            </a:pPr>
            <a:r>
              <a:rPr lang="fr-FR" sz="1600" dirty="0"/>
              <a:t>Paramètres d’entrée : n° client (KUNNR) / Tranche de date (ERDAT)</a:t>
            </a:r>
          </a:p>
          <a:p>
            <a:pPr marL="0" indent="0">
              <a:lnSpc>
                <a:spcPct val="100000"/>
              </a:lnSpc>
              <a:buNone/>
            </a:pPr>
            <a:r>
              <a:rPr lang="fr-FR" sz="1600" dirty="0"/>
              <a:t>Paramètre en sortie : Table des données commande ET table de retour pour gestion des erreurs.</a:t>
            </a:r>
          </a:p>
          <a:p>
            <a:pPr marL="0" indent="0">
              <a:lnSpc>
                <a:spcPct val="100000"/>
              </a:lnSpc>
              <a:buNone/>
            </a:pPr>
            <a:r>
              <a:rPr lang="fr-FR" sz="1600" dirty="0"/>
              <a:t>4 -  Affichage (idéal) du résultat avec : Nom du client, désignation de l’article, quantité totale par article et unité</a:t>
            </a:r>
          </a:p>
          <a:p>
            <a:pPr marL="0" indent="0">
              <a:lnSpc>
                <a:spcPct val="100000"/>
              </a:lnSpc>
              <a:buNone/>
            </a:pPr>
            <a:r>
              <a:rPr lang="fr-FR" sz="1600" dirty="0"/>
              <a:t>Affichage simplifié : n° client, </a:t>
            </a:r>
            <a:r>
              <a:rPr lang="fr-FR" sz="1600" dirty="0" err="1"/>
              <a:t>n°article</a:t>
            </a:r>
            <a:r>
              <a:rPr lang="fr-FR" sz="1600" dirty="0"/>
              <a:t>, quantité par article, unité</a:t>
            </a:r>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1980695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D70251-534A-42E3-AAAE-FD7AB232D3F7}"/>
              </a:ext>
            </a:extLst>
          </p:cNvPr>
          <p:cNvSpPr>
            <a:spLocks noGrp="1"/>
          </p:cNvSpPr>
          <p:nvPr>
            <p:ph type="title"/>
          </p:nvPr>
        </p:nvSpPr>
        <p:spPr/>
        <p:txBody>
          <a:bodyPr>
            <a:normAutofit/>
          </a:bodyPr>
          <a:lstStyle/>
          <a:p>
            <a:pPr algn="ctr"/>
            <a:r>
              <a:rPr lang="fr-FR" sz="4000" b="1" dirty="0">
                <a:solidFill>
                  <a:schemeClr val="accent1"/>
                </a:solidFill>
              </a:rPr>
              <a:t>Aide navigation</a:t>
            </a:r>
          </a:p>
        </p:txBody>
      </p:sp>
      <p:sp>
        <p:nvSpPr>
          <p:cNvPr id="3" name="Espace réservé du texte 2">
            <a:extLst>
              <a:ext uri="{FF2B5EF4-FFF2-40B4-BE49-F238E27FC236}">
                <a16:creationId xmlns:a16="http://schemas.microsoft.com/office/drawing/2014/main" id="{0D5CF6C2-E6C4-4BDA-908C-4DA50D46D275}"/>
              </a:ext>
            </a:extLst>
          </p:cNvPr>
          <p:cNvSpPr>
            <a:spLocks noGrp="1"/>
          </p:cNvSpPr>
          <p:nvPr>
            <p:ph type="body" sz="half" idx="1"/>
          </p:nvPr>
        </p:nvSpPr>
        <p:spPr>
          <a:xfrm>
            <a:off x="689233" y="1167814"/>
            <a:ext cx="10694114" cy="5220912"/>
          </a:xfrm>
        </p:spPr>
        <p:txBody>
          <a:bodyPr>
            <a:normAutofit/>
          </a:bodyPr>
          <a:lstStyle/>
          <a:p>
            <a:pPr marL="0" indent="0">
              <a:buNone/>
            </a:pPr>
            <a:r>
              <a:rPr lang="fr-FR" sz="2000" dirty="0"/>
              <a:t>Liste des tables utiles : KNA1 (client), VBAK (en-tête commande), VBAP (postes commande), MAKT (description articles)</a:t>
            </a:r>
          </a:p>
          <a:p>
            <a:pPr marL="0" indent="0">
              <a:buNone/>
            </a:pPr>
            <a:r>
              <a:rPr lang="fr-FR" sz="2000" dirty="0"/>
              <a:t>Liste des transactions utiles : </a:t>
            </a:r>
          </a:p>
          <a:p>
            <a:pPr>
              <a:lnSpc>
                <a:spcPct val="100000"/>
              </a:lnSpc>
              <a:buFontTx/>
              <a:buChar char="-"/>
            </a:pPr>
            <a:r>
              <a:rPr lang="fr-FR" sz="1600" dirty="0"/>
              <a:t>SE80 : naviguer dans les objets et dans notre cas, créer le groupe de fonction</a:t>
            </a:r>
          </a:p>
          <a:p>
            <a:pPr>
              <a:lnSpc>
                <a:spcPct val="100000"/>
              </a:lnSpc>
              <a:buFontTx/>
              <a:buChar char="-"/>
            </a:pPr>
            <a:r>
              <a:rPr lang="fr-FR" sz="1600" dirty="0"/>
              <a:t>SE37 : accès direct au fonction module</a:t>
            </a:r>
          </a:p>
          <a:p>
            <a:pPr>
              <a:lnSpc>
                <a:spcPct val="100000"/>
              </a:lnSpc>
              <a:buFontTx/>
              <a:buChar char="-"/>
            </a:pPr>
            <a:r>
              <a:rPr lang="fr-FR" sz="1600" dirty="0"/>
              <a:t>SE38 : accès au programme de </a:t>
            </a:r>
            <a:r>
              <a:rPr lang="fr-FR" sz="1600" dirty="0" err="1"/>
              <a:t>reporting</a:t>
            </a:r>
            <a:endParaRPr lang="fr-FR" sz="1600" dirty="0"/>
          </a:p>
          <a:p>
            <a:pPr>
              <a:lnSpc>
                <a:spcPct val="100000"/>
              </a:lnSpc>
              <a:buFontTx/>
              <a:buChar char="-"/>
            </a:pPr>
            <a:r>
              <a:rPr lang="fr-FR" sz="1600" dirty="0"/>
              <a:t>SE11 (ou SE16N) : accès aux données de la BDD (base de données)</a:t>
            </a:r>
          </a:p>
          <a:p>
            <a:pPr>
              <a:lnSpc>
                <a:spcPct val="100000"/>
              </a:lnSpc>
              <a:buFontTx/>
              <a:buChar char="-"/>
            </a:pPr>
            <a:r>
              <a:rPr lang="fr-FR" sz="1600" dirty="0"/>
              <a:t>SE10 : gestion du DDIC (dictionnaire des données)</a:t>
            </a:r>
          </a:p>
          <a:p>
            <a:pPr>
              <a:lnSpc>
                <a:spcPct val="100000"/>
              </a:lnSpc>
              <a:buFontTx/>
              <a:buChar char="-"/>
            </a:pPr>
            <a:r>
              <a:rPr lang="fr-FR" sz="1600" dirty="0"/>
              <a:t>VA03 : affichage des commandes de vente</a:t>
            </a:r>
          </a:p>
          <a:p>
            <a:pPr>
              <a:lnSpc>
                <a:spcPct val="100000"/>
              </a:lnSpc>
              <a:buFontTx/>
              <a:buChar char="-"/>
            </a:pPr>
            <a:endParaRPr lang="fr-FR" sz="1600" dirty="0"/>
          </a:p>
        </p:txBody>
      </p:sp>
      <p:sp>
        <p:nvSpPr>
          <p:cNvPr id="16" name="Espace réservé du texte 2">
            <a:extLst>
              <a:ext uri="{FF2B5EF4-FFF2-40B4-BE49-F238E27FC236}">
                <a16:creationId xmlns:a16="http://schemas.microsoft.com/office/drawing/2014/main" id="{6881D2AA-95AC-49C1-9908-9C921FFDB5D1}"/>
              </a:ext>
            </a:extLst>
          </p:cNvPr>
          <p:cNvSpPr txBox="1">
            <a:spLocks/>
          </p:cNvSpPr>
          <p:nvPr/>
        </p:nvSpPr>
        <p:spPr>
          <a:xfrm>
            <a:off x="5691674" y="1167814"/>
            <a:ext cx="5811094" cy="496042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1800" dirty="0"/>
          </a:p>
        </p:txBody>
      </p:sp>
      <p:sp>
        <p:nvSpPr>
          <p:cNvPr id="9" name="Espace réservé du texte 2">
            <a:extLst>
              <a:ext uri="{FF2B5EF4-FFF2-40B4-BE49-F238E27FC236}">
                <a16:creationId xmlns:a16="http://schemas.microsoft.com/office/drawing/2014/main" id="{07D12156-6FA0-4A1E-89F3-B8486654983B}"/>
              </a:ext>
            </a:extLst>
          </p:cNvPr>
          <p:cNvSpPr txBox="1">
            <a:spLocks/>
          </p:cNvSpPr>
          <p:nvPr/>
        </p:nvSpPr>
        <p:spPr>
          <a:xfrm>
            <a:off x="279553" y="907327"/>
            <a:ext cx="10824242" cy="5481398"/>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a:p>
            <a:pPr marL="0" indent="0">
              <a:buNone/>
            </a:pPr>
            <a:endParaRPr lang="fr-FR" sz="2200" dirty="0"/>
          </a:p>
        </p:txBody>
      </p:sp>
      <p:sp>
        <p:nvSpPr>
          <p:cNvPr id="10" name="Espace réservé du texte 2">
            <a:extLst>
              <a:ext uri="{FF2B5EF4-FFF2-40B4-BE49-F238E27FC236}">
                <a16:creationId xmlns:a16="http://schemas.microsoft.com/office/drawing/2014/main" id="{A1CCE550-BA58-4D24-8FAA-3D858EBCC528}"/>
              </a:ext>
            </a:extLst>
          </p:cNvPr>
          <p:cNvSpPr txBox="1">
            <a:spLocks/>
          </p:cNvSpPr>
          <p:nvPr/>
        </p:nvSpPr>
        <p:spPr>
          <a:xfrm>
            <a:off x="953783" y="1529382"/>
            <a:ext cx="10694114" cy="5360505"/>
          </a:xfrm>
          <a:prstGeom prst="rect">
            <a:avLst/>
          </a:prstGeom>
        </p:spPr>
        <p:txBody>
          <a:bodyPr lIns="144000" tIns="144000" rIns="144000" bIns="144000"/>
          <a:lstStyle>
            <a:lvl1pPr marL="530225" marR="0" indent="-530225" algn="l" defTabSz="1087443" rtl="0" latinLnBrk="0">
              <a:lnSpc>
                <a:spcPct val="150000"/>
              </a:lnSpc>
              <a:spcBef>
                <a:spcPts val="500"/>
              </a:spcBef>
              <a:spcAft>
                <a:spcPts val="0"/>
              </a:spcAft>
              <a:buClrTx/>
              <a:buSzTx/>
              <a:buFont typeface="Wingdings" panose="05000000000000000000" pitchFamily="2" charset="2"/>
              <a:buChar char="§"/>
              <a:tabLst/>
              <a:defRPr sz="44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1pPr>
            <a:lvl2pPr marL="1262063"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2pPr>
            <a:lvl3pPr marL="197485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3pPr>
            <a:lvl4pPr marL="2687638"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4pPr>
            <a:lvl5pPr marL="3492500" marR="0" indent="-571500" algn="l" defTabSz="1087443" rtl="0" latinLnBrk="0">
              <a:lnSpc>
                <a:spcPct val="150000"/>
              </a:lnSpc>
              <a:spcBef>
                <a:spcPts val="500"/>
              </a:spcBef>
              <a:spcAft>
                <a:spcPts val="0"/>
              </a:spcAft>
              <a:buClrTx/>
              <a:buSzTx/>
              <a:buFont typeface="Wingdings" panose="05000000000000000000" pitchFamily="2" charset="2"/>
              <a:buChar char="§"/>
              <a:tabLst/>
              <a:defRPr sz="4000" b="0" i="0" u="none" strike="noStrike" cap="none" spc="0" baseline="0">
                <a:ln>
                  <a:noFill/>
                </a:ln>
                <a:solidFill>
                  <a:srgbClr val="797979"/>
                </a:solidFill>
                <a:uFillTx/>
                <a:latin typeface="Calibri" panose="020F0502020204030204" pitchFamily="34" charset="0"/>
                <a:ea typeface="Exo 2 Light"/>
                <a:cs typeface="Calibri" panose="020F0502020204030204" pitchFamily="34" charset="0"/>
                <a:sym typeface="Exo 2 Light"/>
              </a:defRPr>
            </a:lvl5pPr>
            <a:lvl6pPr marL="5709084"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6pPr>
            <a:lvl7pPr marL="6796530" marR="0" indent="-271861"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7pPr>
            <a:lvl8pPr marL="7883979"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8pPr>
            <a:lvl9pPr marL="8971422" marR="0" indent="-271862" algn="ctr" defTabSz="1087443" rtl="0" latinLnBrk="0">
              <a:lnSpc>
                <a:spcPct val="130000"/>
              </a:lnSpc>
              <a:spcBef>
                <a:spcPts val="500"/>
              </a:spcBef>
              <a:spcAft>
                <a:spcPts val="0"/>
              </a:spcAft>
              <a:buClrTx/>
              <a:buSzPct val="100000"/>
              <a:buFontTx/>
              <a:buChar char="•"/>
              <a:tabLst/>
              <a:defRPr sz="2400" b="0" i="0" u="none" strike="noStrike" cap="none" spc="0" baseline="0">
                <a:ln>
                  <a:noFill/>
                </a:ln>
                <a:solidFill>
                  <a:srgbClr val="797979"/>
                </a:solidFill>
                <a:uFillTx/>
                <a:latin typeface="Exo 2 Light"/>
                <a:ea typeface="Exo 2 Light"/>
                <a:cs typeface="Exo 2 Light"/>
                <a:sym typeface="Exo 2 Light"/>
              </a:defRPr>
            </a:lvl9pPr>
          </a:lstStyle>
          <a:p>
            <a:pPr marL="0" indent="0">
              <a:buNone/>
            </a:pPr>
            <a:endParaRPr lang="fr-FR" sz="2200" dirty="0"/>
          </a:p>
          <a:p>
            <a:pPr marL="0" indent="0">
              <a:buNone/>
            </a:pPr>
            <a:endParaRPr lang="fr-FR" sz="2200" dirty="0"/>
          </a:p>
        </p:txBody>
      </p:sp>
    </p:spTree>
    <p:extLst>
      <p:ext uri="{BB962C8B-B14F-4D97-AF65-F5344CB8AC3E}">
        <p14:creationId xmlns:p14="http://schemas.microsoft.com/office/powerpoint/2010/main" val="22608429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1551</Words>
  <Application>Microsoft Office PowerPoint</Application>
  <PresentationFormat>Grand écran</PresentationFormat>
  <Paragraphs>190</Paragraphs>
  <Slides>18</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18</vt:i4>
      </vt:variant>
    </vt:vector>
  </HeadingPairs>
  <TitlesOfParts>
    <vt:vector size="25" baseType="lpstr">
      <vt:lpstr>Aptos</vt:lpstr>
      <vt:lpstr>Aptos Display</vt:lpstr>
      <vt:lpstr>Arial</vt:lpstr>
      <vt:lpstr>Calibri</vt:lpstr>
      <vt:lpstr>Exo 2 Light</vt:lpstr>
      <vt:lpstr>Wingdings</vt:lpstr>
      <vt:lpstr>Thème Office</vt:lpstr>
      <vt:lpstr>Présentation PowerPoint</vt:lpstr>
      <vt:lpstr>Définition et accès</vt:lpstr>
      <vt:lpstr>MF et groupe de fonctions</vt:lpstr>
      <vt:lpstr>Un exemple de module fonction</vt:lpstr>
      <vt:lpstr>Un exemple de module fonction (2)</vt:lpstr>
      <vt:lpstr>Le code source</vt:lpstr>
      <vt:lpstr>Les objets liés au MF</vt:lpstr>
      <vt:lpstr>Les propriétés du MF</vt:lpstr>
      <vt:lpstr>Les paramètres</vt:lpstr>
      <vt:lpstr>Les paramètres : Importation</vt:lpstr>
      <vt:lpstr>Les paramètres : Export, Modification, Tables</vt:lpstr>
      <vt:lpstr>Les paramètres : Déclarer un type de Table</vt:lpstr>
      <vt:lpstr>Les paramètres : Les exceptions</vt:lpstr>
      <vt:lpstr>Le code source</vt:lpstr>
      <vt:lpstr>Le code source (2)</vt:lpstr>
      <vt:lpstr>Le code source (3)</vt:lpstr>
      <vt:lpstr>Exercices</vt:lpstr>
      <vt:lpstr>Aide navigation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Robin ATTIA</dc:creator>
  <cp:lastModifiedBy>Robin ATTIA</cp:lastModifiedBy>
  <cp:revision>3</cp:revision>
  <dcterms:created xsi:type="dcterms:W3CDTF">2024-09-04T20:54:41Z</dcterms:created>
  <dcterms:modified xsi:type="dcterms:W3CDTF">2025-11-24T16:11:07Z</dcterms:modified>
</cp:coreProperties>
</file>