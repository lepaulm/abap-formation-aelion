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99" r:id="rId2"/>
    <p:sldId id="4107" r:id="rId3"/>
    <p:sldId id="4108" r:id="rId4"/>
    <p:sldId id="4074" r:id="rId5"/>
    <p:sldId id="4069" r:id="rId6"/>
    <p:sldId id="4076" r:id="rId7"/>
    <p:sldId id="4078" r:id="rId8"/>
    <p:sldId id="4079" r:id="rId9"/>
    <p:sldId id="4075" r:id="rId10"/>
    <p:sldId id="4093" r:id="rId11"/>
    <p:sldId id="4110" r:id="rId12"/>
    <p:sldId id="4105" r:id="rId13"/>
    <p:sldId id="4111" r:id="rId14"/>
    <p:sldId id="4106" r:id="rId15"/>
    <p:sldId id="4091" r:id="rId16"/>
    <p:sldId id="4096" r:id="rId17"/>
    <p:sldId id="4098" r:id="rId18"/>
    <p:sldId id="4099" r:id="rId19"/>
    <p:sldId id="4082" r:id="rId20"/>
    <p:sldId id="4083" r:id="rId21"/>
    <p:sldId id="4084" r:id="rId22"/>
    <p:sldId id="4085" r:id="rId23"/>
    <p:sldId id="4086" r:id="rId24"/>
    <p:sldId id="4087" r:id="rId25"/>
    <p:sldId id="4112" r:id="rId26"/>
    <p:sldId id="4088"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7" d="100"/>
          <a:sy n="107" d="100"/>
        </p:scale>
        <p:origin x="7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C594AA-D464-5EA7-13DA-D5CA91584DB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AB374A8-C4EB-4104-F13F-985EDEA15C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48EB5A4-3E47-437E-B414-E16D2F9645A1}"/>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5" name="Espace réservé du pied de page 4">
            <a:extLst>
              <a:ext uri="{FF2B5EF4-FFF2-40B4-BE49-F238E27FC236}">
                <a16:creationId xmlns:a16="http://schemas.microsoft.com/office/drawing/2014/main" id="{44B015F3-8C7C-64DF-0604-08146455BD2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A1AF9C8-B5B2-9FB8-108E-492A2CC53171}"/>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4203885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CDB2E-A61F-D4E0-CE86-25C89AF43FD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367BD47-8124-9D1E-D838-064541FCC7E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60F8A38-291F-FA25-53F8-D7F8F68962F3}"/>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5" name="Espace réservé du pied de page 4">
            <a:extLst>
              <a:ext uri="{FF2B5EF4-FFF2-40B4-BE49-F238E27FC236}">
                <a16:creationId xmlns:a16="http://schemas.microsoft.com/office/drawing/2014/main" id="{2A004A71-7FFF-0107-D3ED-C0AC7073B77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1B6ED69-6CAE-83B3-A8A2-69B06B31CCE3}"/>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1321294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C145F5-5470-E5DF-72CC-4445E3CE76C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773CC80-DB30-0B4A-5FCF-51421A1C74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0D2DF55-A95A-0F8B-B8ED-1D279A707800}"/>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5" name="Espace réservé du pied de page 4">
            <a:extLst>
              <a:ext uri="{FF2B5EF4-FFF2-40B4-BE49-F238E27FC236}">
                <a16:creationId xmlns:a16="http://schemas.microsoft.com/office/drawing/2014/main" id="{00D53966-4B8A-602B-A74E-DD1B9B47F6D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C7B4A90-3AA3-9606-E473-EF989FD96826}"/>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1903636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6F1C37-71A1-A135-ABA5-E9B7FD448ED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6E3F455-E728-B7CE-8469-EA20D7420E6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97F5C59-8D9E-9391-3BA7-062F6C6A766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38A0677-310F-16B8-664E-D863E9931F8B}"/>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6" name="Espace réservé du pied de page 5">
            <a:extLst>
              <a:ext uri="{FF2B5EF4-FFF2-40B4-BE49-F238E27FC236}">
                <a16:creationId xmlns:a16="http://schemas.microsoft.com/office/drawing/2014/main" id="{633AE530-B7EC-2B7B-FB0B-35AB3C68540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A88BD1B-DF51-8439-8043-58F84AE90E13}"/>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4034228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028D75-1AB9-8BEE-D773-9BA3777A57C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C1A0F88-C077-1726-DE9B-DE13A13A07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4FF0169-5BBD-855A-6382-0D4D108F9A9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402724A-3052-CBBF-6138-BB04474C8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0F02EF6-638F-DDEE-AB0B-24BB5898554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9E54BCA-9A08-2D03-BE49-9E4088CA1907}"/>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8" name="Espace réservé du pied de page 7">
            <a:extLst>
              <a:ext uri="{FF2B5EF4-FFF2-40B4-BE49-F238E27FC236}">
                <a16:creationId xmlns:a16="http://schemas.microsoft.com/office/drawing/2014/main" id="{6788D664-424C-15EA-B818-A099CE71B05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D21FC57-4F93-6BD3-0C7B-0FF8474EC6DC}"/>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400221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B5AFC-5481-7461-F2AB-742AC13C3E9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DB0165E-5536-DA31-DBC4-B5516D3E0450}"/>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4" name="Espace réservé du pied de page 3">
            <a:extLst>
              <a:ext uri="{FF2B5EF4-FFF2-40B4-BE49-F238E27FC236}">
                <a16:creationId xmlns:a16="http://schemas.microsoft.com/office/drawing/2014/main" id="{48ECE97E-4598-34E6-E24E-B307E8384B3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DA9A8AD-673E-C987-FEE6-DF1D2A83FBD2}"/>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906919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74639FA-93D3-0A5A-B711-1DA70B417DA1}"/>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3" name="Espace réservé du pied de page 2">
            <a:extLst>
              <a:ext uri="{FF2B5EF4-FFF2-40B4-BE49-F238E27FC236}">
                <a16:creationId xmlns:a16="http://schemas.microsoft.com/office/drawing/2014/main" id="{017A62F3-6A21-A061-1BA7-96BBC39FB59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C7E5985-312F-DFEE-B82A-C812A4C68686}"/>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4168381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54AC07-B5A7-BC6E-2480-B00CAE924DF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2EED937-D653-9347-FB6D-DFE874C325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1BF440B-C7EE-8DCB-40F1-A53F2D285F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C535AF2-40C9-0169-C812-12CBAC3FA76F}"/>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6" name="Espace réservé du pied de page 5">
            <a:extLst>
              <a:ext uri="{FF2B5EF4-FFF2-40B4-BE49-F238E27FC236}">
                <a16:creationId xmlns:a16="http://schemas.microsoft.com/office/drawing/2014/main" id="{4CDD0FAF-FA10-681B-F576-5762AF619DE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34ACE34-47B2-0FD0-9816-927AFF97BD48}"/>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1004636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808656-E288-1AFA-A200-47909BBD332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B59D1AD-E976-B848-ACDC-AF3749D007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0EDD4FA-A4A5-FDB2-B86D-3C7DC7A229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7BBE9FD-5DCC-0735-75FA-ABE7B89516F1}"/>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6" name="Espace réservé du pied de page 5">
            <a:extLst>
              <a:ext uri="{FF2B5EF4-FFF2-40B4-BE49-F238E27FC236}">
                <a16:creationId xmlns:a16="http://schemas.microsoft.com/office/drawing/2014/main" id="{5C7AF0CD-569F-FF96-876A-493489931C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35999C0-8110-E1AC-1360-31954F412267}"/>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2025385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CDA8F4-69B2-1642-8AB4-4DE7A48E5FB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69FB54C-9E1B-B943-FB15-9BE72EC967A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43A0568-E6D3-BA07-D52B-6F10BAF83005}"/>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5" name="Espace réservé du pied de page 4">
            <a:extLst>
              <a:ext uri="{FF2B5EF4-FFF2-40B4-BE49-F238E27FC236}">
                <a16:creationId xmlns:a16="http://schemas.microsoft.com/office/drawing/2014/main" id="{2DFEBD9D-4B52-E691-CE69-252B234F85E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4E43D30-044F-B752-9477-1BC5AC0E9172}"/>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563599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88F822B-52F4-4CDA-0202-C97B3ECAE06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48A08D1-699C-08D1-879D-1B55B9038A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422F7B8-1EA9-4CCD-8F83-13A3897ACA59}"/>
              </a:ext>
            </a:extLst>
          </p:cNvPr>
          <p:cNvSpPr>
            <a:spLocks noGrp="1"/>
          </p:cNvSpPr>
          <p:nvPr>
            <p:ph type="dt" sz="half" idx="10"/>
          </p:nvPr>
        </p:nvSpPr>
        <p:spPr/>
        <p:txBody>
          <a:bodyPr/>
          <a:lstStyle/>
          <a:p>
            <a:fld id="{209F4A61-BF6E-46AE-B2AF-38AF17C84D0E}" type="datetimeFigureOut">
              <a:rPr lang="fr-FR" smtClean="0"/>
              <a:t>02/12/2025</a:t>
            </a:fld>
            <a:endParaRPr lang="fr-FR"/>
          </a:p>
        </p:txBody>
      </p:sp>
      <p:sp>
        <p:nvSpPr>
          <p:cNvPr id="5" name="Espace réservé du pied de page 4">
            <a:extLst>
              <a:ext uri="{FF2B5EF4-FFF2-40B4-BE49-F238E27FC236}">
                <a16:creationId xmlns:a16="http://schemas.microsoft.com/office/drawing/2014/main" id="{5DEEB8AA-E1DB-9F43-A933-F9F058D9C2A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9EA63D7-26B1-F9C5-1021-210C64CF9AA6}"/>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1175877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TMS">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57E0DA5-1A84-457E-8089-6F317ED0D4C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4" y="807"/>
            <a:ext cx="12188952" cy="5708904"/>
          </a:xfrm>
          <a:prstGeom prst="rect">
            <a:avLst/>
          </a:prstGeom>
        </p:spPr>
      </p:pic>
      <p:sp>
        <p:nvSpPr>
          <p:cNvPr id="12" name="Rectangle">
            <a:extLst>
              <a:ext uri="{FF2B5EF4-FFF2-40B4-BE49-F238E27FC236}">
                <a16:creationId xmlns:a16="http://schemas.microsoft.com/office/drawing/2014/main" id="{1D71088A-448F-426E-9A9F-5E69C1121E35}"/>
              </a:ext>
            </a:extLst>
          </p:cNvPr>
          <p:cNvSpPr/>
          <p:nvPr userDrawn="1"/>
        </p:nvSpPr>
        <p:spPr>
          <a:xfrm rot="106">
            <a:off x="1555" y="3802987"/>
            <a:ext cx="12188891" cy="1909933"/>
          </a:xfrm>
          <a:prstGeom prst="rect">
            <a:avLst/>
          </a:prstGeom>
          <a:solidFill>
            <a:srgbClr val="1568AB"/>
          </a:solidFill>
          <a:ln w="25400">
            <a:solidFill>
              <a:schemeClr val="accent1">
                <a:alpha val="0"/>
              </a:schemeClr>
            </a:solidFill>
            <a:bevel/>
          </a:ln>
        </p:spPr>
        <p:txBody>
          <a:bodyPr lIns="22860" rIns="22860" anchor="ctr"/>
          <a:lstStyle/>
          <a:p>
            <a:endParaRPr sz="900"/>
          </a:p>
        </p:txBody>
      </p:sp>
      <p:sp>
        <p:nvSpPr>
          <p:cNvPr id="14" name="Technical and financial Bid">
            <a:extLst>
              <a:ext uri="{FF2B5EF4-FFF2-40B4-BE49-F238E27FC236}">
                <a16:creationId xmlns:a16="http://schemas.microsoft.com/office/drawing/2014/main" id="{A912186B-0399-4C1C-8355-0F5E95DDC75C}"/>
              </a:ext>
            </a:extLst>
          </p:cNvPr>
          <p:cNvSpPr txBox="1">
            <a:spLocks noGrp="1"/>
          </p:cNvSpPr>
          <p:nvPr>
            <p:ph type="subTitle" sz="quarter" idx="1" hasCustomPrompt="1"/>
          </p:nvPr>
        </p:nvSpPr>
        <p:spPr>
          <a:xfrm>
            <a:off x="494769" y="4910806"/>
            <a:ext cx="8535512" cy="558433"/>
          </a:xfrm>
          <a:prstGeom prst="rect">
            <a:avLst/>
          </a:prstGeom>
        </p:spPr>
        <p:txBody>
          <a:bodyPr/>
          <a:lstStyle>
            <a:lvl1pPr algn="l">
              <a:spcBef>
                <a:spcPts val="450"/>
              </a:spcBef>
              <a:defRPr sz="2500">
                <a:solidFill>
                  <a:srgbClr val="FFFFFE"/>
                </a:solidFill>
                <a:latin typeface="Calibri" panose="020F0502020204030204" pitchFamily="34" charset="0"/>
                <a:cs typeface="Calibri" panose="020F0502020204030204" pitchFamily="34" charset="0"/>
              </a:defRPr>
            </a:lvl1pPr>
          </a:lstStyle>
          <a:p>
            <a:r>
              <a:rPr lang="fr-FR" dirty="0"/>
              <a:t>Sous-titre 1</a:t>
            </a:r>
            <a:endParaRPr dirty="0"/>
          </a:p>
        </p:txBody>
      </p:sp>
      <p:sp>
        <p:nvSpPr>
          <p:cNvPr id="15" name="Rectangle">
            <a:extLst>
              <a:ext uri="{FF2B5EF4-FFF2-40B4-BE49-F238E27FC236}">
                <a16:creationId xmlns:a16="http://schemas.microsoft.com/office/drawing/2014/main" id="{7ECDADA6-69BD-4872-9B8C-9B28C12C6D0D}"/>
              </a:ext>
            </a:extLst>
          </p:cNvPr>
          <p:cNvSpPr/>
          <p:nvPr userDrawn="1"/>
        </p:nvSpPr>
        <p:spPr>
          <a:xfrm>
            <a:off x="569435" y="4799848"/>
            <a:ext cx="776823" cy="64008"/>
          </a:xfrm>
          <a:prstGeom prst="rect">
            <a:avLst/>
          </a:prstGeom>
          <a:solidFill>
            <a:srgbClr val="FFB000"/>
          </a:solidFill>
          <a:ln w="12700">
            <a:miter lim="400000"/>
          </a:ln>
        </p:spPr>
        <p:txBody>
          <a:bodyPr lIns="22860" rIns="22860" anchor="ctr"/>
          <a:lstStyle/>
          <a:p>
            <a:pPr algn="ctr">
              <a:defRPr>
                <a:solidFill>
                  <a:schemeClr val="accent2"/>
                </a:solidFill>
                <a:latin typeface="Exo 2 Light"/>
                <a:ea typeface="Exo 2 Light"/>
                <a:cs typeface="Exo 2 Light"/>
                <a:sym typeface="Exo 2 Light"/>
              </a:defRPr>
            </a:pPr>
            <a:endParaRPr sz="900"/>
          </a:p>
        </p:txBody>
      </p:sp>
      <p:pic>
        <p:nvPicPr>
          <p:cNvPr id="16" name="STMS2-BLEU CLAIR.png" descr="STMS2-BLEU CLAIR.png">
            <a:extLst>
              <a:ext uri="{FF2B5EF4-FFF2-40B4-BE49-F238E27FC236}">
                <a16:creationId xmlns:a16="http://schemas.microsoft.com/office/drawing/2014/main" id="{011090BE-9F59-4182-BB62-E5AC4A643AF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3601" y="296250"/>
            <a:ext cx="2917719" cy="446328"/>
          </a:xfrm>
          <a:prstGeom prst="rect">
            <a:avLst/>
          </a:prstGeom>
          <a:ln w="12700">
            <a:miter lim="400000"/>
          </a:ln>
        </p:spPr>
      </p:pic>
      <p:grpSp>
        <p:nvGrpSpPr>
          <p:cNvPr id="22" name="Groupe"/>
          <p:cNvGrpSpPr/>
          <p:nvPr userDrawn="1"/>
        </p:nvGrpSpPr>
        <p:grpSpPr>
          <a:xfrm>
            <a:off x="1" y="6761748"/>
            <a:ext cx="12192000" cy="96253"/>
            <a:chOff x="0" y="0"/>
            <a:chExt cx="24538662" cy="181429"/>
          </a:xfrm>
        </p:grpSpPr>
        <p:sp>
          <p:nvSpPr>
            <p:cNvPr id="17" name="Rectangle"/>
            <p:cNvSpPr/>
            <p:nvPr/>
          </p:nvSpPr>
          <p:spPr>
            <a:xfrm>
              <a:off x="0" y="0"/>
              <a:ext cx="4907733" cy="181430"/>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8" name="Rectangle"/>
            <p:cNvSpPr/>
            <p:nvPr/>
          </p:nvSpPr>
          <p:spPr>
            <a:xfrm>
              <a:off x="4907732" y="0"/>
              <a:ext cx="4907734" cy="18143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9" name="Rectangle"/>
            <p:cNvSpPr/>
            <p:nvPr/>
          </p:nvSpPr>
          <p:spPr>
            <a:xfrm>
              <a:off x="9815465" y="0"/>
              <a:ext cx="4907733" cy="181430"/>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20" name="Rectangle"/>
            <p:cNvSpPr/>
            <p:nvPr/>
          </p:nvSpPr>
          <p:spPr>
            <a:xfrm>
              <a:off x="14723197" y="0"/>
              <a:ext cx="4907733" cy="181430"/>
            </a:xfrm>
            <a:prstGeom prst="rect">
              <a:avLst/>
            </a:prstGeom>
            <a:solidFill>
              <a:srgbClr val="FFB000"/>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21" name="Rectangle"/>
            <p:cNvSpPr/>
            <p:nvPr/>
          </p:nvSpPr>
          <p:spPr>
            <a:xfrm>
              <a:off x="19630930" y="0"/>
              <a:ext cx="4907733" cy="181430"/>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grpSp>
      <p:sp>
        <p:nvSpPr>
          <p:cNvPr id="5" name="Espace réservé du texte 4">
            <a:extLst>
              <a:ext uri="{FF2B5EF4-FFF2-40B4-BE49-F238E27FC236}">
                <a16:creationId xmlns:a16="http://schemas.microsoft.com/office/drawing/2014/main" id="{BF2B9A1C-80FB-4CDF-BFE4-FA95AD254BBF}"/>
              </a:ext>
            </a:extLst>
          </p:cNvPr>
          <p:cNvSpPr>
            <a:spLocks noGrp="1"/>
          </p:cNvSpPr>
          <p:nvPr>
            <p:ph type="body" sz="quarter" idx="10" hasCustomPrompt="1"/>
          </p:nvPr>
        </p:nvSpPr>
        <p:spPr>
          <a:xfrm>
            <a:off x="494294" y="3946309"/>
            <a:ext cx="8535988" cy="777875"/>
          </a:xfrm>
          <a:prstGeom prst="rect">
            <a:avLst/>
          </a:prstGeom>
        </p:spPr>
        <p:txBody>
          <a:bodyPr tIns="46800" anchor="ctr" anchorCtr="0"/>
          <a:lstStyle>
            <a:lvl1pPr algn="l">
              <a:lnSpc>
                <a:spcPct val="100000"/>
              </a:lnSpc>
              <a:spcBef>
                <a:spcPts val="0"/>
              </a:spcBef>
              <a:defRPr sz="4225" b="1">
                <a:solidFill>
                  <a:schemeClr val="bg1"/>
                </a:solidFill>
                <a:latin typeface="Calibri" panose="020F0502020204030204" pitchFamily="34" charset="0"/>
                <a:cs typeface="Calibri" panose="020F0502020204030204" pitchFamily="34" charset="0"/>
              </a:defRPr>
            </a:lvl1pPr>
            <a:lvl2pPr>
              <a:defRPr sz="4225">
                <a:latin typeface="Calibri" panose="020F0502020204030204" pitchFamily="34" charset="0"/>
                <a:cs typeface="Calibri" panose="020F0502020204030204" pitchFamily="34" charset="0"/>
              </a:defRPr>
            </a:lvl2pPr>
            <a:lvl3pPr>
              <a:defRPr sz="4225">
                <a:latin typeface="Calibri" panose="020F0502020204030204" pitchFamily="34" charset="0"/>
                <a:cs typeface="Calibri" panose="020F0502020204030204" pitchFamily="34" charset="0"/>
              </a:defRPr>
            </a:lvl3pPr>
            <a:lvl4pPr>
              <a:defRPr sz="4225">
                <a:latin typeface="Calibri" panose="020F0502020204030204" pitchFamily="34" charset="0"/>
                <a:cs typeface="Calibri" panose="020F0502020204030204" pitchFamily="34" charset="0"/>
              </a:defRPr>
            </a:lvl4pPr>
            <a:lvl5pPr>
              <a:defRPr sz="4225">
                <a:latin typeface="Calibri" panose="020F0502020204030204" pitchFamily="34" charset="0"/>
                <a:cs typeface="Calibri" panose="020F0502020204030204" pitchFamily="34" charset="0"/>
              </a:defRPr>
            </a:lvl5pPr>
          </a:lstStyle>
          <a:p>
            <a:pPr lvl="0"/>
            <a:r>
              <a:rPr lang="fr-FR" dirty="0"/>
              <a:t>Titre 1</a:t>
            </a:r>
          </a:p>
        </p:txBody>
      </p:sp>
    </p:spTree>
    <p:extLst>
      <p:ext uri="{BB962C8B-B14F-4D97-AF65-F5344CB8AC3E}">
        <p14:creationId xmlns:p14="http://schemas.microsoft.com/office/powerpoint/2010/main" val="2476956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ontenu">
    <p:spTree>
      <p:nvGrpSpPr>
        <p:cNvPr id="1" name=""/>
        <p:cNvGrpSpPr/>
        <p:nvPr/>
      </p:nvGrpSpPr>
      <p:grpSpPr>
        <a:xfrm>
          <a:off x="0" y="0"/>
          <a:ext cx="0" cy="0"/>
          <a:chOff x="0" y="0"/>
          <a:chExt cx="0" cy="0"/>
        </a:xfrm>
      </p:grpSpPr>
      <p:sp>
        <p:nvSpPr>
          <p:cNvPr id="23" name="Texte du titre"/>
          <p:cNvSpPr txBox="1">
            <a:spLocks noGrp="1"/>
          </p:cNvSpPr>
          <p:nvPr>
            <p:ph type="title" hasCustomPrompt="1"/>
          </p:nvPr>
        </p:nvSpPr>
        <p:spPr>
          <a:xfrm>
            <a:off x="0" y="0"/>
            <a:ext cx="12192000" cy="928838"/>
          </a:xfrm>
          <a:prstGeom prst="rect">
            <a:avLst/>
          </a:prstGeom>
        </p:spPr>
        <p:txBody>
          <a:bodyPr anchor="ctr" anchorCtr="0"/>
          <a:lstStyle>
            <a:lvl1pPr>
              <a:defRPr>
                <a:latin typeface="Calibri" panose="020F0502020204030204" pitchFamily="34" charset="0"/>
                <a:cs typeface="Calibri" panose="020F0502020204030204" pitchFamily="34" charset="0"/>
              </a:defRPr>
            </a:lvl1pPr>
          </a:lstStyle>
          <a:p>
            <a:r>
              <a:rPr dirty="0" err="1"/>
              <a:t>Texte</a:t>
            </a:r>
            <a:r>
              <a:rPr dirty="0"/>
              <a:t> du </a:t>
            </a:r>
            <a:r>
              <a:rPr dirty="0" err="1"/>
              <a:t>titre</a:t>
            </a:r>
            <a:endParaRPr dirty="0"/>
          </a:p>
        </p:txBody>
      </p:sp>
      <p:grpSp>
        <p:nvGrpSpPr>
          <p:cNvPr id="11" name="Groupe">
            <a:extLst>
              <a:ext uri="{FF2B5EF4-FFF2-40B4-BE49-F238E27FC236}">
                <a16:creationId xmlns:a16="http://schemas.microsoft.com/office/drawing/2014/main" id="{D360B735-9C28-414B-83EF-B6F6B855D062}"/>
              </a:ext>
            </a:extLst>
          </p:cNvPr>
          <p:cNvGrpSpPr/>
          <p:nvPr userDrawn="1"/>
        </p:nvGrpSpPr>
        <p:grpSpPr>
          <a:xfrm>
            <a:off x="1" y="6761748"/>
            <a:ext cx="12192000" cy="96253"/>
            <a:chOff x="0" y="0"/>
            <a:chExt cx="24538662" cy="181429"/>
          </a:xfrm>
        </p:grpSpPr>
        <p:sp>
          <p:nvSpPr>
            <p:cNvPr id="12" name="Rectangle">
              <a:extLst>
                <a:ext uri="{FF2B5EF4-FFF2-40B4-BE49-F238E27FC236}">
                  <a16:creationId xmlns:a16="http://schemas.microsoft.com/office/drawing/2014/main" id="{7862649B-0C9A-4620-8E94-1D447F8AC7F1}"/>
                </a:ext>
              </a:extLst>
            </p:cNvPr>
            <p:cNvSpPr/>
            <p:nvPr/>
          </p:nvSpPr>
          <p:spPr>
            <a:xfrm>
              <a:off x="0" y="0"/>
              <a:ext cx="4907733" cy="181430"/>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3" name="Rectangle">
              <a:extLst>
                <a:ext uri="{FF2B5EF4-FFF2-40B4-BE49-F238E27FC236}">
                  <a16:creationId xmlns:a16="http://schemas.microsoft.com/office/drawing/2014/main" id="{E0AB1A34-DECA-4767-95B7-BCA671F899C0}"/>
                </a:ext>
              </a:extLst>
            </p:cNvPr>
            <p:cNvSpPr/>
            <p:nvPr/>
          </p:nvSpPr>
          <p:spPr>
            <a:xfrm>
              <a:off x="4907732" y="0"/>
              <a:ext cx="4907734" cy="18143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4" name="Rectangle">
              <a:extLst>
                <a:ext uri="{FF2B5EF4-FFF2-40B4-BE49-F238E27FC236}">
                  <a16:creationId xmlns:a16="http://schemas.microsoft.com/office/drawing/2014/main" id="{DBFB4FB3-DC5A-4761-94B1-C447B526113C}"/>
                </a:ext>
              </a:extLst>
            </p:cNvPr>
            <p:cNvSpPr/>
            <p:nvPr/>
          </p:nvSpPr>
          <p:spPr>
            <a:xfrm>
              <a:off x="9815465" y="0"/>
              <a:ext cx="4907733" cy="181430"/>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5" name="Rectangle">
              <a:extLst>
                <a:ext uri="{FF2B5EF4-FFF2-40B4-BE49-F238E27FC236}">
                  <a16:creationId xmlns:a16="http://schemas.microsoft.com/office/drawing/2014/main" id="{F9DBE7B5-8F35-4A3D-A42B-7ACE57287F13}"/>
                </a:ext>
              </a:extLst>
            </p:cNvPr>
            <p:cNvSpPr/>
            <p:nvPr/>
          </p:nvSpPr>
          <p:spPr>
            <a:xfrm>
              <a:off x="14723197" y="0"/>
              <a:ext cx="4907733" cy="181430"/>
            </a:xfrm>
            <a:prstGeom prst="rect">
              <a:avLst/>
            </a:prstGeom>
            <a:solidFill>
              <a:srgbClr val="FFB000"/>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6" name="Rectangle">
              <a:extLst>
                <a:ext uri="{FF2B5EF4-FFF2-40B4-BE49-F238E27FC236}">
                  <a16:creationId xmlns:a16="http://schemas.microsoft.com/office/drawing/2014/main" id="{3B64FDDD-8CBC-40D4-A037-AC56BDCE095C}"/>
                </a:ext>
              </a:extLst>
            </p:cNvPr>
            <p:cNvSpPr/>
            <p:nvPr/>
          </p:nvSpPr>
          <p:spPr>
            <a:xfrm>
              <a:off x="19630930" y="0"/>
              <a:ext cx="4907733" cy="181430"/>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grpSp>
      <p:pic>
        <p:nvPicPr>
          <p:cNvPr id="26" name="STMS2-BLEU CLAIR.png" descr="STMS2-BLEU CLAIR.png">
            <a:extLst>
              <a:ext uri="{FF2B5EF4-FFF2-40B4-BE49-F238E27FC236}">
                <a16:creationId xmlns:a16="http://schemas.microsoft.com/office/drawing/2014/main" id="{3C45B415-D4A4-4F66-9638-AB5AA32F26B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1447580" y="6123309"/>
            <a:ext cx="542988" cy="446328"/>
          </a:xfrm>
          <a:prstGeom prst="rect">
            <a:avLst/>
          </a:prstGeom>
          <a:ln w="12700">
            <a:miter lim="400000"/>
          </a:ln>
        </p:spPr>
      </p:pic>
      <p:sp>
        <p:nvSpPr>
          <p:cNvPr id="27" name="Rectangle">
            <a:extLst>
              <a:ext uri="{FF2B5EF4-FFF2-40B4-BE49-F238E27FC236}">
                <a16:creationId xmlns:a16="http://schemas.microsoft.com/office/drawing/2014/main" id="{022756EF-C004-4457-8DC2-7AA9DC3549D1}"/>
              </a:ext>
            </a:extLst>
          </p:cNvPr>
          <p:cNvSpPr/>
          <p:nvPr userDrawn="1"/>
        </p:nvSpPr>
        <p:spPr>
          <a:xfrm>
            <a:off x="5707588" y="896834"/>
            <a:ext cx="776823" cy="64008"/>
          </a:xfrm>
          <a:prstGeom prst="rect">
            <a:avLst/>
          </a:prstGeom>
          <a:solidFill>
            <a:srgbClr val="FFB000"/>
          </a:solidFill>
          <a:ln w="12700">
            <a:miter lim="400000"/>
          </a:ln>
        </p:spPr>
        <p:txBody>
          <a:bodyPr lIns="22860" rIns="22860" anchor="ctr"/>
          <a:lstStyle/>
          <a:p>
            <a:pPr algn="ctr">
              <a:defRPr>
                <a:solidFill>
                  <a:schemeClr val="accent2"/>
                </a:solidFill>
                <a:latin typeface="Exo 2 Light"/>
                <a:ea typeface="Exo 2 Light"/>
                <a:cs typeface="Exo 2 Light"/>
                <a:sym typeface="Exo 2 Light"/>
              </a:defRPr>
            </a:pPr>
            <a:endParaRPr sz="900"/>
          </a:p>
        </p:txBody>
      </p:sp>
      <p:sp>
        <p:nvSpPr>
          <p:cNvPr id="31" name="Texte niveau 1…">
            <a:extLst>
              <a:ext uri="{FF2B5EF4-FFF2-40B4-BE49-F238E27FC236}">
                <a16:creationId xmlns:a16="http://schemas.microsoft.com/office/drawing/2014/main" id="{43D1D4D7-C319-4BA5-95BA-344309BA5F47}"/>
              </a:ext>
            </a:extLst>
          </p:cNvPr>
          <p:cNvSpPr txBox="1">
            <a:spLocks noGrp="1"/>
          </p:cNvSpPr>
          <p:nvPr>
            <p:ph type="body" sz="half" idx="1" hasCustomPrompt="1"/>
          </p:nvPr>
        </p:nvSpPr>
        <p:spPr>
          <a:xfrm>
            <a:off x="609044" y="1677515"/>
            <a:ext cx="11017806" cy="4056535"/>
          </a:xfrm>
          <a:prstGeom prst="rect">
            <a:avLst/>
          </a:prstGeom>
        </p:spPr>
        <p:txBody>
          <a:bodyPr lIns="288000" tIns="288000" rIns="288000" bIns="288000"/>
          <a:lstStyle>
            <a:lvl1pPr marL="265113" indent="-265113" algn="l">
              <a:lnSpc>
                <a:spcPct val="150000"/>
              </a:lnSpc>
              <a:buFont typeface="Wingdings" panose="05000000000000000000" pitchFamily="2" charset="2"/>
              <a:buChar char="§"/>
              <a:defRPr sz="2200">
                <a:latin typeface="Calibri" panose="020F0502020204030204" pitchFamily="34" charset="0"/>
                <a:cs typeface="Calibri" panose="020F0502020204030204" pitchFamily="34" charset="0"/>
              </a:defRPr>
            </a:lvl1pPr>
            <a:lvl2pPr marL="631032" indent="-285750" algn="l">
              <a:lnSpc>
                <a:spcPct val="150000"/>
              </a:lnSpc>
              <a:buFont typeface="Wingdings" panose="05000000000000000000" pitchFamily="2" charset="2"/>
              <a:buChar char="§"/>
              <a:defRPr sz="2000">
                <a:latin typeface="Calibri" panose="020F0502020204030204" pitchFamily="34" charset="0"/>
                <a:cs typeface="Calibri" panose="020F0502020204030204" pitchFamily="34" charset="0"/>
              </a:defRPr>
            </a:lvl2pPr>
            <a:lvl3pPr marL="987425" indent="-285750" algn="l">
              <a:lnSpc>
                <a:spcPct val="150000"/>
              </a:lnSpc>
              <a:buFont typeface="Wingdings" panose="05000000000000000000" pitchFamily="2" charset="2"/>
              <a:buChar char="§"/>
              <a:defRPr sz="2000">
                <a:latin typeface="Calibri" panose="020F0502020204030204" pitchFamily="34" charset="0"/>
                <a:cs typeface="Calibri" panose="020F0502020204030204" pitchFamily="34" charset="0"/>
              </a:defRPr>
            </a:lvl3pPr>
            <a:lvl4pPr marL="1343819" indent="-285750" algn="l">
              <a:lnSpc>
                <a:spcPct val="150000"/>
              </a:lnSpc>
              <a:buFont typeface="Wingdings" panose="05000000000000000000" pitchFamily="2" charset="2"/>
              <a:buChar char="§"/>
              <a:defRPr sz="2000">
                <a:latin typeface="Calibri" panose="020F0502020204030204" pitchFamily="34" charset="0"/>
                <a:cs typeface="Calibri" panose="020F0502020204030204" pitchFamily="34" charset="0"/>
              </a:defRPr>
            </a:lvl4pPr>
            <a:lvl5pPr marL="1746250" indent="-285750" algn="l">
              <a:lnSpc>
                <a:spcPct val="150000"/>
              </a:lnSpc>
              <a:buFont typeface="Wingdings" panose="05000000000000000000" pitchFamily="2" charset="2"/>
              <a:buChar char="§"/>
              <a:defRPr sz="2000">
                <a:latin typeface="Calibri" panose="020F0502020204030204" pitchFamily="34" charset="0"/>
                <a:cs typeface="Calibri" panose="020F0502020204030204" pitchFamily="34" charset="0"/>
              </a:defRPr>
            </a:lvl5pPr>
          </a:lstStyle>
          <a:p>
            <a:r>
              <a:rPr dirty="0" err="1"/>
              <a:t>Texte</a:t>
            </a:r>
            <a:r>
              <a:rPr dirty="0"/>
              <a:t> </a:t>
            </a:r>
            <a:r>
              <a:rPr dirty="0" err="1"/>
              <a:t>niveau</a:t>
            </a:r>
            <a:r>
              <a:rPr dirty="0"/>
              <a:t> 1</a:t>
            </a:r>
          </a:p>
          <a:p>
            <a:pPr lvl="1"/>
            <a:r>
              <a:rPr dirty="0" err="1"/>
              <a:t>Texte</a:t>
            </a:r>
            <a:r>
              <a:rPr dirty="0"/>
              <a:t> </a:t>
            </a:r>
            <a:r>
              <a:rPr dirty="0" err="1"/>
              <a:t>niveau</a:t>
            </a:r>
            <a:r>
              <a:rPr dirty="0"/>
              <a:t> 2</a:t>
            </a:r>
          </a:p>
          <a:p>
            <a:pPr lvl="2"/>
            <a:r>
              <a:rPr dirty="0" err="1"/>
              <a:t>Texte</a:t>
            </a:r>
            <a:r>
              <a:rPr dirty="0"/>
              <a:t> </a:t>
            </a:r>
            <a:r>
              <a:rPr dirty="0" err="1"/>
              <a:t>niveau</a:t>
            </a:r>
            <a:r>
              <a:rPr dirty="0"/>
              <a:t> 3</a:t>
            </a:r>
          </a:p>
          <a:p>
            <a:pPr lvl="3"/>
            <a:r>
              <a:rPr dirty="0" err="1"/>
              <a:t>Texte</a:t>
            </a:r>
            <a:r>
              <a:rPr dirty="0"/>
              <a:t> </a:t>
            </a:r>
            <a:r>
              <a:rPr dirty="0" err="1"/>
              <a:t>niveau</a:t>
            </a:r>
            <a:r>
              <a:rPr dirty="0"/>
              <a:t> 4</a:t>
            </a:r>
          </a:p>
          <a:p>
            <a:pPr lvl="4"/>
            <a:r>
              <a:rPr dirty="0" err="1"/>
              <a:t>Texte</a:t>
            </a:r>
            <a:r>
              <a:rPr dirty="0"/>
              <a:t> </a:t>
            </a:r>
            <a:r>
              <a:rPr dirty="0" err="1"/>
              <a:t>niveau</a:t>
            </a:r>
            <a:r>
              <a:rPr dirty="0"/>
              <a:t> 5</a:t>
            </a:r>
          </a:p>
        </p:txBody>
      </p:sp>
      <p:sp>
        <p:nvSpPr>
          <p:cNvPr id="2" name="Numéro de diapositive">
            <a:extLst>
              <a:ext uri="{FF2B5EF4-FFF2-40B4-BE49-F238E27FC236}">
                <a16:creationId xmlns:a16="http://schemas.microsoft.com/office/drawing/2014/main" id="{350E76D7-D8C4-4678-A211-E25E636C719D}"/>
              </a:ext>
            </a:extLst>
          </p:cNvPr>
          <p:cNvSpPr txBox="1">
            <a:spLocks/>
          </p:cNvSpPr>
          <p:nvPr userDrawn="1"/>
        </p:nvSpPr>
        <p:spPr>
          <a:xfrm>
            <a:off x="11474267" y="246411"/>
            <a:ext cx="412405" cy="152401"/>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087443"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Exo 2"/>
                <a:ea typeface="Exo 2"/>
                <a:cs typeface="Exo 2"/>
                <a:sym typeface="Exo 2"/>
              </a:defRPr>
            </a:lvl1pPr>
            <a:lvl2pPr marL="0" marR="0" indent="1087443"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2pPr>
            <a:lvl3pPr marL="0" marR="0" indent="2174887"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3pPr>
            <a:lvl4pPr marL="0" marR="0" indent="3262338"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4pPr>
            <a:lvl5pPr marL="0" marR="0" indent="4349779"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5pPr>
            <a:lvl6pPr marL="0" marR="0" indent="5437225"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6pPr>
            <a:lvl7pPr marL="0" marR="0" indent="6524670"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7pPr>
            <a:lvl8pPr marL="0" marR="0" indent="7612115"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8pPr>
            <a:lvl9pPr marL="0" marR="0" indent="8699558"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9pPr>
          </a:lstStyle>
          <a:p>
            <a:fld id="{86CB4B4D-7CA3-9044-876B-883B54F8677D}" type="slidenum">
              <a:rPr lang="fr-FR" sz="1000" smtClean="0"/>
              <a:pPr/>
              <a:t>‹N°›</a:t>
            </a:fld>
            <a:endParaRPr lang="fr-FR" sz="1000" dirty="0"/>
          </a:p>
        </p:txBody>
      </p:sp>
    </p:spTree>
    <p:extLst>
      <p:ext uri="{BB962C8B-B14F-4D97-AF65-F5344CB8AC3E}">
        <p14:creationId xmlns:p14="http://schemas.microsoft.com/office/powerpoint/2010/main" val="3333392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8C85F5B-E093-99C5-D11D-21A05B0DCE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5DE4EF4-E468-D6E6-674F-F6516C7017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110D1C0-B201-B6FA-410F-2D75520173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9F4A61-BF6E-46AE-B2AF-38AF17C84D0E}" type="datetimeFigureOut">
              <a:rPr lang="fr-FR" smtClean="0"/>
              <a:t>02/12/2025</a:t>
            </a:fld>
            <a:endParaRPr lang="fr-FR"/>
          </a:p>
        </p:txBody>
      </p:sp>
      <p:sp>
        <p:nvSpPr>
          <p:cNvPr id="5" name="Espace réservé du pied de page 4">
            <a:extLst>
              <a:ext uri="{FF2B5EF4-FFF2-40B4-BE49-F238E27FC236}">
                <a16:creationId xmlns:a16="http://schemas.microsoft.com/office/drawing/2014/main" id="{D418560D-F315-CDE5-ABB6-F728DF47B2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2C098D0-A2AE-58A4-6730-E83471AA5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BCEB07-1D37-4280-9B32-ED99D0576C27}" type="slidenum">
              <a:rPr lang="fr-FR" smtClean="0"/>
              <a:t>‹N°›</a:t>
            </a:fld>
            <a:endParaRPr lang="fr-FR"/>
          </a:p>
        </p:txBody>
      </p:sp>
    </p:spTree>
    <p:extLst>
      <p:ext uri="{BB962C8B-B14F-4D97-AF65-F5344CB8AC3E}">
        <p14:creationId xmlns:p14="http://schemas.microsoft.com/office/powerpoint/2010/main" val="2164453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us-titre 1">
            <a:extLst>
              <a:ext uri="{FF2B5EF4-FFF2-40B4-BE49-F238E27FC236}">
                <a16:creationId xmlns:a16="http://schemas.microsoft.com/office/drawing/2014/main" id="{4B9CE9ED-F13C-4904-BB58-07887CCAE619}"/>
              </a:ext>
            </a:extLst>
          </p:cNvPr>
          <p:cNvSpPr>
            <a:spLocks noGrp="1"/>
          </p:cNvSpPr>
          <p:nvPr>
            <p:ph type="subTitle" sz="quarter" idx="1"/>
          </p:nvPr>
        </p:nvSpPr>
        <p:spPr>
          <a:xfrm>
            <a:off x="6392008" y="677928"/>
            <a:ext cx="5944180" cy="558433"/>
          </a:xfrm>
        </p:spPr>
        <p:txBody>
          <a:bodyPr/>
          <a:lstStyle/>
          <a:p>
            <a:r>
              <a:rPr lang="fr-FR" dirty="0"/>
              <a:t> </a:t>
            </a:r>
          </a:p>
        </p:txBody>
      </p:sp>
      <p:sp>
        <p:nvSpPr>
          <p:cNvPr id="3" name="Espace réservé du texte 2">
            <a:extLst>
              <a:ext uri="{FF2B5EF4-FFF2-40B4-BE49-F238E27FC236}">
                <a16:creationId xmlns:a16="http://schemas.microsoft.com/office/drawing/2014/main" id="{50066482-C983-4F33-ABDA-F3BCDF4BF89E}"/>
              </a:ext>
            </a:extLst>
          </p:cNvPr>
          <p:cNvSpPr>
            <a:spLocks noGrp="1"/>
          </p:cNvSpPr>
          <p:nvPr>
            <p:ph type="body" sz="quarter" idx="10"/>
          </p:nvPr>
        </p:nvSpPr>
        <p:spPr>
          <a:xfrm>
            <a:off x="494294" y="3946309"/>
            <a:ext cx="11261021" cy="777875"/>
          </a:xfrm>
        </p:spPr>
        <p:txBody>
          <a:bodyPr>
            <a:normAutofit/>
          </a:bodyPr>
          <a:lstStyle/>
          <a:p>
            <a:pPr marL="0" indent="0">
              <a:buNone/>
            </a:pPr>
            <a:r>
              <a:rPr lang="fr-FR" dirty="0"/>
              <a:t>Formation Technique ABAP </a:t>
            </a:r>
          </a:p>
        </p:txBody>
      </p:sp>
      <p:sp>
        <p:nvSpPr>
          <p:cNvPr id="5" name="Sous-titre 1">
            <a:extLst>
              <a:ext uri="{FF2B5EF4-FFF2-40B4-BE49-F238E27FC236}">
                <a16:creationId xmlns:a16="http://schemas.microsoft.com/office/drawing/2014/main" id="{E97B557A-F58C-4E2A-9398-76B3AAAEB8D5}"/>
              </a:ext>
            </a:extLst>
          </p:cNvPr>
          <p:cNvSpPr txBox="1">
            <a:spLocks/>
          </p:cNvSpPr>
          <p:nvPr/>
        </p:nvSpPr>
        <p:spPr>
          <a:xfrm>
            <a:off x="7816362" y="175846"/>
            <a:ext cx="4587234" cy="13397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450"/>
              </a:spcBef>
              <a:buFont typeface="Arial" panose="020B0604020202020204" pitchFamily="34" charset="0"/>
              <a:buChar char="•"/>
              <a:defRPr sz="2500" kern="1200">
                <a:solidFill>
                  <a:srgbClr val="FFFFFE"/>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 </a:t>
            </a:r>
            <a:endParaRPr lang="fr-FR" dirty="0"/>
          </a:p>
        </p:txBody>
      </p:sp>
      <p:sp>
        <p:nvSpPr>
          <p:cNvPr id="4" name="Espace réservé du texte 2">
            <a:extLst>
              <a:ext uri="{FF2B5EF4-FFF2-40B4-BE49-F238E27FC236}">
                <a16:creationId xmlns:a16="http://schemas.microsoft.com/office/drawing/2014/main" id="{5BC60851-4CD8-11D4-D1CE-33B3E8CABF06}"/>
              </a:ext>
            </a:extLst>
          </p:cNvPr>
          <p:cNvSpPr txBox="1">
            <a:spLocks/>
          </p:cNvSpPr>
          <p:nvPr/>
        </p:nvSpPr>
        <p:spPr>
          <a:xfrm>
            <a:off x="494294" y="4901142"/>
            <a:ext cx="11261021" cy="777875"/>
          </a:xfrm>
          <a:prstGeom prst="rect">
            <a:avLst/>
          </a:prstGeom>
        </p:spPr>
        <p:txBody>
          <a:bodyPr vert="horz" lIns="91440" tIns="46800" rIns="91440" bIns="45720" rtlCol="0" anchor="ctr" anchorCtr="0">
            <a:normAutofit/>
          </a:bodyPr>
          <a:lstStyle>
            <a:lvl1pPr marL="228600" indent="-228600" algn="l" defTabSz="914400" rtl="0" eaLnBrk="1" latinLnBrk="0" hangingPunct="1">
              <a:lnSpc>
                <a:spcPct val="100000"/>
              </a:lnSpc>
              <a:spcBef>
                <a:spcPts val="0"/>
              </a:spcBef>
              <a:buFont typeface="Arial" panose="020B0604020202020204" pitchFamily="34" charset="0"/>
              <a:buChar char="•"/>
              <a:defRPr sz="4225" b="1" kern="1200">
                <a:solidFill>
                  <a:schemeClr val="bg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4225"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4225"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4225"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4225"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3200" dirty="0"/>
              <a:t>Les BAPI</a:t>
            </a:r>
          </a:p>
        </p:txBody>
      </p:sp>
    </p:spTree>
    <p:extLst>
      <p:ext uri="{BB962C8B-B14F-4D97-AF65-F5344CB8AC3E}">
        <p14:creationId xmlns:p14="http://schemas.microsoft.com/office/powerpoint/2010/main" val="1998575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a:xfrm>
            <a:off x="0" y="0"/>
            <a:ext cx="12192000" cy="744970"/>
          </a:xfrm>
        </p:spPr>
        <p:txBody>
          <a:bodyPr>
            <a:normAutofit/>
          </a:bodyPr>
          <a:lstStyle/>
          <a:p>
            <a:pPr algn="ctr"/>
            <a:r>
              <a:rPr lang="fr-FR" sz="4000" b="1" dirty="0">
                <a:solidFill>
                  <a:schemeClr val="accent1"/>
                </a:solidFill>
              </a:rPr>
              <a:t>La BAPI : Un module fonction « spécial »</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13" name="Rectangle 6">
            <a:extLst>
              <a:ext uri="{FF2B5EF4-FFF2-40B4-BE49-F238E27FC236}">
                <a16:creationId xmlns:a16="http://schemas.microsoft.com/office/drawing/2014/main" id="{01F3EBB4-B8AB-461C-A780-E453A6C394FB}"/>
              </a:ext>
            </a:extLst>
          </p:cNvPr>
          <p:cNvSpPr>
            <a:spLocks noChangeArrowheads="1"/>
          </p:cNvSpPr>
          <p:nvPr/>
        </p:nvSpPr>
        <p:spPr bwMode="auto">
          <a:xfrm>
            <a:off x="765433" y="1072940"/>
            <a:ext cx="10505764" cy="5299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22860" rIns="45720" bIns="22860" numCol="1" anchor="ctr" anchorCtr="0" compatLnSpc="1">
            <a:prstTxWarp prst="textNoShape">
              <a:avLst/>
            </a:prstTxWarp>
            <a:spAutoFit/>
          </a:bodyPr>
          <a:lstStyle/>
          <a:p>
            <a:pPr algn="just" eaLnBrk="0" fontAlgn="base">
              <a:lnSpc>
                <a:spcPct val="150000"/>
              </a:lnSpc>
              <a:spcBef>
                <a:spcPts val="250"/>
              </a:spcBef>
            </a:pPr>
            <a:r>
              <a:rPr lang="fr-FR" sz="1700" dirty="0">
                <a:solidFill>
                  <a:srgbClr val="797979"/>
                </a:solidFill>
                <a:latin typeface="Calibri" panose="020F0502020204030204" pitchFamily="34" charset="0"/>
                <a:cs typeface="Calibri" panose="020F0502020204030204" pitchFamily="34" charset="0"/>
                <a:sym typeface="Exo 2 Light"/>
              </a:rPr>
              <a:t>On se souvient du Module Fonction qui permet d’isoler un traitement spécifique (une conversion, une récupération de données, …). On vient de voir que lorsqu’on avait besoin d’échanger avec un système externe (SAP ou autre), il y avait la possibilité d’utiliser des modules fonction RFC. </a:t>
            </a:r>
            <a:endParaRPr lang="fr-FR" altLang="fr-FR" sz="1700" dirty="0">
              <a:solidFill>
                <a:srgbClr val="797979"/>
              </a:solidFill>
              <a:latin typeface="Calibri" panose="020F0502020204030204" pitchFamily="34" charset="0"/>
              <a:cs typeface="Calibri" panose="020F0502020204030204" pitchFamily="34" charset="0"/>
              <a:sym typeface="Exo 2 Light"/>
            </a:endParaRPr>
          </a:p>
          <a:p>
            <a:pPr algn="just" eaLnBrk="0" fontAlgn="base">
              <a:lnSpc>
                <a:spcPct val="150000"/>
              </a:lnSpc>
              <a:spcBef>
                <a:spcPts val="250"/>
              </a:spcBef>
            </a:pPr>
            <a:r>
              <a:rPr lang="fr-FR" altLang="fr-FR" sz="1700" b="1" dirty="0">
                <a:solidFill>
                  <a:srgbClr val="797979"/>
                </a:solidFill>
                <a:latin typeface="Calibri" panose="020F0502020204030204" pitchFamily="34" charset="0"/>
                <a:cs typeface="Calibri" panose="020F0502020204030204" pitchFamily="34" charset="0"/>
                <a:sym typeface="Exo 2 Light"/>
              </a:rPr>
              <a:t>Une BAPI est justement un module fonction activé à distance </a:t>
            </a:r>
            <a:r>
              <a:rPr lang="fr-FR" altLang="fr-FR" sz="1700" dirty="0">
                <a:solidFill>
                  <a:srgbClr val="797979"/>
                </a:solidFill>
                <a:latin typeface="Calibri" panose="020F0502020204030204" pitchFamily="34" charset="0"/>
                <a:cs typeface="Calibri" panose="020F0502020204030204" pitchFamily="34" charset="0"/>
                <a:sym typeface="Exo 2 Light"/>
              </a:rPr>
              <a:t>(compatibles RFC) : </a:t>
            </a:r>
          </a:p>
          <a:p>
            <a:pPr marL="285750" indent="-285750" algn="just" eaLnBrk="0" fontAlgn="base">
              <a:lnSpc>
                <a:spcPct val="150000"/>
              </a:lnSpc>
              <a:spcBef>
                <a:spcPts val="250"/>
              </a:spcBef>
              <a:buFontTx/>
              <a:buChar char="-"/>
            </a:pPr>
            <a:r>
              <a:rPr lang="fr-FR" altLang="fr-FR" sz="1700" dirty="0">
                <a:solidFill>
                  <a:srgbClr val="797979"/>
                </a:solidFill>
                <a:latin typeface="Calibri" panose="020F0502020204030204" pitchFamily="34" charset="0"/>
                <a:cs typeface="Calibri" panose="020F0502020204030204" pitchFamily="34" charset="0"/>
                <a:sym typeface="Exo 2 Light"/>
              </a:rPr>
              <a:t>Qui peut, contrairement aux autres MF RFC, être invoqué à partir de programmes distants tels que des programmes JAVA autonomes, une interface Web, etc...</a:t>
            </a:r>
          </a:p>
          <a:p>
            <a:pPr marL="285750" indent="-285750" algn="just" eaLnBrk="0" fontAlgn="base">
              <a:lnSpc>
                <a:spcPct val="150000"/>
              </a:lnSpc>
              <a:spcBef>
                <a:spcPts val="250"/>
              </a:spcBef>
              <a:buFontTx/>
              <a:buChar char="-"/>
            </a:pPr>
            <a:r>
              <a:rPr lang="fr-FR" altLang="fr-FR" sz="1700" dirty="0">
                <a:solidFill>
                  <a:srgbClr val="797979"/>
                </a:solidFill>
                <a:latin typeface="Calibri" panose="020F0502020204030204" pitchFamily="34" charset="0"/>
                <a:cs typeface="Calibri" panose="020F0502020204030204" pitchFamily="34" charset="0"/>
                <a:sym typeface="Exo 2 Light"/>
              </a:rPr>
              <a:t>Qui est défini </a:t>
            </a:r>
            <a:r>
              <a:rPr lang="fr-FR" altLang="fr-FR" sz="1700" dirty="0">
                <a:solidFill>
                  <a:srgbClr val="797979"/>
                </a:solidFill>
                <a:latin typeface="Calibri" panose="020F0502020204030204" pitchFamily="34" charset="0"/>
                <a:cs typeface="Calibri" panose="020F0502020204030204" pitchFamily="34" charset="0"/>
              </a:rPr>
              <a:t>dans le référentiel d'objets métier / Business Object Repository (BOR) en tant que méthode d’un objet métier, ce qui lui permet d’</a:t>
            </a:r>
            <a:r>
              <a:rPr lang="fr-FR" sz="1700" dirty="0">
                <a:solidFill>
                  <a:srgbClr val="797979"/>
                </a:solidFill>
                <a:latin typeface="Calibri" panose="020F0502020204030204" pitchFamily="34" charset="0"/>
                <a:cs typeface="Calibri" panose="020F0502020204030204" pitchFamily="34" charset="0"/>
              </a:rPr>
              <a:t>encapsuler les couches internes du modèle d'objet métier de SAP et de pouvoir ainsi confirmer que toutes les opérations de logique, d'autorisation et de validation s'exécutent correctement lors de l'accès aux objets métier ou de leur modification..</a:t>
            </a:r>
          </a:p>
          <a:p>
            <a:pPr algn="just" eaLnBrk="0" fontAlgn="base">
              <a:lnSpc>
                <a:spcPct val="150000"/>
              </a:lnSpc>
              <a:spcBef>
                <a:spcPts val="250"/>
              </a:spcBef>
            </a:pPr>
            <a:r>
              <a:rPr lang="fr-FR" altLang="fr-FR" sz="1700" b="1" dirty="0">
                <a:solidFill>
                  <a:srgbClr val="797979"/>
                </a:solidFill>
                <a:latin typeface="Calibri" panose="020F0502020204030204" pitchFamily="34" charset="0"/>
                <a:cs typeface="Calibri" panose="020F0502020204030204" pitchFamily="34" charset="0"/>
                <a:sym typeface="Exo 2 Light"/>
              </a:rPr>
              <a:t>En résumé, la BAPI  est un MF RFC qui permet de créer ou de modifier les objets métiers de la base de données en toute sécurité et offre en plus la possibilité de le faire depuis un système externe  non SAP.</a:t>
            </a:r>
          </a:p>
          <a:p>
            <a:pPr marL="285750" indent="-285750" algn="just" eaLnBrk="0" fontAlgn="base">
              <a:lnSpc>
                <a:spcPct val="150000"/>
              </a:lnSpc>
              <a:spcBef>
                <a:spcPts val="250"/>
              </a:spcBef>
              <a:buFontTx/>
              <a:buChar char="-"/>
            </a:pPr>
            <a:endParaRPr lang="fr-FR" altLang="fr-FR" sz="1700" dirty="0">
              <a:solidFill>
                <a:srgbClr val="797979"/>
              </a:solidFill>
              <a:latin typeface="Calibri" panose="020F0502020204030204" pitchFamily="34" charset="0"/>
              <a:cs typeface="Calibri" panose="020F0502020204030204" pitchFamily="34" charset="0"/>
              <a:sym typeface="Exo 2 Light"/>
            </a:endParaRPr>
          </a:p>
        </p:txBody>
      </p:sp>
    </p:spTree>
    <p:extLst>
      <p:ext uri="{BB962C8B-B14F-4D97-AF65-F5344CB8AC3E}">
        <p14:creationId xmlns:p14="http://schemas.microsoft.com/office/powerpoint/2010/main" val="3557508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a:xfrm>
            <a:off x="0" y="0"/>
            <a:ext cx="12192000" cy="744970"/>
          </a:xfrm>
        </p:spPr>
        <p:txBody>
          <a:bodyPr>
            <a:normAutofit/>
          </a:bodyPr>
          <a:lstStyle/>
          <a:p>
            <a:pPr algn="ctr"/>
            <a:r>
              <a:rPr lang="fr-FR" sz="4000" b="1" dirty="0">
                <a:solidFill>
                  <a:schemeClr val="accent1"/>
                </a:solidFill>
              </a:rPr>
              <a:t>La BAPI est un module fonction </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13" name="Rectangle 6">
            <a:extLst>
              <a:ext uri="{FF2B5EF4-FFF2-40B4-BE49-F238E27FC236}">
                <a16:creationId xmlns:a16="http://schemas.microsoft.com/office/drawing/2014/main" id="{01F3EBB4-B8AB-461C-A780-E453A6C394FB}"/>
              </a:ext>
            </a:extLst>
          </p:cNvPr>
          <p:cNvSpPr>
            <a:spLocks noChangeArrowheads="1"/>
          </p:cNvSpPr>
          <p:nvPr/>
        </p:nvSpPr>
        <p:spPr bwMode="auto">
          <a:xfrm>
            <a:off x="765433" y="1735879"/>
            <a:ext cx="10505764" cy="3973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22860" rIns="45720" bIns="22860" numCol="1" anchor="ctr" anchorCtr="0" compatLnSpc="1">
            <a:prstTxWarp prst="textNoShape">
              <a:avLst/>
            </a:prstTxWarp>
            <a:spAutoFit/>
          </a:bodyPr>
          <a:lstStyle/>
          <a:p>
            <a:pPr algn="just" eaLnBrk="0" fontAlgn="base">
              <a:lnSpc>
                <a:spcPct val="150000"/>
              </a:lnSpc>
              <a:spcBef>
                <a:spcPts val="250"/>
              </a:spcBef>
            </a:pPr>
            <a:r>
              <a:rPr lang="fr-FR" dirty="0">
                <a:solidFill>
                  <a:srgbClr val="797979"/>
                </a:solidFill>
                <a:latin typeface="Calibri" panose="020F0502020204030204" pitchFamily="34" charset="0"/>
                <a:cs typeface="Calibri" panose="020F0502020204030204" pitchFamily="34" charset="0"/>
              </a:rPr>
              <a:t>Les BAPI du système ECC sont actuellement mises en œuvre </a:t>
            </a:r>
            <a:r>
              <a:rPr lang="fr-FR" b="1" dirty="0">
                <a:solidFill>
                  <a:srgbClr val="797979"/>
                </a:solidFill>
                <a:latin typeface="Calibri" panose="020F0502020204030204" pitchFamily="34" charset="0"/>
                <a:cs typeface="Calibri" panose="020F0502020204030204" pitchFamily="34" charset="0"/>
              </a:rPr>
              <a:t>sous forme de modules fonction(SE37), </a:t>
            </a:r>
            <a:r>
              <a:rPr lang="fr-FR" dirty="0">
                <a:solidFill>
                  <a:srgbClr val="797979"/>
                </a:solidFill>
                <a:latin typeface="Calibri" panose="020F0502020204030204" pitchFamily="34" charset="0"/>
                <a:cs typeface="Calibri" panose="020F0502020204030204" pitchFamily="34" charset="0"/>
              </a:rPr>
              <a:t>qui sont créés et gérés dans le Générateur de modules fonction. Chaque module fonction émanant d’une BAPI :</a:t>
            </a:r>
          </a:p>
          <a:p>
            <a:pPr algn="just" eaLnBrk="0" fontAlgn="base">
              <a:lnSpc>
                <a:spcPct val="150000"/>
              </a:lnSpc>
              <a:spcBef>
                <a:spcPts val="250"/>
              </a:spcBef>
            </a:pPr>
            <a:r>
              <a:rPr lang="fr-FR" dirty="0">
                <a:solidFill>
                  <a:srgbClr val="797979"/>
                </a:solidFill>
                <a:latin typeface="Calibri" panose="020F0502020204030204" pitchFamily="34" charset="0"/>
                <a:cs typeface="Calibri" panose="020F0502020204030204" pitchFamily="34" charset="0"/>
              </a:rPr>
              <a:t>1. Prend en charge le protocole Remote Function Call (RFC) ; </a:t>
            </a:r>
          </a:p>
          <a:p>
            <a:pPr algn="just" eaLnBrk="0" fontAlgn="base">
              <a:lnSpc>
                <a:spcPct val="150000"/>
              </a:lnSpc>
              <a:spcBef>
                <a:spcPts val="250"/>
              </a:spcBef>
            </a:pPr>
            <a:r>
              <a:rPr lang="fr-FR" dirty="0">
                <a:solidFill>
                  <a:srgbClr val="797979"/>
                </a:solidFill>
                <a:latin typeface="Calibri" panose="020F0502020204030204" pitchFamily="34" charset="0"/>
                <a:cs typeface="Calibri" panose="020F0502020204030204" pitchFamily="34" charset="0"/>
              </a:rPr>
              <a:t>2. A été affecté en tant que méthode à un type d’objet de gestion SAP dans le Business Object Repository ; </a:t>
            </a:r>
          </a:p>
          <a:p>
            <a:pPr algn="just" eaLnBrk="0" fontAlgn="base">
              <a:lnSpc>
                <a:spcPct val="150000"/>
              </a:lnSpc>
              <a:spcBef>
                <a:spcPts val="250"/>
              </a:spcBef>
            </a:pPr>
            <a:r>
              <a:rPr lang="fr-FR" dirty="0">
                <a:solidFill>
                  <a:srgbClr val="797979"/>
                </a:solidFill>
                <a:latin typeface="Calibri" panose="020F0502020204030204" pitchFamily="34" charset="0"/>
                <a:cs typeface="Calibri" panose="020F0502020204030204" pitchFamily="34" charset="0"/>
              </a:rPr>
              <a:t>3. Est traité sans retourner de dialogue à l’application appelante.</a:t>
            </a:r>
          </a:p>
          <a:p>
            <a:pPr algn="just" eaLnBrk="0" fontAlgn="base">
              <a:lnSpc>
                <a:spcPct val="150000"/>
              </a:lnSpc>
              <a:spcBef>
                <a:spcPts val="250"/>
              </a:spcBef>
            </a:pPr>
            <a:endParaRPr lang="fr-FR" dirty="0">
              <a:solidFill>
                <a:srgbClr val="797979"/>
              </a:solidFill>
              <a:latin typeface="Calibri" panose="020F0502020204030204" pitchFamily="34" charset="0"/>
              <a:cs typeface="Calibri" panose="020F0502020204030204" pitchFamily="34" charset="0"/>
            </a:endParaRPr>
          </a:p>
          <a:p>
            <a:pPr algn="just" eaLnBrk="0" fontAlgn="base">
              <a:lnSpc>
                <a:spcPct val="150000"/>
              </a:lnSpc>
              <a:spcBef>
                <a:spcPts val="250"/>
              </a:spcBef>
            </a:pPr>
            <a:r>
              <a:rPr lang="fr-FR" altLang="fr-FR" dirty="0">
                <a:solidFill>
                  <a:srgbClr val="797979"/>
                </a:solidFill>
                <a:latin typeface="Calibri" panose="020F0502020204030204" pitchFamily="34" charset="0"/>
                <a:cs typeface="Calibri" panose="020F0502020204030204" pitchFamily="34" charset="0"/>
              </a:rPr>
              <a:t>Il s'agit d'une bibliothèque de fonctions qui sont rendues publiques en tant qu'interface dans un système SAP existant à partir d'un système externe.</a:t>
            </a:r>
          </a:p>
          <a:p>
            <a:pPr algn="just" eaLnBrk="0" fontAlgn="base">
              <a:lnSpc>
                <a:spcPct val="150000"/>
              </a:lnSpc>
              <a:spcBef>
                <a:spcPts val="250"/>
              </a:spcBef>
            </a:pPr>
            <a:endParaRPr lang="fr-FR" dirty="0">
              <a:solidFill>
                <a:srgbClr val="797979"/>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96743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lstStyle/>
          <a:p>
            <a:pPr algn="ctr"/>
            <a:r>
              <a:rPr lang="fr-FR" sz="4000" b="1" dirty="0">
                <a:solidFill>
                  <a:schemeClr val="accent1"/>
                </a:solidFill>
              </a:rPr>
              <a:t>La BAPI : Un MF lié aux BO (Business Object) </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258192"/>
            <a:ext cx="10694114" cy="4383534"/>
          </a:xfrm>
        </p:spPr>
        <p:txBody>
          <a:bodyPr>
            <a:normAutofit lnSpcReduction="10000"/>
          </a:bodyPr>
          <a:lstStyle/>
          <a:p>
            <a:pPr marL="0" indent="0" algn="just">
              <a:buNone/>
            </a:pPr>
            <a:r>
              <a:rPr lang="fr-FR" sz="2000" dirty="0"/>
              <a:t>Les </a:t>
            </a:r>
            <a:r>
              <a:rPr lang="fr-FR" sz="2000" b="1" dirty="0"/>
              <a:t>Business Object </a:t>
            </a:r>
            <a:r>
              <a:rPr lang="fr-FR" sz="2000" dirty="0"/>
              <a:t>(BO, Objets de Gestion, Objets métier en français) sont des objets au sens de la programmation orientée objet classique. Ils "modélisent" des objets du monde réel (employé, commande client…). </a:t>
            </a:r>
          </a:p>
          <a:p>
            <a:pPr marL="0" indent="0" algn="just">
              <a:buNone/>
            </a:pPr>
            <a:r>
              <a:rPr lang="fr-FR" sz="2000" dirty="0"/>
              <a:t>Ils possèdent des interfaces, des zones clés, des attributs, des méthodes et des événements, et répondent à toutes les caractéristiques classiques d'un objet (encapsulation, héritage, instanciation, polymorphisme…).</a:t>
            </a:r>
          </a:p>
          <a:p>
            <a:pPr marL="0" indent="0" algn="just">
              <a:buNone/>
            </a:pPr>
            <a:r>
              <a:rPr lang="fr-FR" sz="2000" b="1" dirty="0"/>
              <a:t>Les BAPIs sont définis dans le Business Object Repository (BOR) comme étant les méthodes des Business Object</a:t>
            </a:r>
            <a:r>
              <a:rPr lang="fr-FR" sz="2000" dirty="0"/>
              <a:t>. Ces méthodes sont en fait des Modules Fonction RFC (Remote Function Call).</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953783" y="1618673"/>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p:txBody>
      </p:sp>
    </p:spTree>
    <p:extLst>
      <p:ext uri="{BB962C8B-B14F-4D97-AF65-F5344CB8AC3E}">
        <p14:creationId xmlns:p14="http://schemas.microsoft.com/office/powerpoint/2010/main" val="4053813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BO des objets / Les BAPI des méthodes</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13" name="Rectangle 6">
            <a:extLst>
              <a:ext uri="{FF2B5EF4-FFF2-40B4-BE49-F238E27FC236}">
                <a16:creationId xmlns:a16="http://schemas.microsoft.com/office/drawing/2014/main" id="{01F3EBB4-B8AB-461C-A780-E453A6C394FB}"/>
              </a:ext>
            </a:extLst>
          </p:cNvPr>
          <p:cNvSpPr>
            <a:spLocks noChangeArrowheads="1"/>
          </p:cNvSpPr>
          <p:nvPr/>
        </p:nvSpPr>
        <p:spPr bwMode="auto">
          <a:xfrm>
            <a:off x="937293" y="1233297"/>
            <a:ext cx="10505764" cy="4540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22860" rIns="45720" bIns="22860" numCol="1" anchor="ctr" anchorCtr="0" compatLnSpc="1">
            <a:prstTxWarp prst="textNoShape">
              <a:avLst/>
            </a:prstTxWarp>
            <a:spAutoFit/>
          </a:bodyPr>
          <a:lstStyle/>
          <a:p>
            <a:pPr algn="just" eaLnBrk="0" fontAlgn="base">
              <a:lnSpc>
                <a:spcPct val="150000"/>
              </a:lnSpc>
              <a:spcBef>
                <a:spcPts val="250"/>
              </a:spcBef>
            </a:pPr>
            <a:r>
              <a:rPr lang="fr-FR" altLang="fr-FR" sz="1900" b="1" dirty="0">
                <a:solidFill>
                  <a:srgbClr val="797979"/>
                </a:solidFill>
                <a:latin typeface="Calibri" panose="020F0502020204030204" pitchFamily="34" charset="0"/>
                <a:cs typeface="Calibri" panose="020F0502020204030204" pitchFamily="34" charset="0"/>
                <a:sym typeface="Exo 2 Light"/>
              </a:rPr>
              <a:t>En SWO2, </a:t>
            </a:r>
            <a:r>
              <a:rPr lang="fr-FR" altLang="fr-FR" sz="1900" dirty="0">
                <a:solidFill>
                  <a:srgbClr val="797979"/>
                </a:solidFill>
                <a:latin typeface="Calibri" panose="020F0502020204030204" pitchFamily="34" charset="0"/>
                <a:cs typeface="Calibri" panose="020F0502020204030204" pitchFamily="34" charset="0"/>
                <a:sym typeface="Exo 2 Light"/>
              </a:rPr>
              <a:t>on peut visualiser les BO (Business Object) ou Objets métier gérés dans SAP.</a:t>
            </a:r>
          </a:p>
          <a:p>
            <a:pPr algn="just" eaLnBrk="0" fontAlgn="base">
              <a:lnSpc>
                <a:spcPct val="150000"/>
              </a:lnSpc>
              <a:spcBef>
                <a:spcPts val="250"/>
              </a:spcBef>
            </a:pPr>
            <a:r>
              <a:rPr lang="fr-FR" altLang="fr-FR" sz="1900" dirty="0">
                <a:solidFill>
                  <a:srgbClr val="797979"/>
                </a:solidFill>
                <a:latin typeface="Calibri" panose="020F0502020204030204" pitchFamily="34" charset="0"/>
                <a:cs typeface="Calibri" panose="020F0502020204030204" pitchFamily="34" charset="0"/>
                <a:sym typeface="Exo 2 Light"/>
              </a:rPr>
              <a:t>On voit qu’il s’agit d’objet avec des attributs, des méthodes etc…</a:t>
            </a:r>
          </a:p>
          <a:p>
            <a:pPr algn="just" eaLnBrk="0" fontAlgn="base">
              <a:lnSpc>
                <a:spcPct val="150000"/>
              </a:lnSpc>
              <a:spcBef>
                <a:spcPts val="250"/>
              </a:spcBef>
            </a:pPr>
            <a:r>
              <a:rPr lang="fr-FR" altLang="fr-FR" sz="1900" dirty="0">
                <a:solidFill>
                  <a:srgbClr val="797979"/>
                </a:solidFill>
                <a:latin typeface="Calibri" panose="020F0502020204030204" pitchFamily="34" charset="0"/>
                <a:cs typeface="Calibri" panose="020F0502020204030204" pitchFamily="34" charset="0"/>
                <a:sym typeface="Exo 2 Light"/>
              </a:rPr>
              <a:t>Et bien les méthodes de ces objets sont en réalité les BAPI. Ce sont des méthodes qui prennent la forme de module fonction RFC et qui permettent de manipuler ces objets même lorsqu’on souhaite le faire d’un système externe SAP ou non SAP.</a:t>
            </a:r>
          </a:p>
          <a:p>
            <a:pPr algn="just" eaLnBrk="0" fontAlgn="base">
              <a:lnSpc>
                <a:spcPct val="150000"/>
              </a:lnSpc>
              <a:spcBef>
                <a:spcPts val="250"/>
              </a:spcBef>
            </a:pPr>
            <a:r>
              <a:rPr lang="fr-FR" altLang="fr-FR" sz="1900" dirty="0">
                <a:solidFill>
                  <a:srgbClr val="797979"/>
                </a:solidFill>
                <a:latin typeface="Calibri" panose="020F0502020204030204" pitchFamily="34" charset="0"/>
                <a:cs typeface="Calibri" panose="020F0502020204030204" pitchFamily="34" charset="0"/>
                <a:sym typeface="Exo 2 Light"/>
              </a:rPr>
              <a:t>Une BAPI est un MF RFC version objet, qui permet d’effectuer une opération sur un objet métier (commande d’achat, facture,…)  et permet de le faire depuis n’importe quel système externe.</a:t>
            </a:r>
          </a:p>
          <a:p>
            <a:pPr eaLnBrk="0" fontAlgn="base" hangingPunct="0">
              <a:lnSpc>
                <a:spcPct val="150000"/>
              </a:lnSpc>
              <a:spcBef>
                <a:spcPts val="250"/>
              </a:spcBef>
            </a:pPr>
            <a:r>
              <a:rPr lang="fr-FR" altLang="fr-FR" sz="1900" dirty="0">
                <a:solidFill>
                  <a:srgbClr val="797979"/>
                </a:solidFill>
                <a:latin typeface="Calibri" panose="020F0502020204030204" pitchFamily="34" charset="0"/>
                <a:cs typeface="Calibri" panose="020F0502020204030204" pitchFamily="34" charset="0"/>
                <a:sym typeface="Exo 2 Light"/>
              </a:rPr>
              <a:t>Les MF RFC n’est pas lié au concept de  CLASSE et son traitement ne concerne pas directement la gestion d’un objet métier. La BAPI elle, est une méthode d’un objet métier, elle existe uniquement pour effectuer une action sur l’objet auquel elle est liée (créer une commande, la modifier, …)</a:t>
            </a:r>
          </a:p>
        </p:txBody>
      </p:sp>
    </p:spTree>
    <p:extLst>
      <p:ext uri="{BB962C8B-B14F-4D97-AF65-F5344CB8AC3E}">
        <p14:creationId xmlns:p14="http://schemas.microsoft.com/office/powerpoint/2010/main" val="1428651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lstStyle/>
          <a:p>
            <a:pPr algn="ctr"/>
            <a:r>
              <a:rPr lang="fr-FR" sz="4000" b="1" dirty="0">
                <a:solidFill>
                  <a:schemeClr val="accent1"/>
                </a:solidFill>
              </a:rPr>
              <a:t>Le BO : Commande client / SalesOrder</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normAutofit fontScale="92500" lnSpcReduction="20000"/>
          </a:bodyPr>
          <a:lstStyle/>
          <a:p>
            <a:pPr marL="0" indent="0" algn="just">
              <a:buNone/>
            </a:pPr>
            <a:r>
              <a:rPr lang="fr-FR" sz="1800" dirty="0"/>
              <a:t>Ce BO possède de nombreuses méthodes, dont 8 sont des BAPIs (ce sont des méthodes API). </a:t>
            </a:r>
          </a:p>
          <a:p>
            <a:pPr marL="0" indent="0" algn="just">
              <a:buNone/>
            </a:pPr>
            <a:r>
              <a:rPr lang="fr-FR" sz="1800" dirty="0"/>
              <a:t>Ces dernières sont repérables dans le BOR par un point vert à côté de leur nom. </a:t>
            </a:r>
          </a:p>
          <a:p>
            <a:pPr marL="0" indent="0" algn="just">
              <a:buNone/>
            </a:pPr>
            <a:r>
              <a:rPr lang="fr-FR" sz="1800" dirty="0"/>
              <a:t>En cliquant sur ce point vert, on accède directement au code de la fonction (SE37).</a:t>
            </a:r>
          </a:p>
          <a:p>
            <a:pPr marL="0" indent="0" algn="just">
              <a:buNone/>
            </a:pPr>
            <a:r>
              <a:rPr lang="fr-FR" sz="1800" dirty="0"/>
              <a:t>Si l'on accède à SalesOrder directement par le BAPI Browser, on ne voit que les zones clés et les méthodes API :</a:t>
            </a:r>
          </a:p>
          <a:p>
            <a:pPr marL="0" indent="0" algn="just">
              <a:buNone/>
            </a:pPr>
            <a:r>
              <a:rPr lang="fr-FR" sz="1800" b="1" dirty="0"/>
              <a:t>Définitions</a:t>
            </a:r>
            <a:r>
              <a:rPr lang="fr-FR" sz="1800" dirty="0"/>
              <a:t> </a:t>
            </a:r>
          </a:p>
          <a:p>
            <a:pPr marL="0" indent="0" algn="just">
              <a:buNone/>
            </a:pPr>
            <a:r>
              <a:rPr lang="fr-FR" sz="1800" b="1" dirty="0"/>
              <a:t>Types d'objets et instances</a:t>
            </a:r>
          </a:p>
          <a:p>
            <a:pPr marL="0" indent="0" algn="just">
              <a:buNone/>
            </a:pPr>
            <a:r>
              <a:rPr lang="fr-FR" sz="1800" dirty="0"/>
              <a:t>Chaque BO individuel appartient à une classe spécifique, qui dépend de la nature et des caractéristiques générales de l'objet. Ces classes d'objets sont appelées types d'objet. Par exemple, chaque employé d'une entreprise appartient au type d'objet Employé. Chaque BO individuel est une instance de son type d'objet. </a:t>
            </a:r>
          </a:p>
          <a:p>
            <a:pPr marL="0" indent="0" algn="just">
              <a:buNone/>
            </a:pPr>
            <a:r>
              <a:rPr lang="fr-FR" sz="1800" dirty="0"/>
              <a:t>Par exemple, l'employé </a:t>
            </a:r>
            <a:r>
              <a:rPr lang="fr-FR" sz="1800" dirty="0" err="1"/>
              <a:t>ToTo</a:t>
            </a:r>
            <a:r>
              <a:rPr lang="fr-FR" sz="1800" dirty="0"/>
              <a:t> dont le matricule est 0123 est une instance du type d'objet Employé.</a:t>
            </a:r>
          </a:p>
          <a:p>
            <a:pPr marL="0" indent="0" algn="just">
              <a:buNone/>
            </a:pPr>
            <a:r>
              <a:rPr lang="fr-FR" sz="1800" dirty="0"/>
              <a:t>SalesOrder est en fait le nom du type d'objet BUS2032.</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1012466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Un type d'objet est défini par </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normAutofit fontScale="85000" lnSpcReduction="10000"/>
          </a:bodyPr>
          <a:lstStyle/>
          <a:p>
            <a:pPr marL="0" indent="0" algn="just">
              <a:buNone/>
            </a:pPr>
            <a:r>
              <a:rPr lang="fr-FR" sz="1700" b="1" dirty="0"/>
              <a:t>Zones Clés </a:t>
            </a:r>
            <a:r>
              <a:rPr lang="fr-FR" sz="1700" dirty="0"/>
              <a:t>: Champ unique permettant d'identifier de manière univoque une instance spécifique d'un type d'objet.</a:t>
            </a:r>
          </a:p>
          <a:p>
            <a:pPr marL="0" indent="0" algn="just">
              <a:buNone/>
            </a:pPr>
            <a:r>
              <a:rPr lang="fr-FR" sz="1700" dirty="0"/>
              <a:t>La zone clé de SalesOrder est le numéro de commande client.</a:t>
            </a:r>
          </a:p>
          <a:p>
            <a:pPr marL="0" indent="0" algn="just">
              <a:buNone/>
            </a:pPr>
            <a:r>
              <a:rPr lang="fr-FR" sz="1700" b="1" dirty="0"/>
              <a:t>Méthodes : </a:t>
            </a:r>
            <a:r>
              <a:rPr lang="fr-FR" sz="1700" dirty="0"/>
              <a:t>Une méthode est une opération pouvant être effectuée sur un BO et permettant d'accéder à ses données. </a:t>
            </a:r>
          </a:p>
          <a:p>
            <a:pPr marL="0" indent="0" algn="just">
              <a:buNone/>
            </a:pPr>
            <a:r>
              <a:rPr lang="fr-FR" sz="1700" dirty="0"/>
              <a:t>Elle est définie par un nom et une série de paramètres (import/export/tables) et exceptions. Les paramètres import doivent ou peuvent être renseignés par le programme appelant pour pouvoir utiliser la méthode. </a:t>
            </a:r>
          </a:p>
          <a:p>
            <a:pPr marL="0" indent="0" algn="just">
              <a:buNone/>
            </a:pPr>
            <a:r>
              <a:rPr lang="fr-FR" sz="1700" dirty="0"/>
              <a:t>Les BAPIs sont des exemples de méthodes.  SalesOrder.CreateFromDat1 est la méthode API de SalesOrder permettant de créer une commande client.</a:t>
            </a:r>
          </a:p>
          <a:p>
            <a:pPr marL="0" indent="0" algn="just">
              <a:buNone/>
            </a:pPr>
            <a:r>
              <a:rPr lang="fr-FR" sz="1700" b="1" dirty="0"/>
              <a:t>Attributs : </a:t>
            </a:r>
            <a:r>
              <a:rPr lang="fr-FR" sz="1700" dirty="0"/>
              <a:t>Un attribut contient des données décrivant des propriétés particulières du BO. </a:t>
            </a:r>
          </a:p>
          <a:p>
            <a:pPr marL="0" indent="0" algn="just">
              <a:buNone/>
            </a:pPr>
            <a:r>
              <a:rPr lang="fr-FR" sz="1700" dirty="0"/>
              <a:t>SalesOrder.OrderingParty (Donneur d'ordre) est un attribut de SalesOrder.</a:t>
            </a:r>
          </a:p>
          <a:p>
            <a:pPr marL="0" indent="0" algn="just">
              <a:buNone/>
            </a:pPr>
            <a:r>
              <a:rPr lang="fr-FR" sz="1700" b="1" dirty="0"/>
              <a:t>Evénements : </a:t>
            </a:r>
            <a:r>
              <a:rPr lang="fr-FR" sz="1700" dirty="0"/>
              <a:t>Un événement indique un changement de statut du BO.SalesOrder.Created (Généré) est un événement de SalesOrder.</a:t>
            </a:r>
          </a:p>
          <a:p>
            <a:pPr marL="0" indent="0" algn="just">
              <a:buNone/>
            </a:pPr>
            <a:r>
              <a:rPr lang="fr-FR" sz="1700" b="1" dirty="0"/>
              <a:t>Interfaces : </a:t>
            </a:r>
            <a:r>
              <a:rPr lang="fr-FR" sz="1700" dirty="0"/>
              <a:t>Groupes de méthodes associées à un type d'objet.</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2749043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lstStyle/>
          <a:p>
            <a:pPr algn="ctr"/>
            <a:r>
              <a:rPr lang="fr-FR" sz="4000" b="1" dirty="0">
                <a:solidFill>
                  <a:schemeClr val="accent1"/>
                </a:solidFill>
              </a:rPr>
              <a:t>Un type d'objet est défini par (2)</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buNone/>
            </a:pPr>
            <a:r>
              <a:rPr lang="fr-FR" sz="1800" b="1" dirty="0"/>
              <a:t>Héritage et Polymorphisme :</a:t>
            </a:r>
          </a:p>
          <a:p>
            <a:pPr marL="0" indent="0" algn="just">
              <a:buNone/>
            </a:pPr>
            <a:r>
              <a:rPr lang="fr-FR" sz="1800" dirty="0"/>
              <a:t>Un type d'objet peut être dérivé d'un super-type. Dans ce cas, il hérite de toutes les propriétés et méthodes du super-type, et peut en posséder d'autres, qui lui sont particulières. Un type peut aussi avoir un comportement différent pour les méthodes dont il a hérité. Dans le BOR, les éléments hérités sont surlignés en rouge. Les éléments locaux sont en blanc. </a:t>
            </a:r>
          </a:p>
          <a:p>
            <a:pPr marL="0" indent="0" algn="just">
              <a:buNone/>
            </a:pPr>
            <a:r>
              <a:rPr lang="fr-FR" sz="1800" dirty="0"/>
              <a:t>Le super-type duquel est issu un type est accessible en double-cliquant sur nom du type dans l'écran </a:t>
            </a:r>
          </a:p>
          <a:p>
            <a:pPr marL="0" indent="0" algn="just">
              <a:buNone/>
            </a:pPr>
            <a:r>
              <a:rPr lang="fr-FR" sz="1800" dirty="0"/>
              <a:t>d'affichage de ce dernier. Le type SalesOrder (BUS2032) est issu du super-type VBAK (document de vente).</a:t>
            </a:r>
          </a:p>
          <a:p>
            <a:pPr marL="0" indent="0" algn="just">
              <a:buNone/>
            </a:pPr>
            <a:r>
              <a:rPr lang="fr-FR" sz="1800" dirty="0"/>
              <a:t>Une méthode peut engendrer différents comportements lorsque déclenchée dans différents BO. </a:t>
            </a:r>
          </a:p>
          <a:p>
            <a:pPr marL="0" indent="0" algn="just">
              <a:buNone/>
            </a:pPr>
            <a:r>
              <a:rPr lang="fr-FR" sz="1800" dirty="0"/>
              <a:t>C'est la notion de polymorphisme.</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825236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lstStyle/>
          <a:p>
            <a:pPr algn="ctr"/>
            <a:r>
              <a:rPr lang="fr-FR" sz="4000" b="1" dirty="0">
                <a:solidFill>
                  <a:schemeClr val="accent1"/>
                </a:solidFill>
              </a:rPr>
              <a:t>Les accès aux BAPI</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normAutofit fontScale="92500" lnSpcReduction="10000"/>
          </a:bodyPr>
          <a:lstStyle/>
          <a:p>
            <a:pPr marL="0" indent="0">
              <a:buNone/>
            </a:pPr>
            <a:r>
              <a:rPr lang="fr-FR" sz="1800" b="1" u="sng" dirty="0"/>
              <a:t>Les transactions correspondantes :</a:t>
            </a:r>
          </a:p>
          <a:p>
            <a:pPr marL="0" indent="0">
              <a:buNone/>
            </a:pPr>
            <a:r>
              <a:rPr lang="fr-FR" sz="1800" dirty="0"/>
              <a:t>Il existe plusieurs manières d'accéder aux BAPIs :</a:t>
            </a:r>
          </a:p>
          <a:p>
            <a:pPr marL="0" indent="0">
              <a:buNone/>
            </a:pPr>
            <a:r>
              <a:rPr lang="fr-FR" sz="1800" dirty="0"/>
              <a:t>- Business Object Repository : Transaction SWO2.</a:t>
            </a:r>
          </a:p>
          <a:p>
            <a:pPr marL="0" indent="0">
              <a:buNone/>
            </a:pPr>
            <a:r>
              <a:rPr lang="fr-FR" sz="1800" dirty="0"/>
              <a:t>Pour accéder aux BAPIs via les Business Object auxquels ils sont rattachés.</a:t>
            </a:r>
          </a:p>
          <a:p>
            <a:pPr marL="0" indent="0">
              <a:buNone/>
            </a:pPr>
            <a:r>
              <a:rPr lang="fr-FR" sz="1800" dirty="0"/>
              <a:t>- BAPI Browser : Transaction BAPI.</a:t>
            </a:r>
          </a:p>
          <a:p>
            <a:pPr marL="0" indent="0">
              <a:buNone/>
            </a:pPr>
            <a:r>
              <a:rPr lang="fr-FR" sz="1800" dirty="0"/>
              <a:t>Outils - Business Framework - BAPI Browser</a:t>
            </a:r>
          </a:p>
          <a:p>
            <a:pPr marL="0" indent="0">
              <a:buNone/>
            </a:pPr>
            <a:r>
              <a:rPr lang="fr-FR" sz="1800" dirty="0"/>
              <a:t>Accès direct aux BAPIs sans la hiérarchie des BO. Permet de visualiser l' ensemble des BAPI.</a:t>
            </a:r>
          </a:p>
          <a:p>
            <a:pPr marL="0" indent="0">
              <a:buNone/>
            </a:pPr>
            <a:r>
              <a:rPr lang="fr-FR" sz="1800" dirty="0"/>
              <a:t>Business Object Builder : Transaction SWO1.</a:t>
            </a:r>
          </a:p>
          <a:p>
            <a:pPr marL="0" indent="0">
              <a:buNone/>
            </a:pPr>
            <a:r>
              <a:rPr lang="fr-FR" sz="1800" dirty="0"/>
              <a:t>Outils - Business Framework - Développement BAPI - Business Object Builder</a:t>
            </a:r>
          </a:p>
          <a:p>
            <a:pPr marL="0" indent="0">
              <a:buNone/>
            </a:pPr>
            <a:r>
              <a:rPr lang="fr-FR" sz="1800" dirty="0"/>
              <a:t>Exemple : Tout au long de ce tutos, nous nous baserons sur un BO particulier, SalesOrder (Commande Client).</a:t>
            </a:r>
          </a:p>
          <a:p>
            <a:pPr marL="0" indent="0" algn="just">
              <a:buNone/>
            </a:pPr>
            <a:endParaRPr lang="fr-FR" sz="2000"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2309542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Une méthode / Une interface avec l’objet métier </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928838"/>
            <a:ext cx="10694114" cy="5653572"/>
          </a:xfrm>
        </p:spPr>
        <p:txBody>
          <a:bodyPr>
            <a:normAutofit fontScale="92500"/>
          </a:bodyPr>
          <a:lstStyle/>
          <a:p>
            <a:pPr marL="0" indent="0" algn="just">
              <a:buNone/>
            </a:pPr>
            <a:r>
              <a:rPr lang="fr-FR" sz="1800" dirty="0"/>
              <a:t>BAPI signifie</a:t>
            </a:r>
            <a:r>
              <a:rPr lang="fr-FR" altLang="fr-FR" sz="1800" dirty="0">
                <a:solidFill>
                  <a:srgbClr val="797979"/>
                </a:solidFill>
              </a:rPr>
              <a:t> </a:t>
            </a:r>
            <a:r>
              <a:rPr lang="fr-FR" altLang="fr-FR" sz="1800" b="1" dirty="0">
                <a:solidFill>
                  <a:srgbClr val="797979"/>
                </a:solidFill>
              </a:rPr>
              <a:t>Business Application Programming Interface</a:t>
            </a:r>
            <a:r>
              <a:rPr lang="fr-FR" sz="1800" b="1" dirty="0"/>
              <a:t> (Interface de programmation d'applications      commerciales)</a:t>
            </a:r>
            <a:r>
              <a:rPr lang="fr-FR" sz="1800" dirty="0"/>
              <a:t>..</a:t>
            </a:r>
          </a:p>
          <a:p>
            <a:pPr algn="just"/>
            <a:r>
              <a:rPr lang="fr-FR" sz="1800" b="1" dirty="0"/>
              <a:t>BAPI est une interface de programmation standardisée pour les modèles d'objet métier des produits SAP. </a:t>
            </a:r>
            <a:endParaRPr lang="fr-FR" sz="1800" b="1" dirty="0">
              <a:solidFill>
                <a:srgbClr val="797979"/>
              </a:solidFill>
            </a:endParaRPr>
          </a:p>
          <a:p>
            <a:pPr algn="just"/>
            <a:r>
              <a:rPr lang="fr-FR" sz="1800" i="1" dirty="0">
                <a:solidFill>
                  <a:srgbClr val="797979"/>
                </a:solidFill>
              </a:rPr>
              <a:t>En effet, Les BAPI sont définies dans le BOR (référentiel d'objets métier) en tant que méthodes de types d'objets métier SAP qui exécutent des fonctions </a:t>
            </a:r>
            <a:r>
              <a:rPr lang="fr-FR" sz="1800" dirty="0">
                <a:solidFill>
                  <a:srgbClr val="797979"/>
                </a:solidFill>
              </a:rPr>
              <a:t>métier spécifiques. De ce fait, une</a:t>
            </a:r>
            <a:r>
              <a:rPr lang="fr-FR" sz="1800" dirty="0"/>
              <a:t> BAPI encapsule les couches internes de son modèle d'objet métier SAP pour confirmer que toutes les opérations de logique, d'autorisation et de validation s'exécutent correctement lors de l'accès aux objets métier ou de leur modification, « ce qui est difficile à faire avec des MF classiques ».</a:t>
            </a:r>
          </a:p>
          <a:p>
            <a:pPr algn="just" eaLnBrk="0" fontAlgn="base">
              <a:spcBef>
                <a:spcPts val="250"/>
              </a:spcBef>
            </a:pPr>
            <a:r>
              <a:rPr lang="fr-FR" altLang="fr-FR" sz="1800" dirty="0">
                <a:solidFill>
                  <a:srgbClr val="797979"/>
                </a:solidFill>
              </a:rPr>
              <a:t>Les BAPI sont des ensembles complets de modules de fonction (BAPI) qui modélisent une application métier.</a:t>
            </a:r>
          </a:p>
          <a:p>
            <a:pPr algn="just" eaLnBrk="0" fontAlgn="base">
              <a:spcBef>
                <a:spcPts val="250"/>
              </a:spcBef>
            </a:pPr>
            <a:r>
              <a:rPr lang="fr-FR" altLang="fr-FR" sz="1800" dirty="0">
                <a:solidFill>
                  <a:srgbClr val="797979"/>
                </a:solidFill>
              </a:rPr>
              <a:t>Les BAPI sont des API compatibles RFC (prend en charge la méthode API)  alors que les FM ne le sont pas. </a:t>
            </a:r>
          </a:p>
          <a:p>
            <a:pPr algn="just" eaLnBrk="0" fontAlgn="base">
              <a:spcBef>
                <a:spcPts val="250"/>
              </a:spcBef>
            </a:pPr>
            <a:r>
              <a:rPr lang="fr-FR" altLang="fr-FR" sz="1800" dirty="0">
                <a:solidFill>
                  <a:srgbClr val="797979"/>
                </a:solidFill>
              </a:rPr>
              <a:t>BAPI (Business Application Programming Interface) est une méthode API d'un objet métier </a:t>
            </a:r>
            <a:r>
              <a:rPr lang="fr-FR" altLang="fr-FR" sz="1800" dirty="0"/>
              <a:t>à l’intérieur d’</a:t>
            </a:r>
            <a:r>
              <a:rPr lang="fr-FR" altLang="fr-FR" sz="1800" dirty="0">
                <a:solidFill>
                  <a:srgbClr val="797979"/>
                </a:solidFill>
              </a:rPr>
              <a:t>un module  fonction compatible RFC.</a:t>
            </a:r>
          </a:p>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652491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BAPI : Un accès externe aux données</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13" name="Rectangle 6">
            <a:extLst>
              <a:ext uri="{FF2B5EF4-FFF2-40B4-BE49-F238E27FC236}">
                <a16:creationId xmlns:a16="http://schemas.microsoft.com/office/drawing/2014/main" id="{01F3EBB4-B8AB-461C-A780-E453A6C394FB}"/>
              </a:ext>
            </a:extLst>
          </p:cNvPr>
          <p:cNvSpPr>
            <a:spLocks noChangeArrowheads="1"/>
          </p:cNvSpPr>
          <p:nvPr/>
        </p:nvSpPr>
        <p:spPr bwMode="auto">
          <a:xfrm>
            <a:off x="722931" y="1283995"/>
            <a:ext cx="10694114" cy="4692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22860" rIns="45720" bIns="22860" numCol="1" anchor="ctr" anchorCtr="0" compatLnSpc="1">
            <a:prstTxWarp prst="textNoShape">
              <a:avLst/>
            </a:prstTxWarp>
            <a:spAutoFit/>
          </a:bodyPr>
          <a:lstStyle/>
          <a:p>
            <a:pPr algn="just" eaLnBrk="0" fontAlgn="base">
              <a:lnSpc>
                <a:spcPct val="150000"/>
              </a:lnSpc>
              <a:spcBef>
                <a:spcPts val="250"/>
              </a:spcBef>
            </a:pPr>
            <a:r>
              <a:rPr lang="fr-FR" sz="2000" dirty="0">
                <a:solidFill>
                  <a:srgbClr val="797979"/>
                </a:solidFill>
                <a:latin typeface="Calibri" panose="020F0502020204030204" pitchFamily="34" charset="0"/>
                <a:cs typeface="Calibri" panose="020F0502020204030204" pitchFamily="34" charset="0"/>
              </a:rPr>
              <a:t>L’accès externe aux données et processus est uniquement possible en utilisant des méthodes spécifiques, à savoir des interfaces BAPI qui permettent aux applications externes d'accéder aux processus et données commerciaux du système ECC. Ils fournissent des méthodes stables et standardisées pour réaliser une intégration transparente entre le système ECC et les applications externes, les systèmes hérités et les modules complémentaires.</a:t>
            </a:r>
          </a:p>
          <a:p>
            <a:pPr algn="just" eaLnBrk="0" fontAlgn="base" hangingPunct="0">
              <a:lnSpc>
                <a:spcPct val="150000"/>
              </a:lnSpc>
              <a:spcBef>
                <a:spcPts val="250"/>
              </a:spcBef>
            </a:pPr>
            <a:r>
              <a:rPr lang="fr-FR" altLang="fr-FR" sz="2000" dirty="0">
                <a:solidFill>
                  <a:srgbClr val="797979"/>
                </a:solidFill>
                <a:latin typeface="Calibri" panose="020F0502020204030204" pitchFamily="34" charset="0"/>
                <a:cs typeface="Calibri" panose="020F0502020204030204" pitchFamily="34" charset="0"/>
                <a:sym typeface="Exo 2 Light"/>
              </a:rPr>
              <a:t>Vous créez des objets métier et ceux-ci sont ensuite enregistrés dans votre BOR (Business Object Repository) auquel vous pouvez accéder en dehors du système SAP en utilisant d'autres applications (Non-SAP) telles que VB ou JAVA.</a:t>
            </a:r>
          </a:p>
          <a:p>
            <a:pPr algn="just" eaLnBrk="0" fontAlgn="base">
              <a:lnSpc>
                <a:spcPct val="150000"/>
              </a:lnSpc>
              <a:spcBef>
                <a:spcPts val="250"/>
              </a:spcBef>
            </a:pPr>
            <a:r>
              <a:rPr lang="fr-FR" altLang="fr-FR" sz="2000" dirty="0">
                <a:solidFill>
                  <a:srgbClr val="797979"/>
                </a:solidFill>
                <a:latin typeface="Calibri" panose="020F0502020204030204" pitchFamily="34" charset="0"/>
                <a:cs typeface="Calibri" panose="020F0502020204030204" pitchFamily="34" charset="0"/>
                <a:sym typeface="Exo 2 Light"/>
              </a:rPr>
              <a:t>Dans ce cas, vous spécifiez uniquement l'objet métier et sa méthode à partir d'un système externe dans BAPI. Il n'y a pas d'appel système direct alors que les RFC sont des appels système directs. </a:t>
            </a:r>
          </a:p>
        </p:txBody>
      </p:sp>
    </p:spTree>
    <p:extLst>
      <p:ext uri="{BB962C8B-B14F-4D97-AF65-F5344CB8AC3E}">
        <p14:creationId xmlns:p14="http://schemas.microsoft.com/office/powerpoint/2010/main" val="234453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lstStyle/>
          <a:p>
            <a:pPr algn="ctr"/>
            <a:r>
              <a:rPr lang="fr-FR" sz="4000" b="1" dirty="0">
                <a:solidFill>
                  <a:schemeClr val="accent1"/>
                </a:solidFill>
              </a:rPr>
              <a:t>Dans quel cas utilise t-on une BAPI?</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13" name="Rectangle 6">
            <a:extLst>
              <a:ext uri="{FF2B5EF4-FFF2-40B4-BE49-F238E27FC236}">
                <a16:creationId xmlns:a16="http://schemas.microsoft.com/office/drawing/2014/main" id="{01F3EBB4-B8AB-461C-A780-E453A6C394FB}"/>
              </a:ext>
            </a:extLst>
          </p:cNvPr>
          <p:cNvSpPr>
            <a:spLocks noChangeArrowheads="1"/>
          </p:cNvSpPr>
          <p:nvPr/>
        </p:nvSpPr>
        <p:spPr bwMode="auto">
          <a:xfrm>
            <a:off x="689233" y="656789"/>
            <a:ext cx="10679112" cy="576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22860" rIns="45720" bIns="22860" numCol="1" anchor="ctr" anchorCtr="0" compatLnSpc="1">
            <a:prstTxWarp prst="textNoShape">
              <a:avLst/>
            </a:prstTxWarp>
            <a:spAutoFit/>
          </a:bodyPr>
          <a:lstStyle/>
          <a:p>
            <a:pPr algn="just" eaLnBrk="0" fontAlgn="base">
              <a:lnSpc>
                <a:spcPct val="150000"/>
              </a:lnSpc>
              <a:spcBef>
                <a:spcPts val="250"/>
              </a:spcBef>
            </a:pPr>
            <a:r>
              <a:rPr lang="fr-FR" sz="2000" b="1" dirty="0">
                <a:solidFill>
                  <a:srgbClr val="797979"/>
                </a:solidFill>
                <a:latin typeface="Calibri" panose="020F0502020204030204" pitchFamily="34" charset="0"/>
                <a:cs typeface="Calibri" panose="020F0502020204030204" pitchFamily="34" charset="0"/>
              </a:rPr>
              <a:t>Directement dans un programme ABAP : </a:t>
            </a:r>
          </a:p>
          <a:p>
            <a:pPr marL="285750" indent="-285750" algn="just" eaLnBrk="0" fontAlgn="base">
              <a:lnSpc>
                <a:spcPct val="150000"/>
              </a:lnSpc>
              <a:spcBef>
                <a:spcPts val="250"/>
              </a:spcBef>
              <a:buFontTx/>
              <a:buChar char="-"/>
            </a:pPr>
            <a:r>
              <a:rPr lang="fr-FR" sz="2000" dirty="0">
                <a:solidFill>
                  <a:srgbClr val="797979"/>
                </a:solidFill>
                <a:latin typeface="Calibri" panose="020F0502020204030204" pitchFamily="34" charset="0"/>
                <a:cs typeface="Calibri" panose="020F0502020204030204" pitchFamily="34" charset="0"/>
              </a:rPr>
              <a:t>accès aux données pour </a:t>
            </a:r>
            <a:r>
              <a:rPr lang="fr-FR" altLang="fr-FR" sz="2000" dirty="0">
                <a:solidFill>
                  <a:srgbClr val="797979"/>
                </a:solidFill>
                <a:latin typeface="Calibri" panose="020F0502020204030204" pitchFamily="34" charset="0"/>
                <a:cs typeface="Calibri" panose="020F0502020204030204" pitchFamily="34" charset="0"/>
                <a:sym typeface="Exo 2 Light"/>
              </a:rPr>
              <a:t>générer un report </a:t>
            </a:r>
            <a:r>
              <a:rPr lang="fr-FR" sz="2000" dirty="0">
                <a:solidFill>
                  <a:srgbClr val="797979"/>
                </a:solidFill>
                <a:latin typeface="Calibri" panose="020F0502020204030204" pitchFamily="34" charset="0"/>
                <a:cs typeface="Calibri" panose="020F0502020204030204" pitchFamily="34" charset="0"/>
              </a:rPr>
              <a:t>sans accéder directement aux tables (</a:t>
            </a:r>
            <a:r>
              <a:rPr lang="fr-FR" altLang="fr-FR" sz="2000" dirty="0">
                <a:solidFill>
                  <a:srgbClr val="797979"/>
                </a:solidFill>
                <a:latin typeface="Calibri" panose="020F0502020204030204" pitchFamily="34" charset="0"/>
                <a:cs typeface="Calibri" panose="020F0502020204030204" pitchFamily="34" charset="0"/>
                <a:sym typeface="Exo 2 Light"/>
              </a:rPr>
              <a:t>sans select)</a:t>
            </a:r>
            <a:endParaRPr lang="fr-FR" sz="2000" dirty="0">
              <a:solidFill>
                <a:srgbClr val="797979"/>
              </a:solidFill>
              <a:latin typeface="Calibri" panose="020F0502020204030204" pitchFamily="34" charset="0"/>
              <a:cs typeface="Calibri" panose="020F0502020204030204" pitchFamily="34" charset="0"/>
            </a:endParaRPr>
          </a:p>
          <a:p>
            <a:pPr marL="285750" indent="-285750" algn="just" eaLnBrk="0" fontAlgn="base">
              <a:lnSpc>
                <a:spcPct val="150000"/>
              </a:lnSpc>
              <a:spcBef>
                <a:spcPts val="250"/>
              </a:spcBef>
              <a:buFontTx/>
              <a:buChar char="-"/>
            </a:pPr>
            <a:r>
              <a:rPr lang="fr-FR" sz="2000" dirty="0">
                <a:solidFill>
                  <a:srgbClr val="797979"/>
                </a:solidFill>
                <a:latin typeface="Calibri" panose="020F0502020204030204" pitchFamily="34" charset="0"/>
                <a:cs typeface="Calibri" panose="020F0502020204030204" pitchFamily="34" charset="0"/>
              </a:rPr>
              <a:t>création, modification d’objets SAP sans passer  par  un call function. </a:t>
            </a:r>
          </a:p>
          <a:p>
            <a:pPr algn="just" eaLnBrk="0" fontAlgn="base">
              <a:lnSpc>
                <a:spcPct val="150000"/>
              </a:lnSpc>
              <a:spcBef>
                <a:spcPts val="250"/>
              </a:spcBef>
            </a:pPr>
            <a:r>
              <a:rPr lang="fr-FR" sz="2000" dirty="0">
                <a:solidFill>
                  <a:srgbClr val="797979"/>
                </a:solidFill>
                <a:latin typeface="Calibri" panose="020F0502020204030204" pitchFamily="34" charset="0"/>
                <a:cs typeface="Calibri" panose="020F0502020204030204" pitchFamily="34" charset="0"/>
              </a:rPr>
              <a:t>L’avantage d’utiliser une BAPI est un gain de temps sur les traitements.</a:t>
            </a:r>
            <a:endParaRPr lang="fr-FR" altLang="fr-FR" sz="2000" dirty="0">
              <a:solidFill>
                <a:srgbClr val="797979"/>
              </a:solidFill>
              <a:latin typeface="Calibri" panose="020F0502020204030204" pitchFamily="34" charset="0"/>
              <a:cs typeface="Calibri" panose="020F0502020204030204" pitchFamily="34" charset="0"/>
              <a:sym typeface="Exo 2 Light"/>
            </a:endParaRPr>
          </a:p>
          <a:p>
            <a:pPr algn="just" eaLnBrk="0" fontAlgn="base">
              <a:lnSpc>
                <a:spcPct val="150000"/>
              </a:lnSpc>
              <a:spcBef>
                <a:spcPts val="250"/>
              </a:spcBef>
            </a:pPr>
            <a:r>
              <a:rPr lang="fr-FR" sz="2000" b="1" dirty="0">
                <a:solidFill>
                  <a:srgbClr val="797979"/>
                </a:solidFill>
                <a:latin typeface="Calibri" panose="020F0502020204030204" pitchFamily="34" charset="0"/>
                <a:cs typeface="Calibri" panose="020F0502020204030204" pitchFamily="34" charset="0"/>
              </a:rPr>
              <a:t>Dans des applications externes au système ECC /</a:t>
            </a:r>
            <a:r>
              <a:rPr lang="fr-FR" altLang="fr-FR" sz="2000" b="1" dirty="0">
                <a:solidFill>
                  <a:srgbClr val="797979"/>
                </a:solidFill>
                <a:latin typeface="Calibri" panose="020F0502020204030204" pitchFamily="34" charset="0"/>
                <a:cs typeface="Calibri" panose="020F0502020204030204" pitchFamily="34" charset="0"/>
                <a:sym typeface="Exo 2 Light"/>
              </a:rPr>
              <a:t>Pour communiquer entre système SAP et non SAP : </a:t>
            </a:r>
            <a:r>
              <a:rPr lang="fr-FR" altLang="fr-FR" sz="2000" dirty="0">
                <a:solidFill>
                  <a:srgbClr val="797979"/>
                </a:solidFill>
                <a:latin typeface="Calibri" panose="020F0502020204030204" pitchFamily="34" charset="0"/>
                <a:cs typeface="Calibri" panose="020F0502020204030204" pitchFamily="34" charset="0"/>
                <a:sym typeface="Exo 2 Light"/>
              </a:rPr>
              <a:t>S</a:t>
            </a:r>
            <a:r>
              <a:rPr lang="fr-FR" sz="2000" dirty="0">
                <a:solidFill>
                  <a:srgbClr val="797979"/>
                </a:solidFill>
                <a:latin typeface="Calibri" panose="020F0502020204030204" pitchFamily="34" charset="0"/>
                <a:cs typeface="Calibri" panose="020F0502020204030204" pitchFamily="34" charset="0"/>
              </a:rPr>
              <a:t>i l’application que vous développez doit utiliser des données d’objets de gestion / métier du système ECC, l’accès à ces données doit se faire en appelant des BAPI.</a:t>
            </a:r>
            <a:endParaRPr lang="fr-FR" altLang="fr-FR" sz="2000" b="1" dirty="0">
              <a:solidFill>
                <a:srgbClr val="797979"/>
              </a:solidFill>
              <a:latin typeface="Calibri" panose="020F0502020204030204" pitchFamily="34" charset="0"/>
              <a:cs typeface="Calibri" panose="020F0502020204030204" pitchFamily="34" charset="0"/>
              <a:sym typeface="Exo 2 Light"/>
            </a:endParaRPr>
          </a:p>
          <a:p>
            <a:pPr algn="just" eaLnBrk="0" fontAlgn="base">
              <a:lnSpc>
                <a:spcPct val="150000"/>
              </a:lnSpc>
              <a:spcBef>
                <a:spcPts val="250"/>
              </a:spcBef>
            </a:pPr>
            <a:r>
              <a:rPr lang="fr-FR" altLang="fr-FR" sz="2000" b="1" dirty="0">
                <a:solidFill>
                  <a:srgbClr val="797979"/>
                </a:solidFill>
                <a:latin typeface="Calibri" panose="020F0502020204030204" pitchFamily="34" charset="0"/>
                <a:cs typeface="Calibri" panose="020F0502020204030204" pitchFamily="34" charset="0"/>
                <a:sym typeface="Exo 2 Light"/>
              </a:rPr>
              <a:t>Pour mettre à jour des données dans SAP </a:t>
            </a:r>
            <a:r>
              <a:rPr lang="fr-FR" altLang="fr-FR" sz="2000" dirty="0">
                <a:solidFill>
                  <a:srgbClr val="797979"/>
                </a:solidFill>
                <a:latin typeface="Calibri" panose="020F0502020204030204" pitchFamily="34" charset="0"/>
                <a:cs typeface="Calibri" panose="020F0502020204030204" pitchFamily="34" charset="0"/>
                <a:sym typeface="Exo 2 Light"/>
              </a:rPr>
              <a:t>sans avoir besoin d’utiliser le BDC (Batch Data Communication).</a:t>
            </a:r>
          </a:p>
          <a:p>
            <a:pPr algn="just" eaLnBrk="0" fontAlgn="base">
              <a:lnSpc>
                <a:spcPct val="150000"/>
              </a:lnSpc>
              <a:spcBef>
                <a:spcPts val="250"/>
              </a:spcBef>
            </a:pPr>
            <a:r>
              <a:rPr lang="fr-FR" altLang="fr-FR" sz="2000" dirty="0">
                <a:solidFill>
                  <a:srgbClr val="797979"/>
                </a:solidFill>
                <a:latin typeface="Calibri" panose="020F0502020204030204" pitchFamily="34" charset="0"/>
                <a:cs typeface="Calibri" panose="020F0502020204030204" pitchFamily="34" charset="0"/>
                <a:sym typeface="Wingdings" panose="05000000000000000000" pitchFamily="2" charset="2"/>
              </a:rPr>
              <a:t></a:t>
            </a:r>
            <a:r>
              <a:rPr lang="fr-FR" altLang="fr-FR" sz="2000" dirty="0">
                <a:solidFill>
                  <a:srgbClr val="797979"/>
                </a:solidFill>
                <a:latin typeface="Calibri" panose="020F0502020204030204" pitchFamily="34" charset="0"/>
                <a:cs typeface="Calibri" panose="020F0502020204030204" pitchFamily="34" charset="0"/>
                <a:sym typeface="Exo 2 Light"/>
              </a:rPr>
              <a:t> Rappel de l’impossibilité de « toucher » aux objets métiers sans maitriser l’intégralité du process / Démo avec </a:t>
            </a:r>
            <a:r>
              <a:rPr lang="fr-FR" altLang="fr-FR" sz="2000" dirty="0" err="1">
                <a:solidFill>
                  <a:srgbClr val="797979"/>
                </a:solidFill>
                <a:latin typeface="Calibri" panose="020F0502020204030204" pitchFamily="34" charset="0"/>
                <a:cs typeface="Calibri" panose="020F0502020204030204" pitchFamily="34" charset="0"/>
                <a:sym typeface="Exo 2 Light"/>
              </a:rPr>
              <a:t>débug</a:t>
            </a:r>
            <a:r>
              <a:rPr lang="fr-FR" altLang="fr-FR" sz="2000" dirty="0">
                <a:solidFill>
                  <a:srgbClr val="797979"/>
                </a:solidFill>
                <a:latin typeface="Calibri" panose="020F0502020204030204" pitchFamily="34" charset="0"/>
                <a:cs typeface="Calibri" panose="020F0502020204030204" pitchFamily="34" charset="0"/>
                <a:sym typeface="Exo 2 Light"/>
              </a:rPr>
              <a:t> sur une transaction standard pour voir tous les contrôles qui sont effectués lorsqu’on touche à ces BO(Business Object)</a:t>
            </a:r>
          </a:p>
        </p:txBody>
      </p:sp>
    </p:spTree>
    <p:extLst>
      <p:ext uri="{BB962C8B-B14F-4D97-AF65-F5344CB8AC3E}">
        <p14:creationId xmlns:p14="http://schemas.microsoft.com/office/powerpoint/2010/main" val="1412122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règles d’utilisation d’une BAPI</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13" name="Rectangle 6">
            <a:extLst>
              <a:ext uri="{FF2B5EF4-FFF2-40B4-BE49-F238E27FC236}">
                <a16:creationId xmlns:a16="http://schemas.microsoft.com/office/drawing/2014/main" id="{01F3EBB4-B8AB-461C-A780-E453A6C394FB}"/>
              </a:ext>
            </a:extLst>
          </p:cNvPr>
          <p:cNvSpPr>
            <a:spLocks noChangeArrowheads="1"/>
          </p:cNvSpPr>
          <p:nvPr/>
        </p:nvSpPr>
        <p:spPr bwMode="auto">
          <a:xfrm>
            <a:off x="544103" y="1134853"/>
            <a:ext cx="10872224" cy="4983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22860" rIns="45720" bIns="22860" numCol="1" anchor="ctr" anchorCtr="0" compatLnSpc="1">
            <a:prstTxWarp prst="textNoShape">
              <a:avLst/>
            </a:prstTxWarp>
            <a:spAutoFit/>
          </a:bodyPr>
          <a:lstStyle/>
          <a:p>
            <a:pPr algn="just" eaLnBrk="0" fontAlgn="base">
              <a:lnSpc>
                <a:spcPct val="150000"/>
              </a:lnSpc>
              <a:spcBef>
                <a:spcPts val="250"/>
              </a:spcBef>
            </a:pPr>
            <a:r>
              <a:rPr lang="fr-FR" altLang="fr-FR" sz="1700" dirty="0">
                <a:solidFill>
                  <a:srgbClr val="797979"/>
                </a:solidFill>
                <a:latin typeface="Calibri" panose="020F0502020204030204" pitchFamily="34" charset="0"/>
                <a:cs typeface="Calibri" panose="020F0502020204030204" pitchFamily="34" charset="0"/>
                <a:sym typeface="Exo 2 Light"/>
              </a:rPr>
              <a:t>Chaque nom de BAPI démarre par BAPI(standard) ou ZBAPI (BAPI spécifique) </a:t>
            </a:r>
          </a:p>
          <a:p>
            <a:pPr algn="just" eaLnBrk="0" fontAlgn="base">
              <a:lnSpc>
                <a:spcPct val="150000"/>
              </a:lnSpc>
              <a:spcBef>
                <a:spcPts val="250"/>
              </a:spcBef>
            </a:pPr>
            <a:r>
              <a:rPr lang="fr-FR" altLang="fr-FR" sz="1700" dirty="0">
                <a:solidFill>
                  <a:srgbClr val="797979"/>
                </a:solidFill>
                <a:latin typeface="Calibri" panose="020F0502020204030204" pitchFamily="34" charset="0"/>
                <a:cs typeface="Calibri" panose="020F0502020204030204" pitchFamily="34" charset="0"/>
                <a:sym typeface="Exo 2 Light"/>
              </a:rPr>
              <a:t>Chaque paramètre doit être de type structure, pas le type de données direct</a:t>
            </a:r>
          </a:p>
          <a:p>
            <a:pPr algn="just" eaLnBrk="0" fontAlgn="base">
              <a:lnSpc>
                <a:spcPct val="150000"/>
              </a:lnSpc>
              <a:spcBef>
                <a:spcPts val="250"/>
              </a:spcBef>
            </a:pPr>
            <a:r>
              <a:rPr lang="fr-FR" altLang="fr-FR" sz="1700" dirty="0">
                <a:solidFill>
                  <a:srgbClr val="797979"/>
                </a:solidFill>
                <a:latin typeface="Calibri" panose="020F0502020204030204" pitchFamily="34" charset="0"/>
                <a:cs typeface="Calibri" panose="020F0502020204030204" pitchFamily="34" charset="0"/>
                <a:sym typeface="Exo 2 Light"/>
              </a:rPr>
              <a:t>Chaque nom de structure doit démarrer également par BAPI Ou ZBAPI (</a:t>
            </a:r>
            <a:r>
              <a:rPr lang="fr-FR" altLang="fr-FR" sz="1700" dirty="0">
                <a:solidFill>
                  <a:srgbClr val="797979"/>
                </a:solidFill>
                <a:latin typeface="Calibri" panose="020F0502020204030204" pitchFamily="34" charset="0"/>
                <a:cs typeface="Calibri" panose="020F0502020204030204" pitchFamily="34" charset="0"/>
              </a:rPr>
              <a:t>MF n'a pas besoin de convention de nommage )</a:t>
            </a:r>
            <a:endParaRPr lang="fr-FR" altLang="fr-FR" sz="1700" dirty="0">
              <a:solidFill>
                <a:srgbClr val="797979"/>
              </a:solidFill>
              <a:latin typeface="Calibri" panose="020F0502020204030204" pitchFamily="34" charset="0"/>
              <a:cs typeface="Calibri" panose="020F0502020204030204" pitchFamily="34" charset="0"/>
              <a:sym typeface="Exo 2 Light"/>
            </a:endParaRPr>
          </a:p>
          <a:p>
            <a:pPr algn="just" eaLnBrk="0" fontAlgn="base">
              <a:lnSpc>
                <a:spcPct val="150000"/>
              </a:lnSpc>
              <a:spcBef>
                <a:spcPts val="250"/>
              </a:spcBef>
            </a:pPr>
            <a:r>
              <a:rPr lang="fr-FR" altLang="fr-FR" sz="1700" dirty="0">
                <a:solidFill>
                  <a:srgbClr val="797979"/>
                </a:solidFill>
                <a:latin typeface="Calibri" panose="020F0502020204030204" pitchFamily="34" charset="0"/>
                <a:cs typeface="Calibri" panose="020F0502020204030204" pitchFamily="34" charset="0"/>
                <a:sym typeface="Exo 2 Light"/>
              </a:rPr>
              <a:t>Tous les paramètres doivent être passés par valeur car les BAPI ne supportent pas le passage par référence </a:t>
            </a:r>
          </a:p>
          <a:p>
            <a:pPr algn="just" eaLnBrk="0" fontAlgn="base">
              <a:lnSpc>
                <a:spcPct val="150000"/>
              </a:lnSpc>
              <a:spcBef>
                <a:spcPts val="250"/>
              </a:spcBef>
            </a:pPr>
            <a:r>
              <a:rPr lang="fr-FR" altLang="fr-FR" sz="1700" dirty="0">
                <a:solidFill>
                  <a:srgbClr val="797979"/>
                </a:solidFill>
                <a:latin typeface="Calibri" panose="020F0502020204030204" pitchFamily="34" charset="0"/>
                <a:cs typeface="Calibri" panose="020F0502020204030204" pitchFamily="34" charset="0"/>
                <a:sym typeface="Exo 2 Light"/>
              </a:rPr>
              <a:t>Chaque BAPI doit avoir un Paramètre RETURNING nommé RETURN ou BAPIRET2 pour stocker et/ou afficher les messages de succès ou d’erreur qui sont déclenchés au cours de l'exécution de la BAPI. (</a:t>
            </a:r>
            <a:r>
              <a:rPr lang="fr-FR" altLang="fr-FR" sz="1700" dirty="0">
                <a:solidFill>
                  <a:srgbClr val="797979"/>
                </a:solidFill>
                <a:latin typeface="Calibri" panose="020F0502020204030204" pitchFamily="34" charset="0"/>
                <a:cs typeface="Calibri" panose="020F0502020204030204" pitchFamily="34" charset="0"/>
              </a:rPr>
              <a:t>La gestion des exceptions comme dans un MF n'est pas possible).</a:t>
            </a:r>
          </a:p>
          <a:p>
            <a:pPr algn="just" eaLnBrk="0" fontAlgn="base">
              <a:lnSpc>
                <a:spcPct val="150000"/>
              </a:lnSpc>
              <a:spcBef>
                <a:spcPts val="250"/>
              </a:spcBef>
            </a:pPr>
            <a:r>
              <a:rPr lang="fr-FR" altLang="fr-FR" sz="1700" dirty="0">
                <a:solidFill>
                  <a:srgbClr val="797979"/>
                </a:solidFill>
                <a:latin typeface="Calibri" panose="020F0502020204030204" pitchFamily="34" charset="0"/>
                <a:cs typeface="Calibri" panose="020F0502020204030204" pitchFamily="34" charset="0"/>
              </a:rPr>
              <a:t>La BAPI ne contient pas d'instruction COMMIT interne dans le module de fonction, ni d'instructions "CALL TRANSACTION".</a:t>
            </a:r>
            <a:endParaRPr lang="fr-FR" altLang="fr-FR" sz="1700" dirty="0">
              <a:solidFill>
                <a:srgbClr val="797979"/>
              </a:solidFill>
              <a:latin typeface="Calibri" panose="020F0502020204030204" pitchFamily="34" charset="0"/>
              <a:cs typeface="Calibri" panose="020F0502020204030204" pitchFamily="34" charset="0"/>
              <a:sym typeface="Exo 2 Light"/>
            </a:endParaRPr>
          </a:p>
          <a:p>
            <a:pPr algn="just" eaLnBrk="0" fontAlgn="base" hangingPunct="0">
              <a:lnSpc>
                <a:spcPct val="150000"/>
              </a:lnSpc>
              <a:spcBef>
                <a:spcPts val="250"/>
              </a:spcBef>
            </a:pPr>
            <a:r>
              <a:rPr lang="fr-FR" altLang="fr-FR" sz="1700" dirty="0">
                <a:solidFill>
                  <a:srgbClr val="797979"/>
                </a:solidFill>
                <a:latin typeface="Calibri" panose="020F0502020204030204" pitchFamily="34" charset="0"/>
                <a:cs typeface="Calibri" panose="020F0502020204030204" pitchFamily="34" charset="0"/>
                <a:sym typeface="Exo 2 Light"/>
              </a:rPr>
              <a:t>Si la BAPI s’est exécuté avec succès (s'il n'y a pas d'erreurs consignées dans la structure RETURN), on doit utiliser une autre BAPI : BAPI_TRANSACTION_COMMIT pour sauvegarder les données dans les tables de la Base de données.</a:t>
            </a:r>
          </a:p>
          <a:p>
            <a:pPr algn="just" eaLnBrk="0" fontAlgn="base" hangingPunct="0">
              <a:lnSpc>
                <a:spcPct val="150000"/>
              </a:lnSpc>
              <a:spcBef>
                <a:spcPts val="250"/>
              </a:spcBef>
            </a:pPr>
            <a:r>
              <a:rPr lang="fr-FR" altLang="fr-FR" sz="1700" dirty="0">
                <a:solidFill>
                  <a:srgbClr val="797979"/>
                </a:solidFill>
                <a:latin typeface="Calibri" panose="020F0502020204030204" pitchFamily="34" charset="0"/>
                <a:cs typeface="Calibri" panose="020F0502020204030204" pitchFamily="34" charset="0"/>
                <a:sym typeface="Exo 2 Light"/>
              </a:rPr>
              <a:t>Si le traitement effectué par la BAPI a échoué, on doit utiliser la BAPI : BAPI_TRANSACTION_ROLLBACK pour annuler les changements effectués sur les tables de la base de données.</a:t>
            </a:r>
          </a:p>
        </p:txBody>
      </p:sp>
    </p:spTree>
    <p:extLst>
      <p:ext uri="{BB962C8B-B14F-4D97-AF65-F5344CB8AC3E}">
        <p14:creationId xmlns:p14="http://schemas.microsoft.com/office/powerpoint/2010/main" val="514852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règles d’utilisation d’une BAPI(2)</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13" name="Rectangle 6">
            <a:extLst>
              <a:ext uri="{FF2B5EF4-FFF2-40B4-BE49-F238E27FC236}">
                <a16:creationId xmlns:a16="http://schemas.microsoft.com/office/drawing/2014/main" id="{01F3EBB4-B8AB-461C-A780-E453A6C394FB}"/>
              </a:ext>
            </a:extLst>
          </p:cNvPr>
          <p:cNvSpPr>
            <a:spLocks noChangeArrowheads="1"/>
          </p:cNvSpPr>
          <p:nvPr/>
        </p:nvSpPr>
        <p:spPr bwMode="auto">
          <a:xfrm>
            <a:off x="667916" y="1596552"/>
            <a:ext cx="10758651" cy="3819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22860" rIns="45720" bIns="22860" numCol="1" anchor="ctr" anchorCtr="0" compatLnSpc="1">
            <a:prstTxWarp prst="textNoShape">
              <a:avLst/>
            </a:prstTxWarp>
            <a:spAutoFit/>
          </a:bodyPr>
          <a:lstStyle/>
          <a:p>
            <a:pPr algn="just" eaLnBrk="0" fontAlgn="base">
              <a:lnSpc>
                <a:spcPct val="150000"/>
              </a:lnSpc>
              <a:spcBef>
                <a:spcPts val="250"/>
              </a:spcBef>
            </a:pPr>
            <a:r>
              <a:rPr lang="fr-FR" altLang="fr-FR" dirty="0">
                <a:solidFill>
                  <a:srgbClr val="797979"/>
                </a:solidFill>
                <a:latin typeface="Calibri" panose="020F0502020204030204" pitchFamily="34" charset="0"/>
                <a:cs typeface="Calibri" panose="020F0502020204030204" pitchFamily="34" charset="0"/>
              </a:rPr>
              <a:t>BAPI fournit un accès au système SAP pour les applications externes afin que les données commerciales soient traitées sous forme de services Web. Lorsque les BAPI sont utilisées pour enregistrer les données dans le système SAP, elles sont utilisées comme modules de fonction.</a:t>
            </a:r>
          </a:p>
          <a:p>
            <a:pPr algn="just" eaLnBrk="0" fontAlgn="base">
              <a:lnSpc>
                <a:spcPct val="150000"/>
              </a:lnSpc>
              <a:spcBef>
                <a:spcPts val="250"/>
              </a:spcBef>
            </a:pPr>
            <a:endParaRPr lang="fr-FR" altLang="fr-FR" dirty="0">
              <a:solidFill>
                <a:srgbClr val="797979"/>
              </a:solidFill>
              <a:latin typeface="Calibri" panose="020F0502020204030204" pitchFamily="34" charset="0"/>
              <a:cs typeface="Calibri" panose="020F0502020204030204" pitchFamily="34" charset="0"/>
            </a:endParaRPr>
          </a:p>
          <a:p>
            <a:pPr algn="just" eaLnBrk="0" fontAlgn="base">
              <a:lnSpc>
                <a:spcPct val="150000"/>
              </a:lnSpc>
              <a:spcBef>
                <a:spcPts val="250"/>
              </a:spcBef>
            </a:pPr>
            <a:r>
              <a:rPr lang="fr-FR" dirty="0">
                <a:solidFill>
                  <a:srgbClr val="797979"/>
                </a:solidFill>
                <a:latin typeface="Calibri" panose="020F0502020204030204" pitchFamily="34" charset="0"/>
                <a:cs typeface="Calibri" panose="020F0502020204030204" pitchFamily="34" charset="0"/>
              </a:rPr>
              <a:t>Certaines BAPI et méthodes fournissent des fonctions de base et peuvent être utilisées pour la plupart des objets métier SAP</a:t>
            </a:r>
            <a:r>
              <a:rPr lang="fr-FR" altLang="fr-FR" dirty="0">
                <a:solidFill>
                  <a:srgbClr val="797979"/>
                </a:solidFill>
                <a:latin typeface="Calibri" panose="020F0502020204030204" pitchFamily="34" charset="0"/>
                <a:cs typeface="Calibri" panose="020F0502020204030204" pitchFamily="34" charset="0"/>
                <a:sym typeface="Exo 2 Light"/>
              </a:rPr>
              <a:t>.</a:t>
            </a:r>
            <a:r>
              <a:rPr lang="fr-FR" dirty="0">
                <a:solidFill>
                  <a:srgbClr val="797979"/>
                </a:solidFill>
                <a:latin typeface="Calibri" panose="020F0502020204030204" pitchFamily="34" charset="0"/>
                <a:cs typeface="Calibri" panose="020F0502020204030204" pitchFamily="34" charset="0"/>
              </a:rPr>
              <a:t> Celles-ci sont appelées BAPI STANDARDISÉES e</a:t>
            </a:r>
            <a:r>
              <a:rPr lang="fr-FR" altLang="fr-FR" dirty="0">
                <a:solidFill>
                  <a:srgbClr val="797979"/>
                </a:solidFill>
                <a:latin typeface="Calibri" panose="020F0502020204030204" pitchFamily="34" charset="0"/>
                <a:cs typeface="Calibri" panose="020F0502020204030204" pitchFamily="34" charset="0"/>
                <a:sym typeface="Exo 2 Light"/>
              </a:rPr>
              <a:t>t doivent être implémentées de la même manière pour tous les types d'objets métier. Les BAPI standardisées sont plus faciles à utiliser et évitent aux utilisateurs d'avoir à gérer un certain nombre de BAPI différentes. Dans la mesure du possible, une BAPI standardisée doit être utilisée de préférence à une BAPI individuelle.</a:t>
            </a:r>
          </a:p>
        </p:txBody>
      </p:sp>
    </p:spTree>
    <p:extLst>
      <p:ext uri="{BB962C8B-B14F-4D97-AF65-F5344CB8AC3E}">
        <p14:creationId xmlns:p14="http://schemas.microsoft.com/office/powerpoint/2010/main" val="554580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Catégories de BAPI</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290407"/>
            <a:ext cx="10694114" cy="5098319"/>
          </a:xfrm>
        </p:spPr>
        <p:txBody>
          <a:bodyPr/>
          <a:lstStyle/>
          <a:p>
            <a:endParaRPr lang="fr-FR" sz="1800" b="1" dirty="0"/>
          </a:p>
          <a:p>
            <a:pPr algn="just"/>
            <a:r>
              <a:rPr lang="fr-FR" sz="2000" b="1" dirty="0"/>
              <a:t>BAPI pour la lecture de données</a:t>
            </a:r>
            <a:r>
              <a:rPr lang="fr-FR" sz="2000" dirty="0"/>
              <a:t> - GetList (), GetDetail (), GetStatus (), ExistenceCheck ()</a:t>
            </a:r>
          </a:p>
          <a:p>
            <a:pPr marL="0" indent="0" algn="just">
              <a:buNone/>
            </a:pPr>
            <a:endParaRPr lang="fr-FR" sz="2000" dirty="0"/>
          </a:p>
          <a:p>
            <a:pPr algn="just"/>
            <a:r>
              <a:rPr lang="fr-FR" sz="2000" b="1" dirty="0"/>
              <a:t>BAPI pour la création ou la modification de données</a:t>
            </a:r>
            <a:r>
              <a:rPr lang="fr-FR" sz="2000" dirty="0"/>
              <a:t>- Create (), Change (), Delete () et Undelete () </a:t>
            </a:r>
          </a:p>
          <a:p>
            <a:pPr algn="just"/>
            <a:endParaRPr lang="fr-FR" sz="2000" dirty="0"/>
          </a:p>
          <a:p>
            <a:pPr algn="just"/>
            <a:r>
              <a:rPr lang="fr-FR" sz="2000" b="1" dirty="0"/>
              <a:t>BAPI pour le traitement en masse</a:t>
            </a:r>
            <a:r>
              <a:rPr lang="fr-FR" sz="2000" dirty="0"/>
              <a:t> - ChangeMultiple (), CreateMultiple (), DeleteMultiple ().</a:t>
            </a:r>
          </a:p>
          <a:p>
            <a:endParaRPr lang="fr-FR" sz="1800"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3673845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a:xfrm>
            <a:off x="0" y="147782"/>
            <a:ext cx="12192000" cy="781056"/>
          </a:xfrm>
        </p:spPr>
        <p:txBody>
          <a:bodyPr/>
          <a:lstStyle/>
          <a:p>
            <a:pPr marL="228600" lvl="1" algn="ctr">
              <a:lnSpc>
                <a:spcPts val="600"/>
              </a:lnSpc>
              <a:spcAft>
                <a:spcPts val="600"/>
              </a:spcAft>
              <a:tabLst>
                <a:tab pos="448628" algn="l"/>
              </a:tabLst>
            </a:pPr>
            <a:br>
              <a:rPr lang="fr-FR" sz="4000" b="1" kern="1200" dirty="0">
                <a:solidFill>
                  <a:schemeClr val="accent1"/>
                </a:solidFill>
                <a:latin typeface="Calibri" panose="020F0502020204030204" pitchFamily="34" charset="0"/>
                <a:ea typeface="+mj-ea"/>
                <a:cs typeface="Calibri" panose="020F0502020204030204" pitchFamily="34" charset="0"/>
              </a:rPr>
            </a:br>
            <a:br>
              <a:rPr lang="fr-FR" sz="4000" b="1" kern="1200" dirty="0">
                <a:solidFill>
                  <a:schemeClr val="accent1"/>
                </a:solidFill>
                <a:latin typeface="Calibri" panose="020F0502020204030204" pitchFamily="34" charset="0"/>
                <a:ea typeface="+mj-ea"/>
                <a:cs typeface="Calibri" panose="020F0502020204030204" pitchFamily="34" charset="0"/>
              </a:rPr>
            </a:br>
            <a:r>
              <a:rPr lang="fr-FR" sz="4000" b="1" kern="1200" dirty="0">
                <a:solidFill>
                  <a:schemeClr val="accent1"/>
                </a:solidFill>
                <a:latin typeface="Calibri" panose="020F0502020204030204" pitchFamily="34" charset="0"/>
                <a:ea typeface="+mj-ea"/>
                <a:cs typeface="Calibri" panose="020F0502020204030204" pitchFamily="34" charset="0"/>
              </a:rPr>
              <a:t>Mise en forme des données</a:t>
            </a:r>
            <a:r>
              <a:rPr lang="fr-FR" sz="3000" b="1" dirty="0">
                <a:latin typeface="Times New Roman" panose="02020603050405020304" pitchFamily="18" charset="0"/>
              </a:rPr>
              <a:t> </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13" name="Rectangle 6">
            <a:extLst>
              <a:ext uri="{FF2B5EF4-FFF2-40B4-BE49-F238E27FC236}">
                <a16:creationId xmlns:a16="http://schemas.microsoft.com/office/drawing/2014/main" id="{01F3EBB4-B8AB-461C-A780-E453A6C394FB}"/>
              </a:ext>
            </a:extLst>
          </p:cNvPr>
          <p:cNvSpPr>
            <a:spLocks noChangeArrowheads="1"/>
          </p:cNvSpPr>
          <p:nvPr/>
        </p:nvSpPr>
        <p:spPr bwMode="auto">
          <a:xfrm>
            <a:off x="732453" y="802421"/>
            <a:ext cx="10592672" cy="5432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22860" rIns="45720" bIns="22860" numCol="1" anchor="ctr" anchorCtr="0" compatLnSpc="1">
            <a:prstTxWarp prst="textNoShape">
              <a:avLst/>
            </a:prstTxWarp>
            <a:spAutoFit/>
          </a:bodyPr>
          <a:lstStyle/>
          <a:p>
            <a:pPr algn="just">
              <a:lnSpc>
                <a:spcPct val="150000"/>
              </a:lnSpc>
              <a:spcBef>
                <a:spcPts val="250"/>
              </a:spcBef>
            </a:pPr>
            <a:endParaRPr lang="fr-FR" sz="2000" dirty="0">
              <a:solidFill>
                <a:srgbClr val="797979"/>
              </a:solidFill>
              <a:latin typeface="Calibri" panose="020F0502020204030204" pitchFamily="34" charset="0"/>
              <a:cs typeface="Calibri" panose="020F0502020204030204" pitchFamily="34" charset="0"/>
              <a:sym typeface="Exo 2 Light"/>
            </a:endParaRPr>
          </a:p>
          <a:p>
            <a:pPr marL="265113" indent="-265113" algn="just">
              <a:lnSpc>
                <a:spcPct val="150000"/>
              </a:lnSpc>
              <a:spcBef>
                <a:spcPts val="250"/>
              </a:spcBef>
              <a:buFont typeface="Wingdings" panose="05000000000000000000" pitchFamily="2" charset="2"/>
              <a:buChar char="§"/>
            </a:pPr>
            <a:r>
              <a:rPr lang="fr-FR" sz="2000" dirty="0">
                <a:solidFill>
                  <a:srgbClr val="797979"/>
                </a:solidFill>
                <a:latin typeface="Calibri" panose="020F0502020204030204" pitchFamily="34" charset="0"/>
                <a:cs typeface="Calibri" panose="020F0502020204030204" pitchFamily="34" charset="0"/>
                <a:sym typeface="Exo 2 Light"/>
              </a:rPr>
              <a:t>Pour utiliser une méthode BAPI afin d’accéder aux données des objets de gestion SAP, un programme applicatif doit simplement savoir comment l’appeler. Les informations requises sont les suivantes :</a:t>
            </a:r>
          </a:p>
          <a:p>
            <a:pPr marL="265113" indent="-265113" algn="just">
              <a:lnSpc>
                <a:spcPct val="150000"/>
              </a:lnSpc>
              <a:spcBef>
                <a:spcPts val="250"/>
              </a:spcBef>
              <a:buFont typeface="Wingdings" panose="05000000000000000000" pitchFamily="2" charset="2"/>
              <a:buChar char="§"/>
            </a:pPr>
            <a:r>
              <a:rPr lang="fr-FR" sz="2000" dirty="0">
                <a:solidFill>
                  <a:srgbClr val="797979"/>
                </a:solidFill>
                <a:latin typeface="Calibri" panose="020F0502020204030204" pitchFamily="34" charset="0"/>
                <a:cs typeface="Calibri" panose="020F0502020204030204" pitchFamily="34" charset="0"/>
                <a:sym typeface="Exo 2 Light"/>
              </a:rPr>
              <a:t>Nom de la BAPI  ‘BAPI_XXXXXX—XX’  avec XX chaîne de caractères.</a:t>
            </a:r>
          </a:p>
          <a:p>
            <a:pPr marL="265113" indent="-265113" algn="just">
              <a:lnSpc>
                <a:spcPct val="150000"/>
              </a:lnSpc>
              <a:spcBef>
                <a:spcPts val="250"/>
              </a:spcBef>
              <a:buFont typeface="Wingdings" panose="05000000000000000000" pitchFamily="2" charset="2"/>
              <a:buChar char="§"/>
            </a:pPr>
            <a:r>
              <a:rPr lang="fr-FR" sz="2000" dirty="0">
                <a:solidFill>
                  <a:srgbClr val="797979"/>
                </a:solidFill>
                <a:latin typeface="Calibri" panose="020F0502020204030204" pitchFamily="34" charset="0"/>
                <a:cs typeface="Calibri" panose="020F0502020204030204" pitchFamily="34" charset="0"/>
                <a:sym typeface="Exo 2 Light"/>
              </a:rPr>
              <a:t>Détails de l’interface BAPI</a:t>
            </a:r>
          </a:p>
          <a:p>
            <a:pPr marL="265113" indent="-265113" algn="just">
              <a:lnSpc>
                <a:spcPct val="150000"/>
              </a:lnSpc>
              <a:spcBef>
                <a:spcPts val="250"/>
              </a:spcBef>
              <a:buFont typeface="Wingdings" panose="05000000000000000000" pitchFamily="2" charset="2"/>
              <a:buChar char="§"/>
            </a:pPr>
            <a:r>
              <a:rPr lang="fr-FR" sz="2000" dirty="0">
                <a:solidFill>
                  <a:srgbClr val="797979"/>
                </a:solidFill>
                <a:latin typeface="Calibri" panose="020F0502020204030204" pitchFamily="34" charset="0"/>
                <a:cs typeface="Calibri" panose="020F0502020204030204" pitchFamily="34" charset="0"/>
                <a:sym typeface="Exo 2 Light"/>
              </a:rPr>
              <a:t>Paramètres d’importation qui contiennent les données à transférer du programme appelant vers la BAPI </a:t>
            </a:r>
          </a:p>
          <a:p>
            <a:pPr marL="265113" indent="-265113" algn="just">
              <a:lnSpc>
                <a:spcPct val="150000"/>
              </a:lnSpc>
              <a:spcBef>
                <a:spcPts val="250"/>
              </a:spcBef>
              <a:buFont typeface="Wingdings" panose="05000000000000000000" pitchFamily="2" charset="2"/>
              <a:buChar char="§"/>
            </a:pPr>
            <a:r>
              <a:rPr lang="fr-FR" sz="2000" dirty="0">
                <a:solidFill>
                  <a:srgbClr val="797979"/>
                </a:solidFill>
                <a:latin typeface="Calibri" panose="020F0502020204030204" pitchFamily="34" charset="0"/>
                <a:cs typeface="Calibri" panose="020F0502020204030204" pitchFamily="34" charset="0"/>
                <a:sym typeface="Exo 2 Light"/>
              </a:rPr>
              <a:t>Paramètres d’exportation qui contiennent des données à retransférer de la BAPI vers le programme appelant </a:t>
            </a:r>
          </a:p>
          <a:p>
            <a:pPr marL="265113" indent="-265113" algn="just">
              <a:lnSpc>
                <a:spcPct val="150000"/>
              </a:lnSpc>
              <a:spcBef>
                <a:spcPts val="250"/>
              </a:spcBef>
              <a:buFont typeface="Wingdings" panose="05000000000000000000" pitchFamily="2" charset="2"/>
              <a:buChar char="§"/>
            </a:pPr>
            <a:r>
              <a:rPr lang="fr-FR" sz="2000" dirty="0">
                <a:solidFill>
                  <a:srgbClr val="797979"/>
                </a:solidFill>
                <a:latin typeface="Calibri" panose="020F0502020204030204" pitchFamily="34" charset="0"/>
                <a:cs typeface="Calibri" panose="020F0502020204030204" pitchFamily="34" charset="0"/>
                <a:sym typeface="Exo 2 Light"/>
              </a:rPr>
              <a:t>Paramètres (table) d’importation/exportation pour importer et exporter des données</a:t>
            </a:r>
          </a:p>
          <a:p>
            <a:r>
              <a:rPr lang="fr-FR" sz="500" dirty="0">
                <a:latin typeface="New York"/>
                <a:ea typeface="Times New Roman" panose="02020603050405020304" pitchFamily="18" charset="0"/>
              </a:rPr>
              <a:t> </a:t>
            </a:r>
            <a:endParaRPr lang="fr-FR" altLang="fr-FR" sz="1600" dirty="0">
              <a:solidFill>
                <a:srgbClr val="797979"/>
              </a:solidFill>
              <a:latin typeface="Calibri" panose="020F0502020204030204" pitchFamily="34" charset="0"/>
              <a:cs typeface="Calibri" panose="020F0502020204030204" pitchFamily="34" charset="0"/>
              <a:sym typeface="Exo 2 Light"/>
            </a:endParaRPr>
          </a:p>
        </p:txBody>
      </p:sp>
    </p:spTree>
    <p:extLst>
      <p:ext uri="{BB962C8B-B14F-4D97-AF65-F5344CB8AC3E}">
        <p14:creationId xmlns:p14="http://schemas.microsoft.com/office/powerpoint/2010/main" val="4183521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a:xfrm>
            <a:off x="64655" y="38102"/>
            <a:ext cx="11998035" cy="869226"/>
          </a:xfrm>
        </p:spPr>
        <p:txBody>
          <a:bodyPr/>
          <a:lstStyle/>
          <a:p>
            <a:pPr marL="449580" indent="-224790" algn="ctr">
              <a:lnSpc>
                <a:spcPts val="600"/>
              </a:lnSpc>
              <a:spcAft>
                <a:spcPts val="600"/>
              </a:spcAft>
            </a:pPr>
            <a:br>
              <a:rPr lang="fr-FR" b="1" dirty="0">
                <a:latin typeface="Times New Roman" panose="02020603050405020304" pitchFamily="18" charset="0"/>
                <a:ea typeface="Times New Roman" panose="02020603050405020304" pitchFamily="18" charset="0"/>
              </a:rPr>
            </a:br>
            <a:br>
              <a:rPr lang="fr-FR" b="1" dirty="0">
                <a:latin typeface="Times New Roman" panose="02020603050405020304" pitchFamily="18" charset="0"/>
                <a:ea typeface="Times New Roman" panose="02020603050405020304" pitchFamily="18" charset="0"/>
              </a:rPr>
            </a:br>
            <a:br>
              <a:rPr lang="fr-FR" sz="4000" b="1" dirty="0">
                <a:solidFill>
                  <a:schemeClr val="accent1"/>
                </a:solidFill>
              </a:rPr>
            </a:br>
            <a:r>
              <a:rPr lang="fr-FR" sz="4000" b="1" dirty="0">
                <a:solidFill>
                  <a:schemeClr val="accent1"/>
                </a:solidFill>
              </a:rPr>
              <a:t> Exemple d’une BAPI</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0316" y="907328"/>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pic>
        <p:nvPicPr>
          <p:cNvPr id="7" name="Image 6">
            <a:extLst>
              <a:ext uri="{FF2B5EF4-FFF2-40B4-BE49-F238E27FC236}">
                <a16:creationId xmlns:a16="http://schemas.microsoft.com/office/drawing/2014/main" id="{73252F21-1646-488E-BBA9-3B86E03F82D9}"/>
              </a:ext>
            </a:extLst>
          </p:cNvPr>
          <p:cNvPicPr>
            <a:picLocks noChangeAspect="1"/>
          </p:cNvPicPr>
          <p:nvPr/>
        </p:nvPicPr>
        <p:blipFill>
          <a:blip r:embed="rId2"/>
          <a:stretch>
            <a:fillRect/>
          </a:stretch>
        </p:blipFill>
        <p:spPr>
          <a:xfrm>
            <a:off x="1268963" y="1028221"/>
            <a:ext cx="9629192" cy="5138118"/>
          </a:xfrm>
          <a:prstGeom prst="rect">
            <a:avLst/>
          </a:prstGeom>
        </p:spPr>
      </p:pic>
    </p:spTree>
    <p:extLst>
      <p:ext uri="{BB962C8B-B14F-4D97-AF65-F5344CB8AC3E}">
        <p14:creationId xmlns:p14="http://schemas.microsoft.com/office/powerpoint/2010/main" val="3974289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lstStyle/>
          <a:p>
            <a:pPr marL="449580" indent="-224790" algn="ctr">
              <a:lnSpc>
                <a:spcPts val="600"/>
              </a:lnSpc>
              <a:spcAft>
                <a:spcPts val="600"/>
              </a:spcAft>
            </a:pPr>
            <a:br>
              <a:rPr lang="fr-FR" b="1" dirty="0">
                <a:effectLst/>
                <a:latin typeface="Times New Roman" panose="02020603050405020304" pitchFamily="18" charset="0"/>
                <a:ea typeface="Times New Roman" panose="02020603050405020304" pitchFamily="18" charset="0"/>
              </a:rPr>
            </a:br>
            <a:br>
              <a:rPr lang="fr-FR" b="1" dirty="0">
                <a:effectLst/>
                <a:latin typeface="Times New Roman" panose="02020603050405020304" pitchFamily="18" charset="0"/>
                <a:ea typeface="Times New Roman" panose="02020603050405020304" pitchFamily="18" charset="0"/>
              </a:rPr>
            </a:br>
            <a:br>
              <a:rPr lang="fr-FR" b="1" dirty="0">
                <a:effectLst/>
                <a:latin typeface="Times New Roman" panose="02020603050405020304" pitchFamily="18" charset="0"/>
                <a:ea typeface="Times New Roman" panose="02020603050405020304" pitchFamily="18" charset="0"/>
              </a:rPr>
            </a:br>
            <a:r>
              <a:rPr lang="fr-FR" sz="4000" b="1" dirty="0">
                <a:solidFill>
                  <a:schemeClr val="accent1"/>
                </a:solidFill>
              </a:rPr>
              <a:t>Exemple d’une BAPI</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8" name="Espace réservé du texte 2">
            <a:extLst>
              <a:ext uri="{FF2B5EF4-FFF2-40B4-BE49-F238E27FC236}">
                <a16:creationId xmlns:a16="http://schemas.microsoft.com/office/drawing/2014/main" id="{0FBE7905-7C4A-48E2-AB81-E902ED066CAE}"/>
              </a:ext>
            </a:extLst>
          </p:cNvPr>
          <p:cNvSpPr txBox="1">
            <a:spLocks/>
          </p:cNvSpPr>
          <p:nvPr/>
        </p:nvSpPr>
        <p:spPr>
          <a:xfrm>
            <a:off x="732453" y="1396286"/>
            <a:ext cx="10694114" cy="4770053"/>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
        <p:nvSpPr>
          <p:cNvPr id="11" name="ZoneTexte 10">
            <a:extLst>
              <a:ext uri="{FF2B5EF4-FFF2-40B4-BE49-F238E27FC236}">
                <a16:creationId xmlns:a16="http://schemas.microsoft.com/office/drawing/2014/main" id="{685CA567-8D61-4EB4-A5C2-25AAC8C28BBE}"/>
              </a:ext>
            </a:extLst>
          </p:cNvPr>
          <p:cNvSpPr txBox="1"/>
          <p:nvPr/>
        </p:nvSpPr>
        <p:spPr>
          <a:xfrm>
            <a:off x="808653" y="1274304"/>
            <a:ext cx="10150012" cy="45550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a:spAutoFit/>
          </a:bodyPr>
          <a:lstStyle/>
          <a:p>
            <a:r>
              <a:rPr lang="fr-FR" dirty="0">
                <a:solidFill>
                  <a:srgbClr val="000000"/>
                </a:solidFill>
                <a:latin typeface="Arial monospaced for SAP"/>
                <a:ea typeface="Times New Roman" panose="02020603050405020304" pitchFamily="18" charset="0"/>
              </a:rPr>
              <a:t>FUNCTION BAPI_COMPANYCODE_GETDETAIL.</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*"*"Lokale Schnittstelle:</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       IMPORTING</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             VALUE(COMPANYCODEID) LIKE  BAPI0002_2-COMP_CODE</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       EXPORTING</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             VALUE(COMPANYCODE_DETAIL) LIKE  BAPI0002_2</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                             STRUCTURE  BAPI0002_2</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             VALUE(COMPANYCODE_ADDRESS) LIKE  BAPI0002_3</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                             STRUCTURE  BAPI0002_3</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             VALUE(RETURN) LIKE  BAPIRETURN STRUCTURE  BAPIRETURN</a:t>
            </a:r>
            <a:endParaRPr lang="fr-FR" dirty="0">
              <a:latin typeface="Times New Roman" panose="02020603050405020304" pitchFamily="18" charset="0"/>
              <a:ea typeface="Times New Roman" panose="02020603050405020304" pitchFamily="18" charset="0"/>
            </a:endParaRPr>
          </a:p>
          <a:p>
            <a:r>
              <a:rPr lang="fr-FR" dirty="0">
                <a:solidFill>
                  <a:srgbClr val="0000FF"/>
                </a:solidFill>
                <a:latin typeface="Arial monospaced for SAP"/>
                <a:ea typeface="Times New Roman" panose="02020603050405020304" pitchFamily="18" charset="0"/>
              </a:rPr>
              <a:t>*"----------------------------------------------------------------------</a:t>
            </a:r>
            <a:endParaRPr lang="fr-FR" dirty="0">
              <a:latin typeface="Times New Roman" panose="02020603050405020304" pitchFamily="18" charset="0"/>
              <a:ea typeface="Times New Roman" panose="02020603050405020304" pitchFamily="18" charset="0"/>
            </a:endParaRPr>
          </a:p>
          <a:p>
            <a:pPr marL="449580" indent="-224790">
              <a:lnSpc>
                <a:spcPts val="600"/>
              </a:lnSpc>
              <a:spcAft>
                <a:spcPts val="600"/>
              </a:spcAft>
            </a:pPr>
            <a:r>
              <a:rPr lang="fr-FR" sz="3300" b="1" dirty="0">
                <a:latin typeface="Times New Roman" panose="02020603050405020304" pitchFamily="18" charset="0"/>
              </a:rPr>
              <a:t> </a:t>
            </a:r>
            <a:endParaRPr lang="fr-FR" sz="3300" b="1" u="sng" dirty="0">
              <a:latin typeface="Times New Roman" panose="02020603050405020304" pitchFamily="18" charset="0"/>
            </a:endParaRPr>
          </a:p>
          <a:p>
            <a:pPr marL="449580" indent="-224790">
              <a:lnSpc>
                <a:spcPts val="600"/>
              </a:lnSpc>
              <a:spcAft>
                <a:spcPts val="600"/>
              </a:spcAft>
            </a:pPr>
            <a:r>
              <a:rPr lang="fr-FR" b="1" dirty="0">
                <a:latin typeface="Times New Roman" panose="02020603050405020304" pitchFamily="18" charset="0"/>
              </a:rPr>
              <a:t> </a:t>
            </a:r>
            <a:endParaRPr lang="fr-FR" b="1" u="sng" dirty="0">
              <a:latin typeface="Times New Roman" panose="02020603050405020304" pitchFamily="18" charset="0"/>
            </a:endParaRPr>
          </a:p>
          <a:p>
            <a:r>
              <a:rPr lang="fr-FR" u="sng" dirty="0">
                <a:latin typeface="Times New Roman" panose="02020603050405020304" pitchFamily="18" charset="0"/>
                <a:ea typeface="Times New Roman" panose="02020603050405020304" pitchFamily="18" charset="0"/>
              </a:rPr>
              <a:t>Test unitaire </a:t>
            </a:r>
            <a:r>
              <a:rPr lang="fr-FR" dirty="0">
                <a:latin typeface="Times New Roman" panose="02020603050405020304" pitchFamily="18" charset="0"/>
                <a:ea typeface="Times New Roman" panose="02020603050405020304" pitchFamily="18" charset="0"/>
              </a:rPr>
              <a:t>: 1- Paramètre d’entrée : code société</a:t>
            </a:r>
          </a:p>
          <a:p>
            <a:r>
              <a:rPr lang="fr-FR" dirty="0">
                <a:latin typeface="Times New Roman" panose="02020603050405020304" pitchFamily="18" charset="0"/>
                <a:ea typeface="Times New Roman" panose="02020603050405020304" pitchFamily="18" charset="0"/>
              </a:rPr>
              <a:t>		    2- Exécuter </a:t>
            </a:r>
          </a:p>
          <a:p>
            <a:r>
              <a:rPr lang="fr-FR" dirty="0">
                <a:latin typeface="Times New Roman" panose="02020603050405020304" pitchFamily="18" charset="0"/>
                <a:ea typeface="Times New Roman" panose="02020603050405020304" pitchFamily="18" charset="0"/>
              </a:rPr>
              <a:t>		    3- paramètres de sortie : les données concernant le code société sont retournées</a:t>
            </a:r>
          </a:p>
        </p:txBody>
      </p:sp>
    </p:spTree>
    <p:extLst>
      <p:ext uri="{BB962C8B-B14F-4D97-AF65-F5344CB8AC3E}">
        <p14:creationId xmlns:p14="http://schemas.microsoft.com/office/powerpoint/2010/main" val="593293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lstStyle/>
          <a:p>
            <a:pPr algn="ctr"/>
            <a:r>
              <a:rPr lang="fr-FR" sz="4000" b="1" dirty="0">
                <a:solidFill>
                  <a:schemeClr val="accent1"/>
                </a:solidFill>
              </a:rPr>
              <a:t>Création d’une BAPI : Définition et implémentation </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normAutofit fontScale="85000" lnSpcReduction="20000"/>
          </a:bodyPr>
          <a:lstStyle/>
          <a:p>
            <a:pPr marL="0" indent="0" algn="just">
              <a:buNone/>
            </a:pPr>
            <a:r>
              <a:rPr lang="fr-FR" sz="1400" b="1" u="sng" dirty="0"/>
              <a:t>Normes :</a:t>
            </a:r>
          </a:p>
          <a:p>
            <a:pPr marL="0" indent="0" algn="just">
              <a:buNone/>
            </a:pPr>
            <a:r>
              <a:rPr lang="fr-FR" sz="1400" dirty="0"/>
              <a:t>Tous les modules fonctions d'un même BO doivent appartenir au même groupe de fonctions. Celui-ci doit être nommé </a:t>
            </a:r>
          </a:p>
          <a:p>
            <a:pPr marL="0" indent="0" algn="just">
              <a:buNone/>
            </a:pPr>
            <a:r>
              <a:rPr lang="fr-FR" sz="1400" dirty="0"/>
              <a:t>en fonction du nom technique du BO : Le groupe de fonctions pour le BO </a:t>
            </a:r>
            <a:r>
              <a:rPr lang="fr-FR" sz="1400" dirty="0" err="1"/>
              <a:t>BUSnnnn</a:t>
            </a:r>
            <a:r>
              <a:rPr lang="fr-FR" sz="1400" dirty="0"/>
              <a:t> sera nommé </a:t>
            </a:r>
            <a:r>
              <a:rPr lang="fr-FR" sz="1400" dirty="0" err="1"/>
              <a:t>nnnn</a:t>
            </a:r>
            <a:r>
              <a:rPr lang="fr-FR" sz="1400" dirty="0"/>
              <a:t>.</a:t>
            </a:r>
          </a:p>
          <a:p>
            <a:pPr marL="0" indent="0" algn="just">
              <a:buNone/>
            </a:pPr>
            <a:r>
              <a:rPr lang="fr-FR" sz="1400" dirty="0"/>
              <a:t>Les modules fonctions du BO SalesOrder, i.e. BUS2032, sont regroupés dans le groupe de fonctions 2032.</a:t>
            </a:r>
          </a:p>
          <a:p>
            <a:pPr marL="0" indent="0" algn="just">
              <a:buNone/>
            </a:pPr>
            <a:r>
              <a:rPr lang="fr-FR" sz="1400" dirty="0"/>
              <a:t>Le module fonction RFC attaché à un BAPI commence par BAPI__.</a:t>
            </a:r>
          </a:p>
          <a:p>
            <a:pPr marL="0" indent="0" algn="just">
              <a:buNone/>
            </a:pPr>
            <a:endParaRPr lang="fr-FR" sz="1400" dirty="0"/>
          </a:p>
          <a:p>
            <a:pPr marL="0" indent="0" algn="just">
              <a:buNone/>
            </a:pPr>
            <a:r>
              <a:rPr lang="fr-FR" sz="1400" dirty="0"/>
              <a:t>Le module fonction pilotant la méthode SalesOrder.CreateFromDat1 est BAPI_SalesOrder_CreateFromDat1.</a:t>
            </a:r>
          </a:p>
          <a:p>
            <a:pPr marL="0" indent="0" algn="just">
              <a:buNone/>
            </a:pPr>
            <a:r>
              <a:rPr lang="fr-FR" sz="1400" dirty="0"/>
              <a:t>De même, tous les objets créés dans le DDIC pour un BAPI devraient toujours commencer par ZBAPI_*.</a:t>
            </a:r>
          </a:p>
          <a:p>
            <a:pPr marL="0" indent="0" algn="just">
              <a:buNone/>
            </a:pPr>
            <a:r>
              <a:rPr lang="fr-FR" sz="1400" dirty="0"/>
              <a:t>Flux :</a:t>
            </a:r>
          </a:p>
          <a:p>
            <a:pPr marL="0" indent="0" algn="just">
              <a:buNone/>
            </a:pPr>
            <a:r>
              <a:rPr lang="fr-FR" sz="1400" b="1" u="sng" dirty="0"/>
              <a:t>Le processus de création de BAPIs consiste en plusieurs étapes :</a:t>
            </a:r>
          </a:p>
          <a:p>
            <a:pPr marL="0" indent="0" algn="just">
              <a:buNone/>
            </a:pPr>
            <a:r>
              <a:rPr lang="fr-FR" sz="1400" dirty="0"/>
              <a:t>- Définition et description du scénario</a:t>
            </a:r>
          </a:p>
          <a:p>
            <a:pPr marL="0" indent="0" algn="just">
              <a:buNone/>
            </a:pPr>
            <a:r>
              <a:rPr lang="fr-FR" sz="1400" dirty="0"/>
              <a:t>- Définition de chaque BAPI et de son interface</a:t>
            </a:r>
          </a:p>
          <a:p>
            <a:pPr marL="0" indent="0" algn="just">
              <a:buNone/>
            </a:pPr>
            <a:r>
              <a:rPr lang="fr-FR" sz="1400" dirty="0"/>
              <a:t>- Création de chaque objet individuel </a:t>
            </a:r>
          </a:p>
          <a:p>
            <a:pPr marL="0" indent="0">
              <a:buNone/>
            </a:pPr>
            <a:endParaRPr lang="fr-FR" sz="1400" dirty="0"/>
          </a:p>
          <a:p>
            <a:pPr marL="0" indent="0">
              <a:buNone/>
            </a:pPr>
            <a:endParaRPr lang="fr-FR" sz="1400" dirty="0"/>
          </a:p>
          <a:p>
            <a:pPr marL="0" indent="0">
              <a:buNone/>
            </a:pPr>
            <a:endParaRPr lang="fr-FR" sz="1400"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2178104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Création d’une BAPI</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normAutofit fontScale="70000" lnSpcReduction="20000"/>
          </a:bodyPr>
          <a:lstStyle/>
          <a:p>
            <a:pPr marL="0" indent="0">
              <a:buNone/>
            </a:pPr>
            <a:r>
              <a:rPr lang="fr-FR" sz="1400" b="1" dirty="0"/>
              <a:t>Il est conseillé de bien vérifier que les fonctions souhaitées ne sont pas déjà disponibles dans la liste des nombreuses </a:t>
            </a:r>
          </a:p>
          <a:p>
            <a:pPr marL="0" indent="0">
              <a:buNone/>
            </a:pPr>
            <a:r>
              <a:rPr lang="fr-FR" sz="1400" b="1" dirty="0"/>
              <a:t>BAPIs standards, avant de se lancer dans du spécifique.</a:t>
            </a:r>
            <a:r>
              <a:rPr lang="fr-FR" sz="1400" dirty="0"/>
              <a:t> De même, utiliser en priorité les BO standards si possible.</a:t>
            </a:r>
          </a:p>
          <a:p>
            <a:pPr marL="0" indent="0">
              <a:buNone/>
            </a:pPr>
            <a:endParaRPr lang="fr-FR" sz="1400" dirty="0"/>
          </a:p>
          <a:p>
            <a:pPr marL="0" indent="0">
              <a:buNone/>
            </a:pPr>
            <a:r>
              <a:rPr lang="fr-FR" sz="1400" b="1" dirty="0"/>
              <a:t>Définition du BAPI et de son interface :</a:t>
            </a:r>
          </a:p>
          <a:p>
            <a:pPr marL="0" indent="0">
              <a:buNone/>
            </a:pPr>
            <a:r>
              <a:rPr lang="fr-FR" sz="1400" dirty="0"/>
              <a:t>Pour définir le scope et les composants du BAPI à implémenter, </a:t>
            </a:r>
          </a:p>
          <a:p>
            <a:pPr marL="0" indent="0">
              <a:buNone/>
            </a:pPr>
            <a:r>
              <a:rPr lang="fr-FR" sz="1400" dirty="0"/>
              <a:t>les étapes suivantes sont à suivre :</a:t>
            </a:r>
          </a:p>
          <a:p>
            <a:pPr marL="0" indent="0">
              <a:buNone/>
            </a:pPr>
            <a:endParaRPr lang="fr-FR" sz="1400" dirty="0"/>
          </a:p>
          <a:p>
            <a:pPr marL="0" indent="0">
              <a:buNone/>
            </a:pPr>
            <a:r>
              <a:rPr lang="fr-FR" sz="1400" dirty="0"/>
              <a:t>- Détermination du BO et de ses zones clé.</a:t>
            </a:r>
          </a:p>
          <a:p>
            <a:pPr marL="0" indent="0">
              <a:buNone/>
            </a:pPr>
            <a:r>
              <a:rPr lang="fr-FR" sz="1400" dirty="0"/>
              <a:t>- Définition de la structure d'interface du BAPI.</a:t>
            </a:r>
          </a:p>
          <a:p>
            <a:pPr marL="0" indent="0">
              <a:buNone/>
            </a:pPr>
            <a:r>
              <a:rPr lang="fr-FR" sz="1400" dirty="0"/>
              <a:t>- Identification ou création du groupe de fonctions.</a:t>
            </a:r>
          </a:p>
          <a:p>
            <a:pPr marL="0" indent="0">
              <a:buNone/>
            </a:pPr>
            <a:r>
              <a:rPr lang="fr-FR" sz="1400" dirty="0"/>
              <a:t>- Spécification des objets nécessaires dans le DDIC.</a:t>
            </a:r>
          </a:p>
          <a:p>
            <a:pPr marL="0" indent="0">
              <a:buNone/>
            </a:pPr>
            <a:endParaRPr lang="fr-FR" sz="1400" dirty="0"/>
          </a:p>
          <a:p>
            <a:pPr marL="0" indent="0">
              <a:buNone/>
            </a:pPr>
            <a:r>
              <a:rPr lang="fr-FR" sz="1400" dirty="0"/>
              <a:t>Création du module fonction.</a:t>
            </a:r>
          </a:p>
          <a:p>
            <a:pPr marL="0" indent="0">
              <a:buNone/>
            </a:pPr>
            <a:r>
              <a:rPr lang="fr-FR" sz="1400" dirty="0"/>
              <a:t>Définition du module fonction comme une méthode du BO dans le BOR.</a:t>
            </a:r>
          </a:p>
          <a:p>
            <a:pPr marL="0" indent="0">
              <a:buNone/>
            </a:pPr>
            <a:r>
              <a:rPr lang="fr-FR" sz="1400" dirty="0"/>
              <a:t>Définition de la structure d'interface du BAPI :</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1483140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Création d’une BAPI</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normAutofit fontScale="70000" lnSpcReduction="20000"/>
          </a:bodyPr>
          <a:lstStyle/>
          <a:p>
            <a:pPr marL="0" indent="0">
              <a:buNone/>
            </a:pPr>
            <a:r>
              <a:rPr lang="fr-FR" sz="1400" dirty="0"/>
              <a:t>Dans le cas d'un BAPI dépendant de l'instance, les zones clés du BO doivent être des paramètres d'import du module fonction. </a:t>
            </a:r>
          </a:p>
          <a:p>
            <a:pPr marL="0" indent="0">
              <a:buNone/>
            </a:pPr>
            <a:r>
              <a:rPr lang="fr-FR" sz="1400" dirty="0"/>
              <a:t>En règle générale, le BAPI renvoie aussi ces zones clé (par exemple un numéro de commande).</a:t>
            </a:r>
          </a:p>
          <a:p>
            <a:pPr marL="0" indent="0">
              <a:buNone/>
            </a:pPr>
            <a:r>
              <a:rPr lang="fr-FR" sz="1400" dirty="0"/>
              <a:t>Un BAPI devrait toujours renvoyer un code retour. Attention, il n'est pas possible d'utiliser directement les exceptions </a:t>
            </a:r>
          </a:p>
          <a:p>
            <a:pPr marL="0" indent="0">
              <a:buNone/>
            </a:pPr>
            <a:r>
              <a:rPr lang="fr-FR" sz="1400" dirty="0"/>
              <a:t>du module </a:t>
            </a:r>
            <a:r>
              <a:rPr lang="fr-FR" sz="1400" dirty="0" err="1"/>
              <a:t>fonction.Les</a:t>
            </a:r>
            <a:r>
              <a:rPr lang="fr-FR" sz="1400" dirty="0"/>
              <a:t> BAPIs ne sont pas des interfaces </a:t>
            </a:r>
            <a:r>
              <a:rPr lang="fr-FR" sz="1400" dirty="0" err="1"/>
              <a:t>enduser</a:t>
            </a:r>
            <a:r>
              <a:rPr lang="fr-FR" sz="1400" dirty="0"/>
              <a:t>, mais des interfaces de programmation. </a:t>
            </a:r>
          </a:p>
          <a:p>
            <a:pPr marL="0" indent="0">
              <a:buNone/>
            </a:pPr>
            <a:r>
              <a:rPr lang="fr-FR" sz="1400" dirty="0"/>
              <a:t>Les paramètres doivent donc être définis au format utilisé dans la base de données, et non au format utilisé par le </a:t>
            </a:r>
          </a:p>
          <a:p>
            <a:pPr marL="0" indent="0">
              <a:buNone/>
            </a:pPr>
            <a:r>
              <a:rPr lang="fr-FR" sz="1400" dirty="0"/>
              <a:t>programme externe (affichage, par exemple). Les BAPIs ne doivent pas non plus convertir directement les formats de données </a:t>
            </a:r>
          </a:p>
          <a:p>
            <a:pPr marL="0" indent="0">
              <a:buNone/>
            </a:pPr>
            <a:r>
              <a:rPr lang="fr-FR" sz="1400" dirty="0"/>
              <a:t>(en particulier pour des raisons de maintenance et de compatibilité).</a:t>
            </a:r>
          </a:p>
          <a:p>
            <a:pPr marL="0" indent="0">
              <a:buNone/>
            </a:pPr>
            <a:endParaRPr lang="fr-FR" sz="1400" dirty="0"/>
          </a:p>
          <a:p>
            <a:pPr marL="0" indent="0">
              <a:buNone/>
            </a:pPr>
            <a:r>
              <a:rPr lang="fr-FR" sz="1400" dirty="0"/>
              <a:t>Le format utilisé pour les dates doit être le format interne YYYYMMDD.</a:t>
            </a:r>
          </a:p>
          <a:p>
            <a:pPr marL="0" indent="0">
              <a:buNone/>
            </a:pPr>
            <a:r>
              <a:rPr lang="fr-FR" sz="1400" dirty="0"/>
              <a:t>Il est possible de générer automatiquement des modules fonctions qui vont effectuer les conversions et le mappage des zones.</a:t>
            </a:r>
          </a:p>
          <a:p>
            <a:pPr marL="0" indent="0">
              <a:buNone/>
            </a:pPr>
            <a:endParaRPr lang="fr-FR" sz="1400" dirty="0"/>
          </a:p>
          <a:p>
            <a:pPr marL="0" indent="0">
              <a:buNone/>
            </a:pPr>
            <a:r>
              <a:rPr lang="fr-FR" sz="1400" dirty="0"/>
              <a:t>Ces modules fonctions ont les fonctions suivantes :</a:t>
            </a:r>
          </a:p>
          <a:p>
            <a:pPr marL="0" indent="0">
              <a:buNone/>
            </a:pPr>
            <a:r>
              <a:rPr lang="fr-FR" sz="1400" dirty="0"/>
              <a:t>- Ils effectuent le mappage entre les noms de zones allemands et anglais,</a:t>
            </a:r>
          </a:p>
          <a:p>
            <a:pPr marL="0" indent="0">
              <a:buNone/>
            </a:pPr>
            <a:r>
              <a:rPr lang="fr-FR" sz="1400" dirty="0"/>
              <a:t>- Ils convertissent les codes ISO,</a:t>
            </a:r>
          </a:p>
          <a:p>
            <a:pPr marL="0" indent="0">
              <a:buNone/>
            </a:pPr>
            <a:r>
              <a:rPr lang="fr-FR" sz="1400" dirty="0"/>
              <a:t>- Ils convertissent les montants en devises aux formats internes et externes correct.</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2922164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Création d’une BAPI </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normAutofit fontScale="77500" lnSpcReduction="20000"/>
          </a:bodyPr>
          <a:lstStyle/>
          <a:p>
            <a:pPr marL="0" indent="0">
              <a:buNone/>
            </a:pPr>
            <a:r>
              <a:rPr lang="fr-FR" sz="1400" dirty="0"/>
              <a:t>La procédure pour générer automatiquement ces modules fonctions est la suivante :</a:t>
            </a:r>
          </a:p>
          <a:p>
            <a:pPr marL="0" indent="0">
              <a:buNone/>
            </a:pPr>
            <a:r>
              <a:rPr lang="fr-FR" sz="1400" dirty="0"/>
              <a:t>Aller dans Outils ® Business Framework ® Développement BAPI ® Générer Module d'affectation de zones (transaction BDBS).</a:t>
            </a:r>
          </a:p>
          <a:p>
            <a:pPr marL="0" indent="0">
              <a:buNone/>
            </a:pPr>
            <a:r>
              <a:rPr lang="fr-FR" sz="1400" dirty="0"/>
              <a:t>Entrer les noms de la structure interne et de la structure externe entre lesquelles on souhaite effectuer les conversions.</a:t>
            </a:r>
          </a:p>
          <a:p>
            <a:pPr marL="0" indent="0">
              <a:buNone/>
            </a:pPr>
            <a:r>
              <a:rPr lang="fr-FR" sz="1400" dirty="0"/>
              <a:t>Sélectionner Module Fonction - Générer (F8).</a:t>
            </a:r>
          </a:p>
          <a:p>
            <a:pPr marL="0" indent="0">
              <a:buNone/>
            </a:pPr>
            <a:r>
              <a:rPr lang="fr-FR" sz="1400" dirty="0"/>
              <a:t>Une boîte de dialogue apparaît dans laquelle on peut entrer les détails du module fonction à générer.</a:t>
            </a:r>
          </a:p>
          <a:p>
            <a:pPr marL="0" indent="0">
              <a:buNone/>
            </a:pPr>
            <a:r>
              <a:rPr lang="fr-FR" sz="1400" dirty="0"/>
              <a:t>Le champ "Groupe de fonction" doit contenir le nom du groupe de fonctions auquel doit appartenir le module fonction.</a:t>
            </a:r>
          </a:p>
          <a:p>
            <a:pPr marL="0" indent="0">
              <a:buNone/>
            </a:pPr>
            <a:r>
              <a:rPr lang="fr-FR" sz="1400" dirty="0"/>
              <a:t>Sélectionner Continuer.</a:t>
            </a:r>
          </a:p>
          <a:p>
            <a:pPr marL="0" indent="0">
              <a:buNone/>
            </a:pPr>
            <a:r>
              <a:rPr lang="fr-FR" sz="1400" dirty="0"/>
              <a:t>Une table est affichée, contenant des suggestions pour la conversion de chaque zone de la structure externe. </a:t>
            </a:r>
          </a:p>
          <a:p>
            <a:pPr marL="0" indent="0">
              <a:buNone/>
            </a:pPr>
            <a:r>
              <a:rPr lang="fr-FR" sz="1400" b="1" u="sng" dirty="0"/>
              <a:t>Ses colonnes sont :</a:t>
            </a:r>
          </a:p>
          <a:p>
            <a:pPr marL="0" indent="0">
              <a:buNone/>
            </a:pPr>
            <a:r>
              <a:rPr lang="fr-FR" sz="1400" b="1" dirty="0"/>
              <a:t>Statut : </a:t>
            </a:r>
            <a:r>
              <a:rPr lang="fr-FR" sz="1400" dirty="0"/>
              <a:t>indique si la conversion est possible ou si des données manquent</a:t>
            </a:r>
          </a:p>
          <a:p>
            <a:pPr marL="0" indent="0">
              <a:buNone/>
            </a:pPr>
            <a:r>
              <a:rPr lang="fr-FR" sz="1400" b="1" dirty="0"/>
              <a:t>Champ dans la structure externe</a:t>
            </a:r>
          </a:p>
          <a:p>
            <a:pPr marL="0" indent="0">
              <a:buNone/>
            </a:pPr>
            <a:r>
              <a:rPr lang="fr-FR" sz="1400" b="1" dirty="0"/>
              <a:t>Type de conversion</a:t>
            </a:r>
          </a:p>
          <a:p>
            <a:pPr marL="0" indent="0">
              <a:buNone/>
            </a:pPr>
            <a:r>
              <a:rPr lang="fr-FR" sz="1400" b="1" dirty="0"/>
              <a:t>Champ dans la structure externe</a:t>
            </a:r>
          </a:p>
          <a:p>
            <a:pPr marL="0" indent="0">
              <a:buNone/>
            </a:pPr>
            <a:r>
              <a:rPr lang="fr-FR" sz="1400" dirty="0"/>
              <a:t>Pour générer le module fonction, sélectionner Sauvegarder.</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1980695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Création d’une BAPI</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normAutofit fontScale="77500" lnSpcReduction="20000"/>
          </a:bodyPr>
          <a:lstStyle/>
          <a:p>
            <a:pPr marL="0" indent="0">
              <a:buNone/>
            </a:pPr>
            <a:r>
              <a:rPr lang="fr-FR" sz="1400" b="1" u="sng" dirty="0"/>
              <a:t>Définition de la méthode dans le BOR avec le BAPI </a:t>
            </a:r>
            <a:r>
              <a:rPr lang="fr-FR" sz="1400" b="1" u="sng" dirty="0" err="1"/>
              <a:t>Wizard</a:t>
            </a:r>
            <a:r>
              <a:rPr lang="fr-FR" sz="1400" b="1" u="sng" dirty="0"/>
              <a:t>:</a:t>
            </a:r>
          </a:p>
          <a:p>
            <a:pPr marL="0" indent="0">
              <a:buNone/>
            </a:pPr>
            <a:r>
              <a:rPr lang="fr-FR" sz="1400" dirty="0"/>
              <a:t>Une fois que le module fonction sur lequel le BAPI est basé est créé, il peut être défini comme méthode du BO </a:t>
            </a:r>
          </a:p>
          <a:p>
            <a:pPr marL="0" indent="0">
              <a:buNone/>
            </a:pPr>
            <a:r>
              <a:rPr lang="fr-FR" sz="1400" dirty="0"/>
              <a:t>concerné dans le BOR.</a:t>
            </a:r>
          </a:p>
          <a:p>
            <a:pPr marL="0" indent="0">
              <a:buNone/>
            </a:pPr>
            <a:r>
              <a:rPr lang="fr-FR" sz="1400" b="1" dirty="0"/>
              <a:t>On utilise pour cela le BOR/BAPI </a:t>
            </a:r>
            <a:r>
              <a:rPr lang="fr-FR" sz="1400" b="1" dirty="0" err="1"/>
              <a:t>Wizard</a:t>
            </a:r>
            <a:r>
              <a:rPr lang="fr-FR" sz="1400" b="1" dirty="0"/>
              <a:t> :</a:t>
            </a:r>
          </a:p>
          <a:p>
            <a:pPr marL="0" indent="0">
              <a:buNone/>
            </a:pPr>
            <a:r>
              <a:rPr lang="fr-FR" sz="1400" dirty="0"/>
              <a:t>Aller dans Outils - Business Framework - Développement BAPI - Business Object Builder (Transaction SWO1).</a:t>
            </a:r>
          </a:p>
          <a:p>
            <a:pPr marL="0" indent="0">
              <a:buNone/>
            </a:pPr>
            <a:r>
              <a:rPr lang="fr-FR" sz="1400" dirty="0"/>
              <a:t>Entrer le nom technique du BO concerné (exemple : BUS2032 pour SalesOrder).Sélectionner Modifier.</a:t>
            </a:r>
          </a:p>
          <a:p>
            <a:pPr marL="0" indent="0">
              <a:buNone/>
            </a:pPr>
            <a:r>
              <a:rPr lang="fr-FR" sz="1400" dirty="0"/>
              <a:t>Sélectionner Utilitaires - Méthodes API - Insérer Méthode.</a:t>
            </a:r>
          </a:p>
          <a:p>
            <a:pPr marL="0" indent="0">
              <a:buNone/>
            </a:pPr>
            <a:r>
              <a:rPr lang="fr-FR" sz="1400" dirty="0"/>
              <a:t>Dans la boîte de dialogue qui apparaît, entrer le nom du module fonction et cliquer sur Continuer.</a:t>
            </a:r>
          </a:p>
          <a:p>
            <a:pPr marL="0" indent="0">
              <a:buNone/>
            </a:pPr>
            <a:r>
              <a:rPr lang="fr-FR" sz="1400" dirty="0"/>
              <a:t>Spécifier les informations suivantes :</a:t>
            </a:r>
          </a:p>
          <a:p>
            <a:pPr marL="0" indent="0">
              <a:buNone/>
            </a:pPr>
            <a:r>
              <a:rPr lang="fr-FR" sz="1400" b="1" dirty="0"/>
              <a:t>Méthode :</a:t>
            </a:r>
            <a:r>
              <a:rPr lang="fr-FR" sz="1400" dirty="0"/>
              <a:t> le nom doit être la dernière partie de celui du module fonction. </a:t>
            </a:r>
          </a:p>
          <a:p>
            <a:pPr marL="0" indent="0">
              <a:buNone/>
            </a:pPr>
            <a:r>
              <a:rPr lang="fr-FR" sz="1400" dirty="0"/>
              <a:t>Commencer chaque nouveau mot par une majuscule et ne pas utiliser de caractères de séparation (</a:t>
            </a:r>
            <a:r>
              <a:rPr lang="fr-FR" sz="1400" dirty="0" err="1"/>
              <a:t>underscore</a:t>
            </a:r>
            <a:r>
              <a:rPr lang="fr-FR" sz="1400" dirty="0"/>
              <a:t>)</a:t>
            </a:r>
          </a:p>
          <a:p>
            <a:pPr marL="0" indent="0">
              <a:buNone/>
            </a:pPr>
            <a:r>
              <a:rPr lang="fr-FR" sz="1400" dirty="0"/>
              <a:t>La méthode associée à BAPI_SALESORDER_CREATEFROMDAT1 est CreateFromDat1.</a:t>
            </a:r>
          </a:p>
          <a:p>
            <a:pPr marL="0" indent="0">
              <a:buNone/>
            </a:pPr>
            <a:r>
              <a:rPr lang="fr-FR" sz="1400" dirty="0"/>
              <a:t>Textes de description.</a:t>
            </a:r>
          </a:p>
          <a:p>
            <a:pPr marL="0" indent="0">
              <a:buNone/>
            </a:pPr>
            <a:r>
              <a:rPr lang="fr-FR" sz="1400" dirty="0"/>
              <a:t>Cases à cocher : cocher les infos nécessaires. ATTENTION, un BAPI n'est jamais en dialogue, et rarement asynchrone.</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3317951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Création d’une BAPI </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729762"/>
            <a:ext cx="10694114" cy="5658964"/>
          </a:xfrm>
        </p:spPr>
        <p:txBody>
          <a:bodyPr>
            <a:normAutofit fontScale="62500" lnSpcReduction="20000"/>
          </a:bodyPr>
          <a:lstStyle/>
          <a:p>
            <a:pPr marL="0" indent="0">
              <a:buNone/>
            </a:pPr>
            <a:r>
              <a:rPr lang="fr-FR" sz="1400" dirty="0"/>
              <a:t>Sélectionner Étape Suivante.</a:t>
            </a:r>
          </a:p>
          <a:p>
            <a:pPr marL="0" indent="0">
              <a:buNone/>
            </a:pPr>
            <a:r>
              <a:rPr lang="fr-FR" sz="1400" dirty="0"/>
              <a:t>La liste des paramètres et de leur nom par défaut pour la méthode est </a:t>
            </a:r>
            <a:r>
              <a:rPr lang="fr-FR" sz="1400" dirty="0" err="1"/>
              <a:t>affichée.Modifier</a:t>
            </a:r>
            <a:r>
              <a:rPr lang="fr-FR" sz="1400" dirty="0"/>
              <a:t> ces noms pour qu'ils suivent </a:t>
            </a:r>
          </a:p>
          <a:p>
            <a:pPr marL="0" indent="0">
              <a:buNone/>
            </a:pPr>
            <a:r>
              <a:rPr lang="fr-FR" sz="1400" dirty="0"/>
              <a:t>les mêmes règles que pour le nom de la </a:t>
            </a:r>
            <a:r>
              <a:rPr lang="fr-FR" sz="1400" dirty="0" err="1"/>
              <a:t>méthode.Spécifier</a:t>
            </a:r>
            <a:r>
              <a:rPr lang="fr-FR" sz="1400" dirty="0"/>
              <a:t> pour les tables si elles sont en import ou en export.</a:t>
            </a:r>
          </a:p>
          <a:p>
            <a:pPr marL="0" indent="0">
              <a:buNone/>
            </a:pPr>
            <a:r>
              <a:rPr lang="fr-FR" sz="1400" dirty="0"/>
              <a:t>Sélectionner Étape Suivante puis sur Oui.</a:t>
            </a:r>
          </a:p>
          <a:p>
            <a:pPr marL="0" indent="0">
              <a:buNone/>
            </a:pPr>
            <a:r>
              <a:rPr lang="fr-FR" sz="1400" b="1" u="sng" dirty="0"/>
              <a:t>Libération et gel du BAPI:</a:t>
            </a:r>
          </a:p>
          <a:p>
            <a:pPr marL="0" indent="0">
              <a:buNone/>
            </a:pPr>
            <a:r>
              <a:rPr lang="fr-FR" sz="1400" dirty="0"/>
              <a:t>Une fois que toutes les étapes précédentes ont été complétées avec succès (ne pas oublier la phase de test!), </a:t>
            </a:r>
          </a:p>
          <a:p>
            <a:pPr marL="0" indent="0">
              <a:buNone/>
            </a:pPr>
            <a:r>
              <a:rPr lang="fr-FR" sz="1400" dirty="0"/>
              <a:t>il est possible de libérer puis de geler le BAPI. Pour ce faire, il faut suivre les étapes suivantes :</a:t>
            </a:r>
          </a:p>
          <a:p>
            <a:pPr marL="0" indent="0">
              <a:buNone/>
            </a:pPr>
            <a:r>
              <a:rPr lang="fr-FR" sz="1400" dirty="0"/>
              <a:t>Libérer le module fonction dans le générateur de modules fonctions (SE37).</a:t>
            </a:r>
          </a:p>
          <a:p>
            <a:pPr marL="0" indent="0">
              <a:buNone/>
            </a:pPr>
            <a:r>
              <a:rPr lang="fr-FR" sz="1400" b="1" u="sng" dirty="0"/>
              <a:t>Libérer la méthode : </a:t>
            </a:r>
          </a:p>
          <a:p>
            <a:pPr marL="0" indent="0">
              <a:buNone/>
            </a:pPr>
            <a:r>
              <a:rPr lang="fr-FR" sz="1400" dirty="0"/>
              <a:t>placer le curseur sur la méthode et sélectionner Utilitaires ® Méthodes API ® Libérer Méthode.</a:t>
            </a:r>
          </a:p>
          <a:p>
            <a:pPr marL="0" indent="0">
              <a:buNone/>
            </a:pPr>
            <a:r>
              <a:rPr lang="fr-FR" sz="1400" b="1" u="sng" dirty="0"/>
              <a:t>Geler la méthode : </a:t>
            </a:r>
          </a:p>
          <a:p>
            <a:pPr marL="0" indent="0">
              <a:buNone/>
            </a:pPr>
            <a:r>
              <a:rPr lang="fr-FR" sz="1400" dirty="0"/>
              <a:t>placer le curseur sur la méthode et sélectionner Utilitaires ® Méthodes API ® Geler Méthode.</a:t>
            </a:r>
          </a:p>
          <a:p>
            <a:pPr marL="0" indent="0">
              <a:buNone/>
            </a:pPr>
            <a:r>
              <a:rPr lang="fr-FR" sz="1400" b="1" u="sng" dirty="0"/>
              <a:t>Utilisation des BAPIs :</a:t>
            </a:r>
          </a:p>
          <a:p>
            <a:pPr marL="0" indent="0">
              <a:buNone/>
            </a:pPr>
            <a:r>
              <a:rPr lang="fr-FR" sz="1400" dirty="0"/>
              <a:t>Les BAPI peuvent aussi bien être utilisés dans le cadre de développement spécifique</a:t>
            </a:r>
          </a:p>
          <a:p>
            <a:pPr marL="0" indent="0">
              <a:buNone/>
            </a:pPr>
            <a:r>
              <a:rPr lang="fr-FR" sz="1400" dirty="0"/>
              <a:t>que dans le cadre d’une mis en place d’interface entre SAP et un système extérieur.</a:t>
            </a:r>
          </a:p>
          <a:p>
            <a:pPr marL="0" indent="0">
              <a:buNone/>
            </a:pPr>
            <a:r>
              <a:rPr lang="fr-FR" sz="1400" dirty="0"/>
              <a:t>Les </a:t>
            </a:r>
            <a:r>
              <a:rPr lang="fr-FR" sz="1400" dirty="0" err="1"/>
              <a:t>dernieres</a:t>
            </a:r>
            <a:r>
              <a:rPr lang="fr-FR" sz="1400" dirty="0"/>
              <a:t> versions de SAP permettent l’utilisation des dernières technologies, langage et</a:t>
            </a:r>
          </a:p>
          <a:p>
            <a:pPr marL="0" indent="0">
              <a:buNone/>
            </a:pPr>
            <a:r>
              <a:rPr lang="fr-FR" sz="1400" dirty="0"/>
              <a:t>protocoles de communication via les nombreux </a:t>
            </a:r>
            <a:r>
              <a:rPr lang="fr-FR" sz="1400" dirty="0" err="1"/>
              <a:t>Connector</a:t>
            </a:r>
            <a:r>
              <a:rPr lang="fr-FR" sz="1400" dirty="0"/>
              <a:t> mis à disposition (Voir tutos correspondants).</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2269121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Exercice</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167814"/>
            <a:ext cx="10694114" cy="5220912"/>
          </a:xfrm>
        </p:spPr>
        <p:txBody>
          <a:bodyPr>
            <a:normAutofit/>
          </a:bodyPr>
          <a:lstStyle/>
          <a:p>
            <a:pPr marL="0" indent="0">
              <a:lnSpc>
                <a:spcPct val="100000"/>
              </a:lnSpc>
              <a:buNone/>
            </a:pPr>
            <a:r>
              <a:rPr lang="fr-FR" sz="2000" dirty="0"/>
              <a:t>La société pour laquelle vous intervenez a besoin d’un programme afin de créer une commande de vente en copie d’une autre renseignée en paramètre.</a:t>
            </a:r>
          </a:p>
          <a:p>
            <a:pPr marL="0" indent="0">
              <a:lnSpc>
                <a:spcPct val="100000"/>
              </a:lnSpc>
              <a:buNone/>
            </a:pPr>
            <a:r>
              <a:rPr lang="fr-FR" sz="1600" dirty="0"/>
              <a:t>1- Créer le programme de </a:t>
            </a:r>
            <a:r>
              <a:rPr lang="fr-FR" sz="1600" dirty="0" err="1"/>
              <a:t>reporting</a:t>
            </a:r>
            <a:r>
              <a:rPr lang="fr-FR" sz="1600" dirty="0"/>
              <a:t> - Nom du programme : ZSDRE_SO_COPY_&lt;TRIGRAMME&gt;</a:t>
            </a:r>
          </a:p>
          <a:p>
            <a:pPr marL="0" indent="0">
              <a:lnSpc>
                <a:spcPct val="100000"/>
              </a:lnSpc>
              <a:buNone/>
            </a:pPr>
            <a:r>
              <a:rPr lang="fr-FR" sz="1600" dirty="0"/>
              <a:t>Critère de sélection : paramètre </a:t>
            </a:r>
            <a:r>
              <a:rPr lang="fr-FR" sz="1600" dirty="0" err="1"/>
              <a:t>n°commande</a:t>
            </a:r>
            <a:r>
              <a:rPr lang="fr-FR" sz="1600" dirty="0"/>
              <a:t> (VBELN) </a:t>
            </a:r>
          </a:p>
          <a:p>
            <a:pPr marL="0" indent="0">
              <a:lnSpc>
                <a:spcPct val="100000"/>
              </a:lnSpc>
              <a:buNone/>
            </a:pPr>
            <a:r>
              <a:rPr lang="fr-FR" sz="1600" dirty="0"/>
              <a:t>2- Récupérer la BAPI associée (via SWO3) et l’implémenter</a:t>
            </a:r>
          </a:p>
          <a:p>
            <a:pPr marL="0" indent="0">
              <a:lnSpc>
                <a:spcPct val="100000"/>
              </a:lnSpc>
              <a:buNone/>
            </a:pPr>
            <a:r>
              <a:rPr lang="fr-FR" sz="1600" dirty="0"/>
              <a:t>3- Rapport d’exécution pour savoir comment la création s’est déroulée</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41546045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Aide navigation</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167814"/>
            <a:ext cx="10694114" cy="5220912"/>
          </a:xfrm>
        </p:spPr>
        <p:txBody>
          <a:bodyPr>
            <a:normAutofit/>
          </a:bodyPr>
          <a:lstStyle/>
          <a:p>
            <a:pPr marL="0" indent="0">
              <a:buNone/>
            </a:pPr>
            <a:r>
              <a:rPr lang="fr-FR" sz="2000" dirty="0"/>
              <a:t>Liste des tables utiles : VBAK (en-tête commande), VBAP (postes commande) </a:t>
            </a:r>
          </a:p>
          <a:p>
            <a:pPr marL="0" indent="0">
              <a:buNone/>
            </a:pPr>
            <a:r>
              <a:rPr lang="fr-FR" sz="2000" dirty="0"/>
              <a:t>Liste des transactions utiles : </a:t>
            </a:r>
          </a:p>
          <a:p>
            <a:pPr>
              <a:lnSpc>
                <a:spcPct val="100000"/>
              </a:lnSpc>
              <a:buFontTx/>
              <a:buChar char="-"/>
            </a:pPr>
            <a:r>
              <a:rPr lang="fr-FR" sz="1600" dirty="0"/>
              <a:t>SE80 : naviguer dans les objets et dans notre cas, créer le groupe de fonction</a:t>
            </a:r>
          </a:p>
          <a:p>
            <a:pPr>
              <a:lnSpc>
                <a:spcPct val="100000"/>
              </a:lnSpc>
              <a:buFontTx/>
              <a:buChar char="-"/>
            </a:pPr>
            <a:r>
              <a:rPr lang="fr-FR" sz="1600" dirty="0"/>
              <a:t>SE37 : accès direct à la BAPI</a:t>
            </a:r>
          </a:p>
          <a:p>
            <a:pPr>
              <a:lnSpc>
                <a:spcPct val="100000"/>
              </a:lnSpc>
              <a:buFontTx/>
              <a:buChar char="-"/>
            </a:pPr>
            <a:r>
              <a:rPr lang="fr-FR" sz="1600" dirty="0"/>
              <a:t>SE38 : accès au programme de </a:t>
            </a:r>
            <a:r>
              <a:rPr lang="fr-FR" sz="1600" dirty="0" err="1"/>
              <a:t>reporting</a:t>
            </a:r>
            <a:endParaRPr lang="fr-FR" sz="1600" dirty="0"/>
          </a:p>
          <a:p>
            <a:pPr>
              <a:lnSpc>
                <a:spcPct val="100000"/>
              </a:lnSpc>
              <a:buFontTx/>
              <a:buChar char="-"/>
            </a:pPr>
            <a:r>
              <a:rPr lang="fr-FR" sz="1600" dirty="0"/>
              <a:t>SE11 (ou SE16N) : accès aux données de la BDD (base de données) </a:t>
            </a:r>
          </a:p>
          <a:p>
            <a:pPr>
              <a:lnSpc>
                <a:spcPct val="100000"/>
              </a:lnSpc>
              <a:buFontTx/>
              <a:buChar char="-"/>
            </a:pPr>
            <a:r>
              <a:rPr lang="fr-FR" sz="1600" dirty="0"/>
              <a:t>VA03 : affichage des commandes de vente</a:t>
            </a:r>
          </a:p>
          <a:p>
            <a:pPr>
              <a:lnSpc>
                <a:spcPct val="100000"/>
              </a:lnSpc>
              <a:buFontTx/>
              <a:buChar char="-"/>
            </a:pPr>
            <a:r>
              <a:rPr lang="fr-FR" sz="1600" dirty="0"/>
              <a:t>SWO3 : accès au catalogue des Business </a:t>
            </a:r>
            <a:r>
              <a:rPr lang="fr-FR" sz="1600" dirty="0" err="1"/>
              <a:t>Objects</a:t>
            </a:r>
            <a:endParaRPr lang="fr-FR" sz="1600" dirty="0"/>
          </a:p>
          <a:p>
            <a:pPr>
              <a:lnSpc>
                <a:spcPct val="100000"/>
              </a:lnSpc>
              <a:buFontTx/>
              <a:buChar char="-"/>
            </a:pPr>
            <a:endParaRPr lang="fr-FR" sz="1600"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22608429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419</TotalTime>
  <Words>3583</Words>
  <Application>Microsoft Office PowerPoint</Application>
  <PresentationFormat>Grand écran</PresentationFormat>
  <Paragraphs>400</Paragraphs>
  <Slides>26</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26</vt:i4>
      </vt:variant>
    </vt:vector>
  </HeadingPairs>
  <TitlesOfParts>
    <vt:vector size="35" baseType="lpstr">
      <vt:lpstr>Aptos</vt:lpstr>
      <vt:lpstr>Aptos Display</vt:lpstr>
      <vt:lpstr>Arial</vt:lpstr>
      <vt:lpstr>Arial monospaced for SAP</vt:lpstr>
      <vt:lpstr>Calibri</vt:lpstr>
      <vt:lpstr>New York</vt:lpstr>
      <vt:lpstr>Times New Roman</vt:lpstr>
      <vt:lpstr>Wingdings</vt:lpstr>
      <vt:lpstr>Thème Office</vt:lpstr>
      <vt:lpstr>Présentation PowerPoint</vt:lpstr>
      <vt:lpstr>La BAPI : Un module fonction « spécial »</vt:lpstr>
      <vt:lpstr>La BAPI est un module fonction </vt:lpstr>
      <vt:lpstr>La BAPI : Un MF lié aux BO (Business Object) </vt:lpstr>
      <vt:lpstr>Les BO des objets / Les BAPI des méthodes</vt:lpstr>
      <vt:lpstr>Le BO : Commande client / SalesOrder</vt:lpstr>
      <vt:lpstr>Un type d'objet est défini par </vt:lpstr>
      <vt:lpstr>Un type d'objet est défini par (2)</vt:lpstr>
      <vt:lpstr>Les accès aux BAPI</vt:lpstr>
      <vt:lpstr>Une méthode / Une interface avec l’objet métier </vt:lpstr>
      <vt:lpstr>BAPI : Un accès externe aux données</vt:lpstr>
      <vt:lpstr>Dans quel cas utilise t-on une BAPI?</vt:lpstr>
      <vt:lpstr>Les règles d’utilisation d’une BAPI</vt:lpstr>
      <vt:lpstr>Les règles d’utilisation d’une BAPI(2)</vt:lpstr>
      <vt:lpstr>Catégories de BAPI</vt:lpstr>
      <vt:lpstr>  Mise en forme des données </vt:lpstr>
      <vt:lpstr>    Exemple d’une BAPI</vt:lpstr>
      <vt:lpstr>   Exemple d’une BAPI</vt:lpstr>
      <vt:lpstr>Création d’une BAPI : Définition et implémentation </vt:lpstr>
      <vt:lpstr>Création d’une BAPI</vt:lpstr>
      <vt:lpstr>Création d’une BAPI</vt:lpstr>
      <vt:lpstr>Création d’une BAPI </vt:lpstr>
      <vt:lpstr>Création d’une BAPI</vt:lpstr>
      <vt:lpstr>Création d’une BAPI </vt:lpstr>
      <vt:lpstr>Exercice</vt:lpstr>
      <vt:lpstr>Aide navigation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Robin ATTIA</dc:creator>
  <cp:lastModifiedBy>Aelion</cp:lastModifiedBy>
  <cp:revision>5</cp:revision>
  <dcterms:created xsi:type="dcterms:W3CDTF">2024-09-04T20:54:41Z</dcterms:created>
  <dcterms:modified xsi:type="dcterms:W3CDTF">2025-12-02T15:49:07Z</dcterms:modified>
</cp:coreProperties>
</file>